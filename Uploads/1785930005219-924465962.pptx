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8288000" cy="10287000"/>
  <p:notesSz cx="6858000" cy="9144000"/>
  <p:embeddedFontLst>
    <p:embeddedFont>
      <p:font typeface="Fredoka" panose="020B0604020202020204" charset="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32674" y="2286331"/>
            <a:ext cx="6723231" cy="10271603"/>
          </a:xfrm>
          <a:custGeom>
            <a:avLst/>
            <a:gdLst/>
            <a:ahLst/>
            <a:cxnLst/>
            <a:rect l="l" t="t" r="r" b="b"/>
            <a:pathLst>
              <a:path w="6723231" h="10271603">
                <a:moveTo>
                  <a:pt x="0" y="0"/>
                </a:moveTo>
                <a:lnTo>
                  <a:pt x="6723231" y="0"/>
                </a:lnTo>
                <a:lnTo>
                  <a:pt x="6723231" y="10271602"/>
                </a:lnTo>
                <a:lnTo>
                  <a:pt x="0" y="1027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39931" y="2827510"/>
            <a:ext cx="8081449" cy="8339206"/>
          </a:xfrm>
          <a:custGeom>
            <a:avLst/>
            <a:gdLst/>
            <a:ahLst/>
            <a:cxnLst/>
            <a:rect l="l" t="t" r="r" b="b"/>
            <a:pathLst>
              <a:path w="8081449" h="8339206">
                <a:moveTo>
                  <a:pt x="0" y="0"/>
                </a:moveTo>
                <a:lnTo>
                  <a:pt x="8081449" y="0"/>
                </a:lnTo>
                <a:lnTo>
                  <a:pt x="8081449" y="8339206"/>
                </a:lnTo>
                <a:lnTo>
                  <a:pt x="0" y="833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4250" y="4837380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43201" y="3773488"/>
            <a:ext cx="10651088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2: IMPORTANCE AND IMPACT OF INVENTION ON EVERYDAY LIFE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7009" y="1556081"/>
            <a:ext cx="8294191" cy="1384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SCIENCE 4 – QUARTER 1, WEEK 2</a:t>
            </a:r>
          </a:p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DAY 1-5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013" y="1416300"/>
            <a:ext cx="8730842" cy="10282576"/>
          </a:xfrm>
          <a:custGeom>
            <a:avLst/>
            <a:gdLst/>
            <a:ahLst/>
            <a:cxnLst/>
            <a:rect l="l" t="t" r="r" b="b"/>
            <a:pathLst>
              <a:path w="8730842" h="10282576">
                <a:moveTo>
                  <a:pt x="0" y="0"/>
                </a:moveTo>
                <a:lnTo>
                  <a:pt x="8730842" y="0"/>
                </a:lnTo>
                <a:lnTo>
                  <a:pt x="8730842" y="10282575"/>
                </a:lnTo>
                <a:lnTo>
                  <a:pt x="0" y="1028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679187" y="4908038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439824" y="2312695"/>
            <a:ext cx="9341380" cy="6945605"/>
            <a:chOff x="0" y="0"/>
            <a:chExt cx="12455173" cy="926080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455173" cy="9260806"/>
              <a:chOff x="0" y="0"/>
              <a:chExt cx="2750678" cy="20452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50678" cy="2045214"/>
              </a:xfrm>
              <a:custGeom>
                <a:avLst/>
                <a:gdLst/>
                <a:ahLst/>
                <a:cxnLst/>
                <a:rect l="l" t="t" r="r" b="b"/>
                <a:pathLst>
                  <a:path w="2750678" h="2045214">
                    <a:moveTo>
                      <a:pt x="0" y="0"/>
                    </a:moveTo>
                    <a:lnTo>
                      <a:pt x="2750678" y="0"/>
                    </a:lnTo>
                    <a:lnTo>
                      <a:pt x="2750678" y="2045214"/>
                    </a:lnTo>
                    <a:lnTo>
                      <a:pt x="0" y="204521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50678" cy="2092839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97225" cy="9260806"/>
              <a:chOff x="0" y="0"/>
              <a:chExt cx="34364" cy="16135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4364" cy="1613569"/>
              </a:xfrm>
              <a:custGeom>
                <a:avLst/>
                <a:gdLst/>
                <a:ahLst/>
                <a:cxnLst/>
                <a:rect l="l" t="t" r="r" b="b"/>
                <a:pathLst>
                  <a:path w="34364" h="1613569">
                    <a:moveTo>
                      <a:pt x="0" y="0"/>
                    </a:moveTo>
                    <a:lnTo>
                      <a:pt x="34364" y="0"/>
                    </a:lnTo>
                    <a:lnTo>
                      <a:pt x="34364" y="1613569"/>
                    </a:lnTo>
                    <a:lnTo>
                      <a:pt x="0" y="161356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34364" cy="1661194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256971" y="0"/>
              <a:ext cx="198202" cy="9260806"/>
              <a:chOff x="0" y="0"/>
              <a:chExt cx="34534" cy="161356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4534" cy="1613569"/>
              </a:xfrm>
              <a:custGeom>
                <a:avLst/>
                <a:gdLst/>
                <a:ahLst/>
                <a:cxnLst/>
                <a:rect l="l" t="t" r="r" b="b"/>
                <a:pathLst>
                  <a:path w="34534" h="1613569">
                    <a:moveTo>
                      <a:pt x="0" y="0"/>
                    </a:moveTo>
                    <a:lnTo>
                      <a:pt x="34534" y="0"/>
                    </a:lnTo>
                    <a:lnTo>
                      <a:pt x="34534" y="1613569"/>
                    </a:lnTo>
                    <a:lnTo>
                      <a:pt x="0" y="161356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34534" cy="1661194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60895" y="2874974"/>
            <a:ext cx="638495" cy="63849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444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1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463247" y="1230334"/>
            <a:ext cx="631518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2828" y="3650738"/>
            <a:ext cx="760647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Science inventions have brought major changes to our daily lives.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52828" y="2908471"/>
            <a:ext cx="345768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Content Standard: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860895" y="4737271"/>
            <a:ext cx="638495" cy="63849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444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2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38553" y="4770769"/>
            <a:ext cx="431493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Performance Standard: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38553" y="5432916"/>
            <a:ext cx="7520747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Learners use science to solve problems and understand material changes.</a:t>
            </a:r>
          </a:p>
          <a:p>
            <a:pPr algn="l">
              <a:lnSpc>
                <a:spcPts val="30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8860895" y="6582371"/>
            <a:ext cx="638495" cy="63849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444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3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738553" y="6615868"/>
            <a:ext cx="362913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Learning Objective: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38553" y="7292143"/>
            <a:ext cx="771385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Use information from home or the local community to identify a scientific invention and explain its impact on their everyday life..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7" grpId="0"/>
      <p:bldP spid="28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40624" y="2785287"/>
            <a:ext cx="10286138" cy="4344772"/>
            <a:chOff x="0" y="0"/>
            <a:chExt cx="2709106" cy="1144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106" cy="1144302"/>
            </a:xfrm>
            <a:custGeom>
              <a:avLst/>
              <a:gdLst/>
              <a:ahLst/>
              <a:cxnLst/>
              <a:rect l="l" t="t" r="r" b="b"/>
              <a:pathLst>
                <a:path w="2709106" h="1144302">
                  <a:moveTo>
                    <a:pt x="0" y="0"/>
                  </a:moveTo>
                  <a:lnTo>
                    <a:pt x="2709106" y="0"/>
                  </a:lnTo>
                  <a:lnTo>
                    <a:pt x="2709106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5968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106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0128" y="3178914"/>
            <a:ext cx="9417722" cy="3524601"/>
            <a:chOff x="0" y="0"/>
            <a:chExt cx="2480388" cy="92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0388" cy="928290"/>
            </a:xfrm>
            <a:custGeom>
              <a:avLst/>
              <a:gdLst/>
              <a:ahLst/>
              <a:cxnLst/>
              <a:rect l="l" t="t" r="r" b="b"/>
              <a:pathLst>
                <a:path w="2480388" h="928290">
                  <a:moveTo>
                    <a:pt x="0" y="0"/>
                  </a:moveTo>
                  <a:lnTo>
                    <a:pt x="2480388" y="0"/>
                  </a:lnTo>
                  <a:lnTo>
                    <a:pt x="2480388" y="928290"/>
                  </a:lnTo>
                  <a:lnTo>
                    <a:pt x="0" y="928290"/>
                  </a:lnTo>
                  <a:close/>
                </a:path>
              </a:pathLst>
            </a:custGeom>
            <a:solidFill>
              <a:srgbClr val="E8EEF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80388" cy="97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0624" y="2768829"/>
            <a:ext cx="217104" cy="4344772"/>
            <a:chOff x="0" y="0"/>
            <a:chExt cx="57180" cy="11443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09658" y="2785287"/>
            <a:ext cx="217104" cy="4344772"/>
            <a:chOff x="0" y="0"/>
            <a:chExt cx="57180" cy="11443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2111925"/>
            <a:ext cx="4882379" cy="9624761"/>
          </a:xfrm>
          <a:custGeom>
            <a:avLst/>
            <a:gdLst/>
            <a:ahLst/>
            <a:cxnLst/>
            <a:rect l="l" t="t" r="r" b="b"/>
            <a:pathLst>
              <a:path w="4882379" h="9624761">
                <a:moveTo>
                  <a:pt x="0" y="0"/>
                </a:moveTo>
                <a:lnTo>
                  <a:pt x="4882379" y="0"/>
                </a:lnTo>
                <a:lnTo>
                  <a:pt x="4882379" y="9624760"/>
                </a:lnTo>
                <a:lnTo>
                  <a:pt x="0" y="9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15157" y="4941215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48661" y="3766465"/>
            <a:ext cx="8140657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How Inventions Help Us in Different Ways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0128" y="1397550"/>
            <a:ext cx="3381213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DAY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013" y="1416300"/>
            <a:ext cx="8730842" cy="10282576"/>
          </a:xfrm>
          <a:custGeom>
            <a:avLst/>
            <a:gdLst/>
            <a:ahLst/>
            <a:cxnLst/>
            <a:rect l="l" t="t" r="r" b="b"/>
            <a:pathLst>
              <a:path w="8730842" h="10282576">
                <a:moveTo>
                  <a:pt x="0" y="0"/>
                </a:moveTo>
                <a:lnTo>
                  <a:pt x="8730842" y="0"/>
                </a:lnTo>
                <a:lnTo>
                  <a:pt x="8730842" y="10282575"/>
                </a:lnTo>
                <a:lnTo>
                  <a:pt x="0" y="1028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679187" y="4908038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286468" y="3143271"/>
            <a:ext cx="9341380" cy="5152663"/>
            <a:chOff x="0" y="0"/>
            <a:chExt cx="12455173" cy="687021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455173" cy="6870218"/>
              <a:chOff x="0" y="0"/>
              <a:chExt cx="2750678" cy="15172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50678" cy="1517262"/>
              </a:xfrm>
              <a:custGeom>
                <a:avLst/>
                <a:gdLst/>
                <a:ahLst/>
                <a:cxnLst/>
                <a:rect l="l" t="t" r="r" b="b"/>
                <a:pathLst>
                  <a:path w="2750678" h="1517262">
                    <a:moveTo>
                      <a:pt x="0" y="0"/>
                    </a:moveTo>
                    <a:lnTo>
                      <a:pt x="2750678" y="0"/>
                    </a:lnTo>
                    <a:lnTo>
                      <a:pt x="2750678" y="1517262"/>
                    </a:lnTo>
                    <a:lnTo>
                      <a:pt x="0" y="1517262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50678" cy="1564887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97225" cy="6870218"/>
              <a:chOff x="0" y="0"/>
              <a:chExt cx="34364" cy="11970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4364" cy="1197042"/>
              </a:xfrm>
              <a:custGeom>
                <a:avLst/>
                <a:gdLst/>
                <a:ahLst/>
                <a:cxnLst/>
                <a:rect l="l" t="t" r="r" b="b"/>
                <a:pathLst>
                  <a:path w="34364" h="1197042">
                    <a:moveTo>
                      <a:pt x="0" y="0"/>
                    </a:moveTo>
                    <a:lnTo>
                      <a:pt x="34364" y="0"/>
                    </a:lnTo>
                    <a:lnTo>
                      <a:pt x="34364" y="1197042"/>
                    </a:lnTo>
                    <a:lnTo>
                      <a:pt x="0" y="1197042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34364" cy="1244667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256971" y="0"/>
              <a:ext cx="198202" cy="6870218"/>
              <a:chOff x="0" y="0"/>
              <a:chExt cx="34534" cy="119704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4534" cy="1197042"/>
              </a:xfrm>
              <a:custGeom>
                <a:avLst/>
                <a:gdLst/>
                <a:ahLst/>
                <a:cxnLst/>
                <a:rect l="l" t="t" r="r" b="b"/>
                <a:pathLst>
                  <a:path w="34534" h="1197042">
                    <a:moveTo>
                      <a:pt x="0" y="0"/>
                    </a:moveTo>
                    <a:lnTo>
                      <a:pt x="34534" y="0"/>
                    </a:lnTo>
                    <a:lnTo>
                      <a:pt x="34534" y="1197042"/>
                    </a:lnTo>
                    <a:lnTo>
                      <a:pt x="0" y="1197042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34534" cy="1244667"/>
              </a:xfrm>
              <a:prstGeom prst="rect">
                <a:avLst/>
              </a:prstGeom>
            </p:spPr>
            <p:txBody>
              <a:bodyPr lIns="57592" tIns="57592" rIns="57592" bIns="5759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87905" y="5300503"/>
            <a:ext cx="638495" cy="63849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9BC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1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435523" y="5357653"/>
            <a:ext cx="633479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Classify some of the inventions in terms of the areas of human life this has improved or helped.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3692013"/>
            <a:ext cx="7626316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At the end of the lesson, the learners will be able 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3047733"/>
            <a:ext cx="14019402" cy="2392621"/>
            <a:chOff x="0" y="0"/>
            <a:chExt cx="18692536" cy="319016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3190162"/>
              <a:chOff x="0" y="0"/>
              <a:chExt cx="1766638" cy="30150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30150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30150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301503"/>
                    </a:lnTo>
                    <a:lnTo>
                      <a:pt x="0" y="301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349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3190162"/>
              <a:chOff x="0" y="0"/>
              <a:chExt cx="24179" cy="2378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237871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237871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237871"/>
                    </a:lnTo>
                    <a:lnTo>
                      <a:pt x="0" y="2378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2854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3190162"/>
              <a:chOff x="0" y="0"/>
              <a:chExt cx="23660" cy="23787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237871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237871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237871"/>
                    </a:lnTo>
                    <a:lnTo>
                      <a:pt x="0" y="2378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2854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3769270"/>
            <a:ext cx="1261339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Today, we will look into how varied inventions are and how this has helped the different areas of our lives.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2171433"/>
            <a:ext cx="14019402" cy="7086867"/>
            <a:chOff x="0" y="0"/>
            <a:chExt cx="18692536" cy="944915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9449156"/>
              <a:chOff x="0" y="0"/>
              <a:chExt cx="1766638" cy="8930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89304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89304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893043"/>
                    </a:lnTo>
                    <a:lnTo>
                      <a:pt x="0" y="89304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94066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9449156"/>
              <a:chOff x="0" y="0"/>
              <a:chExt cx="24179" cy="7045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704565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9449156"/>
              <a:chOff x="0" y="0"/>
              <a:chExt cx="23660" cy="7045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704565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2680022" y="4664409"/>
            <a:ext cx="9310756" cy="2820537"/>
          </a:xfrm>
          <a:custGeom>
            <a:avLst/>
            <a:gdLst/>
            <a:ahLst/>
            <a:cxnLst/>
            <a:rect l="l" t="t" r="r" b="b"/>
            <a:pathLst>
              <a:path w="9310756" h="2820537">
                <a:moveTo>
                  <a:pt x="0" y="0"/>
                </a:moveTo>
                <a:lnTo>
                  <a:pt x="9310755" y="0"/>
                </a:lnTo>
                <a:lnTo>
                  <a:pt x="9310755" y="2820537"/>
                </a:lnTo>
                <a:lnTo>
                  <a:pt x="0" y="2820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3" t="-2469" r="-1836" b="-312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9320" y="518079"/>
            <a:ext cx="966524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PURPOSE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5893" y="2502258"/>
            <a:ext cx="97492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Instructions to the learners: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473784"/>
            <a:ext cx="1261339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You get your bag and pull out at least 15 things you carried today. List those you have identified.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856421"/>
            <a:ext cx="1261339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Group the objects into at least three groupings.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2171433"/>
            <a:ext cx="14019402" cy="7086867"/>
            <a:chOff x="0" y="0"/>
            <a:chExt cx="18692536" cy="944915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9449156"/>
              <a:chOff x="0" y="0"/>
              <a:chExt cx="1766638" cy="8930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89304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89304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893043"/>
                    </a:lnTo>
                    <a:lnTo>
                      <a:pt x="0" y="89304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94066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9449156"/>
              <a:chOff x="0" y="0"/>
              <a:chExt cx="24179" cy="7045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704565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9449156"/>
              <a:chOff x="0" y="0"/>
              <a:chExt cx="23660" cy="7045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704565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409320" y="518079"/>
            <a:ext cx="966524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PURPOSE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5893" y="2502258"/>
            <a:ext cx="97492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Instructions to the learners: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473784"/>
            <a:ext cx="12613399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When you are done, share it with your seatmate and make a drawing. An example would be,</a:t>
            </a:r>
          </a:p>
          <a:p>
            <a:pPr algn="l">
              <a:lnSpc>
                <a:spcPts val="33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4. Explain why you grouped the things you have in your bags that way. Each of you will have different ways and reasons for doing it.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283659"/>
            <a:ext cx="1261339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This week, you will try to classify/group the different inventions into what area of human life this will be beneficial.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It is the movement of people and goods from place to place.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612" r="-45612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It is the movement of people and goods from place to place.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1634" y="5444837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6332913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TRANSPORTATION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It is the gathering of information about the world and oneself.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It is the gathering of information about the world and oneself.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1634" y="5444837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6332913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162575"/>
            <a:chOff x="0" y="0"/>
            <a:chExt cx="7777833" cy="421676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216767"/>
              <a:chOff x="0" y="0"/>
              <a:chExt cx="735085" cy="39852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98528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98528"/>
                    </a:lnTo>
                    <a:lnTo>
                      <a:pt x="0" y="398528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4615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216767"/>
              <a:chOff x="0" y="0"/>
              <a:chExt cx="10061" cy="3144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14418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14418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14418"/>
                    </a:lnTo>
                    <a:lnTo>
                      <a:pt x="0" y="3144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620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216767"/>
              <a:chOff x="0" y="0"/>
              <a:chExt cx="9845" cy="31441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14418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14418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14418"/>
                    </a:lnTo>
                    <a:lnTo>
                      <a:pt x="0" y="3144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620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It is a state of complete physical, mental, and social well-being, not</a:t>
            </a:r>
          </a:p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merely the absence of disease or infirmity.”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097662"/>
            <a:chOff x="0" y="0"/>
            <a:chExt cx="7777833" cy="413021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130216"/>
              <a:chOff x="0" y="0"/>
              <a:chExt cx="735085" cy="39034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90348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90348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90348"/>
                    </a:lnTo>
                    <a:lnTo>
                      <a:pt x="0" y="390348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3797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130216"/>
              <a:chOff x="0" y="0"/>
              <a:chExt cx="10061" cy="3079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07965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07965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07965"/>
                    </a:lnTo>
                    <a:lnTo>
                      <a:pt x="0" y="3079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555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130216"/>
              <a:chOff x="0" y="0"/>
              <a:chExt cx="9845" cy="3079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07965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07965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07965"/>
                    </a:lnTo>
                    <a:lnTo>
                      <a:pt x="0" y="3079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555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It is a state of complete physical, mental, and social well-being, not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merely the absence of disease or infirmity.”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1634" y="6193548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7081623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HEALTH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756446"/>
            <a:chOff x="0" y="0"/>
            <a:chExt cx="7777833" cy="367526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675262"/>
              <a:chOff x="0" y="0"/>
              <a:chExt cx="735085" cy="3473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47350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47350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47350"/>
                    </a:lnTo>
                    <a:lnTo>
                      <a:pt x="0" y="34735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9497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675262"/>
              <a:chOff x="0" y="0"/>
              <a:chExt cx="10061" cy="27404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74041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74041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74041"/>
                    </a:lnTo>
                    <a:lnTo>
                      <a:pt x="0" y="27404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2166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675262"/>
              <a:chOff x="0" y="0"/>
              <a:chExt cx="9845" cy="27404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74041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74041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74041"/>
                    </a:lnTo>
                    <a:lnTo>
                      <a:pt x="0" y="27404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2166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4. It includes both growing and harvesting crops and raising animals or</a:t>
            </a:r>
          </a:p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livestock.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631483"/>
            <a:chOff x="0" y="0"/>
            <a:chExt cx="7777833" cy="350864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508645"/>
              <a:chOff x="0" y="0"/>
              <a:chExt cx="735085" cy="33160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31603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31603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31603"/>
                    </a:lnTo>
                    <a:lnTo>
                      <a:pt x="0" y="3316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792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508645"/>
              <a:chOff x="0" y="0"/>
              <a:chExt cx="10061" cy="2616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61618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61618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61618"/>
                    </a:lnTo>
                    <a:lnTo>
                      <a:pt x="0" y="2616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092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508645"/>
              <a:chOff x="0" y="0"/>
              <a:chExt cx="9845" cy="26161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61618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61618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61618"/>
                    </a:lnTo>
                    <a:lnTo>
                      <a:pt x="0" y="2616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092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4. It includes both growing and harvesting crops and raising animals or</a:t>
            </a:r>
          </a:p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livestock.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1634" y="5716299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6604375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537463"/>
            <a:chOff x="0" y="0"/>
            <a:chExt cx="7777833" cy="471661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716618"/>
              <a:chOff x="0" y="0"/>
              <a:chExt cx="735085" cy="44576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445769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445769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445769"/>
                    </a:lnTo>
                    <a:lnTo>
                      <a:pt x="0" y="445769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9339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716618"/>
              <a:chOff x="0" y="0"/>
              <a:chExt cx="10061" cy="35168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5168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5168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51689"/>
                    </a:lnTo>
                    <a:lnTo>
                      <a:pt x="0" y="35168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9931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716618"/>
              <a:chOff x="0" y="0"/>
              <a:chExt cx="9845" cy="35168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5168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5168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51689"/>
                    </a:lnTo>
                    <a:lnTo>
                      <a:pt x="0" y="35168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9931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5. It is when people exchange various forms of meaning, such as ideas</a:t>
            </a:r>
          </a:p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and information, through a common system of symbols.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508489"/>
            <a:chOff x="0" y="0"/>
            <a:chExt cx="7777833" cy="467798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677986"/>
              <a:chOff x="0" y="0"/>
              <a:chExt cx="735085" cy="44211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442118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442118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442118"/>
                    </a:lnTo>
                    <a:lnTo>
                      <a:pt x="0" y="442118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897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677986"/>
              <a:chOff x="0" y="0"/>
              <a:chExt cx="10061" cy="34880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48808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48808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48808"/>
                    </a:lnTo>
                    <a:lnTo>
                      <a:pt x="0" y="34880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9643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677986"/>
              <a:chOff x="0" y="0"/>
              <a:chExt cx="9845" cy="34880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48808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48808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48808"/>
                    </a:lnTo>
                    <a:lnTo>
                      <a:pt x="0" y="34880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9643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5. It is when people exchange various forms of meaning, such as ideas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and information, through a common system of symbols.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2633" y="6532184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7494598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162575"/>
            <a:chOff x="0" y="0"/>
            <a:chExt cx="7777833" cy="421676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216767"/>
              <a:chOff x="0" y="0"/>
              <a:chExt cx="735085" cy="39852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98528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98528"/>
                    </a:lnTo>
                    <a:lnTo>
                      <a:pt x="0" y="398528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4615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216767"/>
              <a:chOff x="0" y="0"/>
              <a:chExt cx="10061" cy="3144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14418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14418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14418"/>
                    </a:lnTo>
                    <a:lnTo>
                      <a:pt x="0" y="3144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620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216767"/>
              <a:chOff x="0" y="0"/>
              <a:chExt cx="9845" cy="31441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14418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14418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14418"/>
                    </a:lnTo>
                    <a:lnTo>
                      <a:pt x="0" y="314418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6204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6. It is a form of activity that holds the attention and interest of an</a:t>
            </a:r>
          </a:p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audience or gives pleasure and delight.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3097662"/>
            <a:chOff x="0" y="0"/>
            <a:chExt cx="7777833" cy="413021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4130216"/>
              <a:chOff x="0" y="0"/>
              <a:chExt cx="735085" cy="39034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390348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390348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390348"/>
                    </a:lnTo>
                    <a:lnTo>
                      <a:pt x="0" y="390348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437973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4130216"/>
              <a:chOff x="0" y="0"/>
              <a:chExt cx="10061" cy="3079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307965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307965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307965"/>
                    </a:lnTo>
                    <a:lnTo>
                      <a:pt x="0" y="3079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3555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4130216"/>
              <a:chOff x="0" y="0"/>
              <a:chExt cx="9845" cy="3079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307965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307965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307965"/>
                    </a:lnTo>
                    <a:lnTo>
                      <a:pt x="0" y="3079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3555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6. It is a form of activity that holds the attention and interest of an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audience or gives pleasure and delight.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2633" y="6084010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6991136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ENTERTAINMENT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7. It refers to a family or group of people living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2633" y="2824423"/>
            <a:ext cx="5833375" cy="2319077"/>
            <a:chOff x="0" y="0"/>
            <a:chExt cx="7777833" cy="309210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3222708" y="2824423"/>
            <a:ext cx="4808598" cy="6195324"/>
          </a:xfrm>
          <a:custGeom>
            <a:avLst/>
            <a:gdLst/>
            <a:ahLst/>
            <a:cxnLst/>
            <a:rect l="l" t="t" r="r" b="b"/>
            <a:pathLst>
              <a:path w="4808598" h="6195324">
                <a:moveTo>
                  <a:pt x="0" y="0"/>
                </a:moveTo>
                <a:lnTo>
                  <a:pt x="4808598" y="0"/>
                </a:lnTo>
                <a:lnTo>
                  <a:pt x="4808598" y="6195324"/>
                </a:lnTo>
                <a:lnTo>
                  <a:pt x="0" y="619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689" r="-46689"/>
            </a:stretch>
          </a:blipFill>
          <a:ln w="219075" cap="sq">
            <a:solidFill>
              <a:srgbClr val="59687F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74397" y="2675624"/>
            <a:ext cx="6475487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UNLOCKING CONTENT VOCABULARY: WHAT’S THE WORD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2550" y="3326737"/>
            <a:ext cx="471354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7. It refers to a family or group of people living together.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21634" y="5444837"/>
            <a:ext cx="5833375" cy="2319077"/>
            <a:chOff x="0" y="0"/>
            <a:chExt cx="7777833" cy="309210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777833" cy="3092102"/>
              <a:chOff x="0" y="0"/>
              <a:chExt cx="735085" cy="2922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5085" cy="292236"/>
              </a:xfrm>
              <a:custGeom>
                <a:avLst/>
                <a:gdLst/>
                <a:ahLst/>
                <a:cxnLst/>
                <a:rect l="l" t="t" r="r" b="b"/>
                <a:pathLst>
                  <a:path w="735085" h="292236">
                    <a:moveTo>
                      <a:pt x="0" y="0"/>
                    </a:moveTo>
                    <a:lnTo>
                      <a:pt x="735085" y="0"/>
                    </a:lnTo>
                    <a:lnTo>
                      <a:pt x="735085" y="292236"/>
                    </a:lnTo>
                    <a:lnTo>
                      <a:pt x="0" y="292236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5085" cy="33986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134929" cy="3092102"/>
              <a:chOff x="0" y="0"/>
              <a:chExt cx="10061" cy="23055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061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10061" h="230559">
                    <a:moveTo>
                      <a:pt x="0" y="0"/>
                    </a:moveTo>
                    <a:lnTo>
                      <a:pt x="10061" y="0"/>
                    </a:lnTo>
                    <a:lnTo>
                      <a:pt x="10061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061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45803" y="0"/>
              <a:ext cx="132030" cy="3092102"/>
              <a:chOff x="0" y="0"/>
              <a:chExt cx="9845" cy="23055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45" cy="230559"/>
              </a:xfrm>
              <a:custGeom>
                <a:avLst/>
                <a:gdLst/>
                <a:ahLst/>
                <a:cxnLst/>
                <a:rect l="l" t="t" r="r" b="b"/>
                <a:pathLst>
                  <a:path w="9845" h="230559">
                    <a:moveTo>
                      <a:pt x="0" y="0"/>
                    </a:moveTo>
                    <a:lnTo>
                      <a:pt x="9845" y="0"/>
                    </a:lnTo>
                    <a:lnTo>
                      <a:pt x="9845" y="230559"/>
                    </a:lnTo>
                    <a:lnTo>
                      <a:pt x="0" y="2305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9845" cy="2781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7868495" y="6332913"/>
            <a:ext cx="433965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HOUSEHOLD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40624" y="2785287"/>
            <a:ext cx="10286138" cy="4344772"/>
            <a:chOff x="0" y="0"/>
            <a:chExt cx="2709106" cy="1144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106" cy="1144302"/>
            </a:xfrm>
            <a:custGeom>
              <a:avLst/>
              <a:gdLst/>
              <a:ahLst/>
              <a:cxnLst/>
              <a:rect l="l" t="t" r="r" b="b"/>
              <a:pathLst>
                <a:path w="2709106" h="1144302">
                  <a:moveTo>
                    <a:pt x="0" y="0"/>
                  </a:moveTo>
                  <a:lnTo>
                    <a:pt x="2709106" y="0"/>
                  </a:lnTo>
                  <a:lnTo>
                    <a:pt x="2709106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5968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106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0128" y="3178914"/>
            <a:ext cx="9417722" cy="3524601"/>
            <a:chOff x="0" y="0"/>
            <a:chExt cx="2480388" cy="92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0388" cy="928290"/>
            </a:xfrm>
            <a:custGeom>
              <a:avLst/>
              <a:gdLst/>
              <a:ahLst/>
              <a:cxnLst/>
              <a:rect l="l" t="t" r="r" b="b"/>
              <a:pathLst>
                <a:path w="2480388" h="928290">
                  <a:moveTo>
                    <a:pt x="0" y="0"/>
                  </a:moveTo>
                  <a:lnTo>
                    <a:pt x="2480388" y="0"/>
                  </a:lnTo>
                  <a:lnTo>
                    <a:pt x="2480388" y="928290"/>
                  </a:lnTo>
                  <a:lnTo>
                    <a:pt x="0" y="928290"/>
                  </a:lnTo>
                  <a:close/>
                </a:path>
              </a:pathLst>
            </a:custGeom>
            <a:solidFill>
              <a:srgbClr val="E8EEF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80388" cy="97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0624" y="2768829"/>
            <a:ext cx="217104" cy="4344772"/>
            <a:chOff x="0" y="0"/>
            <a:chExt cx="57180" cy="11443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09658" y="2785287"/>
            <a:ext cx="217104" cy="4344772"/>
            <a:chOff x="0" y="0"/>
            <a:chExt cx="57180" cy="11443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2111925"/>
            <a:ext cx="4882379" cy="9624761"/>
          </a:xfrm>
          <a:custGeom>
            <a:avLst/>
            <a:gdLst/>
            <a:ahLst/>
            <a:cxnLst/>
            <a:rect l="l" t="t" r="r" b="b"/>
            <a:pathLst>
              <a:path w="4882379" h="9624761">
                <a:moveTo>
                  <a:pt x="0" y="0"/>
                </a:moveTo>
                <a:lnTo>
                  <a:pt x="4882379" y="0"/>
                </a:lnTo>
                <a:lnTo>
                  <a:pt x="4882379" y="9624760"/>
                </a:lnTo>
                <a:lnTo>
                  <a:pt x="0" y="9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15157" y="4941215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48661" y="3766465"/>
            <a:ext cx="8140657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How Inventions Help Us in Different Ways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0128" y="1397550"/>
            <a:ext cx="3381213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DAY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dirty="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21209"/>
            <a:ext cx="9826753" cy="441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Health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Erythromycin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Electric mosquito repellant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 in 1 Fire truck called Patriot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Inventions in health help protect people from diseases and save lives. They make it easier to treat illnesses and maintain good hygiene.</a:t>
            </a:r>
          </a:p>
          <a:p>
            <a:pPr algn="l">
              <a:lnSpc>
                <a:spcPts val="4200"/>
              </a:lnSpc>
            </a:pPr>
            <a:endParaRPr lang="en-US" sz="35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11684"/>
            <a:ext cx="9826753" cy="442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Transportation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Plane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Steamboat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Jeepney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These inventions make travel faster and more convenient. They allow people and goods to move from one place to another easily.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11684"/>
            <a:ext cx="9826753" cy="442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Education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Ballpen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Paper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Blackboard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Educational inventions help students learn better and faster. They allow teachers to explain lessons clearly and share information easily.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11684"/>
            <a:ext cx="9826753" cy="389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Agriculture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Plow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Tractor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Irrigation Systems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These inventions help farmers grow and harvest crops efficiently. They improve food production and help reduce manual labor.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11684"/>
            <a:ext cx="9826753" cy="442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Household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Refrigerator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Light Bulb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 err="1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Vazbuilt</a:t>
            </a: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 Modular Housing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Electronic Door Opener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Household inventions make home life easier, cleaner, and more comfortable. They help with cooking, cleaning, and keeping food safe.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96840" y="4342499"/>
            <a:ext cx="7650774" cy="9831603"/>
          </a:xfrm>
          <a:custGeom>
            <a:avLst/>
            <a:gdLst/>
            <a:ahLst/>
            <a:cxnLst/>
            <a:rect l="l" t="t" r="r" b="b"/>
            <a:pathLst>
              <a:path w="7650774" h="9831603">
                <a:moveTo>
                  <a:pt x="0" y="0"/>
                </a:moveTo>
                <a:lnTo>
                  <a:pt x="7650774" y="0"/>
                </a:lnTo>
                <a:lnTo>
                  <a:pt x="7650774" y="9831602"/>
                </a:lnTo>
                <a:lnTo>
                  <a:pt x="0" y="98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66209" y="9523059"/>
            <a:ext cx="18854209" cy="763941"/>
            <a:chOff x="0" y="0"/>
            <a:chExt cx="4965718" cy="201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6382" y="2023422"/>
            <a:ext cx="10892918" cy="6996325"/>
            <a:chOff x="0" y="0"/>
            <a:chExt cx="14523891" cy="93284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4523891" cy="9328433"/>
              <a:chOff x="0" y="0"/>
              <a:chExt cx="1372658" cy="8816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72657" cy="881633"/>
              </a:xfrm>
              <a:custGeom>
                <a:avLst/>
                <a:gdLst/>
                <a:ahLst/>
                <a:cxnLst/>
                <a:rect l="l" t="t" r="r" b="b"/>
                <a:pathLst>
                  <a:path w="1372657" h="881633">
                    <a:moveTo>
                      <a:pt x="0" y="0"/>
                    </a:moveTo>
                    <a:lnTo>
                      <a:pt x="1372657" y="0"/>
                    </a:lnTo>
                    <a:lnTo>
                      <a:pt x="1372657" y="881633"/>
                    </a:lnTo>
                    <a:lnTo>
                      <a:pt x="0" y="88163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372658" cy="92925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51959" cy="9328433"/>
              <a:chOff x="0" y="0"/>
              <a:chExt cx="18787" cy="6955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787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787" h="695564">
                    <a:moveTo>
                      <a:pt x="0" y="0"/>
                    </a:moveTo>
                    <a:lnTo>
                      <a:pt x="18787" y="0"/>
                    </a:lnTo>
                    <a:lnTo>
                      <a:pt x="18787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8787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4277345" y="0"/>
              <a:ext cx="246546" cy="9328433"/>
              <a:chOff x="0" y="0"/>
              <a:chExt cx="18383" cy="69556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8383" cy="695564"/>
              </a:xfrm>
              <a:custGeom>
                <a:avLst/>
                <a:gdLst/>
                <a:ahLst/>
                <a:cxnLst/>
                <a:rect l="l" t="t" r="r" b="b"/>
                <a:pathLst>
                  <a:path w="18383" h="695564">
                    <a:moveTo>
                      <a:pt x="0" y="0"/>
                    </a:moveTo>
                    <a:lnTo>
                      <a:pt x="18383" y="0"/>
                    </a:lnTo>
                    <a:lnTo>
                      <a:pt x="18383" y="695564"/>
                    </a:lnTo>
                    <a:lnTo>
                      <a:pt x="0" y="695564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8383" cy="74318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78447" y="2738752"/>
            <a:ext cx="446736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FF8461"/>
                </a:solidFill>
                <a:latin typeface="Fredoka"/>
                <a:ea typeface="Fredoka"/>
                <a:cs typeface="Fredoka"/>
                <a:sym typeface="Fredoka"/>
              </a:rPr>
              <a:t>INVENTIONS UNDER EACH CATEGORY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3934" y="2511684"/>
            <a:ext cx="9826753" cy="549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Communication/Entertainment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Laptop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Projector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Television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Phonograph</a:t>
            </a:r>
          </a:p>
          <a:p>
            <a:pPr algn="l">
              <a:lnSpc>
                <a:spcPts val="4200"/>
              </a:lnSpc>
            </a:pPr>
            <a:r>
              <a:rPr lang="en-US" sz="35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Communication and entertainment inventions help people share ideas and stay connected, learn new things, and enjoy music or shows that keep life fun and relaxing.</a:t>
            </a:r>
          </a:p>
          <a:p>
            <a:pPr algn="l">
              <a:lnSpc>
                <a:spcPts val="4200"/>
              </a:lnSpc>
            </a:pPr>
            <a:endParaRPr lang="en-US" sz="35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40624" y="2785287"/>
            <a:ext cx="10286138" cy="4344772"/>
            <a:chOff x="0" y="0"/>
            <a:chExt cx="2709106" cy="1144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106" cy="1144302"/>
            </a:xfrm>
            <a:custGeom>
              <a:avLst/>
              <a:gdLst/>
              <a:ahLst/>
              <a:cxnLst/>
              <a:rect l="l" t="t" r="r" b="b"/>
              <a:pathLst>
                <a:path w="2709106" h="1144302">
                  <a:moveTo>
                    <a:pt x="0" y="0"/>
                  </a:moveTo>
                  <a:lnTo>
                    <a:pt x="2709106" y="0"/>
                  </a:lnTo>
                  <a:lnTo>
                    <a:pt x="2709106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5968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106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0128" y="3178914"/>
            <a:ext cx="9417722" cy="3524601"/>
            <a:chOff x="0" y="0"/>
            <a:chExt cx="2480388" cy="92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0388" cy="928290"/>
            </a:xfrm>
            <a:custGeom>
              <a:avLst/>
              <a:gdLst/>
              <a:ahLst/>
              <a:cxnLst/>
              <a:rect l="l" t="t" r="r" b="b"/>
              <a:pathLst>
                <a:path w="2480388" h="928290">
                  <a:moveTo>
                    <a:pt x="0" y="0"/>
                  </a:moveTo>
                  <a:lnTo>
                    <a:pt x="2480388" y="0"/>
                  </a:lnTo>
                  <a:lnTo>
                    <a:pt x="2480388" y="928290"/>
                  </a:lnTo>
                  <a:lnTo>
                    <a:pt x="0" y="928290"/>
                  </a:lnTo>
                  <a:close/>
                </a:path>
              </a:pathLst>
            </a:custGeom>
            <a:solidFill>
              <a:srgbClr val="E8EEF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80388" cy="97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0624" y="2768829"/>
            <a:ext cx="217104" cy="4344772"/>
            <a:chOff x="0" y="0"/>
            <a:chExt cx="57180" cy="11443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09658" y="2785287"/>
            <a:ext cx="217104" cy="4344772"/>
            <a:chOff x="0" y="0"/>
            <a:chExt cx="57180" cy="11443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2111925"/>
            <a:ext cx="4882379" cy="9624761"/>
          </a:xfrm>
          <a:custGeom>
            <a:avLst/>
            <a:gdLst/>
            <a:ahLst/>
            <a:cxnLst/>
            <a:rect l="l" t="t" r="r" b="b"/>
            <a:pathLst>
              <a:path w="4882379" h="9624761">
                <a:moveTo>
                  <a:pt x="0" y="0"/>
                </a:moveTo>
                <a:lnTo>
                  <a:pt x="4882379" y="0"/>
                </a:lnTo>
                <a:lnTo>
                  <a:pt x="4882379" y="9624760"/>
                </a:lnTo>
                <a:lnTo>
                  <a:pt x="0" y="9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15157" y="4941215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48661" y="3766465"/>
            <a:ext cx="8140657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How Inventions Help Us in Different Ways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0128" y="1397550"/>
            <a:ext cx="3381213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DAY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2171433"/>
            <a:ext cx="14019402" cy="7086867"/>
            <a:chOff x="0" y="0"/>
            <a:chExt cx="18692536" cy="944915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9449156"/>
              <a:chOff x="0" y="0"/>
              <a:chExt cx="1766638" cy="8930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89304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89304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893043"/>
                    </a:lnTo>
                    <a:lnTo>
                      <a:pt x="0" y="89304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94066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9449156"/>
              <a:chOff x="0" y="0"/>
              <a:chExt cx="24179" cy="7045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704565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9449156"/>
              <a:chOff x="0" y="0"/>
              <a:chExt cx="23660" cy="7045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704565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409320" y="518079"/>
            <a:ext cx="966524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ACTIVITY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5893" y="2502258"/>
            <a:ext cx="97492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Instructions to the learners: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473784"/>
            <a:ext cx="12613399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You will work on the same category you were assigned to report yesterday.</a:t>
            </a:r>
          </a:p>
          <a:p>
            <a:pPr algn="l">
              <a:lnSpc>
                <a:spcPts val="33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You are given 10 minutes to discuss among yourselves how the inventions have helped the people. You may research about it using your cellphone.</a:t>
            </a:r>
          </a:p>
          <a:p>
            <a:pPr algn="l">
              <a:lnSpc>
                <a:spcPts val="33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You can use the template found in the Worksheet for Activity 3 this week.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2171433"/>
            <a:ext cx="14019402" cy="7086867"/>
            <a:chOff x="0" y="0"/>
            <a:chExt cx="18692536" cy="944915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9449156"/>
              <a:chOff x="0" y="0"/>
              <a:chExt cx="1766638" cy="8930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89304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89304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893043"/>
                    </a:lnTo>
                    <a:lnTo>
                      <a:pt x="0" y="89304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94066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9449156"/>
              <a:chOff x="0" y="0"/>
              <a:chExt cx="24179" cy="7045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704565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9449156"/>
              <a:chOff x="0" y="0"/>
              <a:chExt cx="23660" cy="7045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704565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028700" y="4107664"/>
            <a:ext cx="12886118" cy="4319572"/>
          </a:xfrm>
          <a:custGeom>
            <a:avLst/>
            <a:gdLst/>
            <a:ahLst/>
            <a:cxnLst/>
            <a:rect l="l" t="t" r="r" b="b"/>
            <a:pathLst>
              <a:path w="12886118" h="4319572">
                <a:moveTo>
                  <a:pt x="0" y="0"/>
                </a:moveTo>
                <a:lnTo>
                  <a:pt x="12886118" y="0"/>
                </a:lnTo>
                <a:lnTo>
                  <a:pt x="12886118" y="4319572"/>
                </a:lnTo>
                <a:lnTo>
                  <a:pt x="0" y="431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9320" y="518079"/>
            <a:ext cx="966524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ACTIVITY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5893" y="2502258"/>
            <a:ext cx="97492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Instructions to the learners: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473784"/>
            <a:ext cx="1261339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BENEFITS FROM THE INVENTION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2171433"/>
            <a:ext cx="14019402" cy="7086867"/>
            <a:chOff x="0" y="0"/>
            <a:chExt cx="18692536" cy="944915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9449156"/>
              <a:chOff x="0" y="0"/>
              <a:chExt cx="1766638" cy="8930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893043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893043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893043"/>
                    </a:lnTo>
                    <a:lnTo>
                      <a:pt x="0" y="89304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94066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9449156"/>
              <a:chOff x="0" y="0"/>
              <a:chExt cx="24179" cy="70456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704565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9449156"/>
              <a:chOff x="0" y="0"/>
              <a:chExt cx="23660" cy="7045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704565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704565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704565"/>
                    </a:lnTo>
                    <a:lnTo>
                      <a:pt x="0" y="704565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752190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409320" y="518079"/>
            <a:ext cx="966524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LESSON ACTIVITY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5893" y="2502258"/>
            <a:ext cx="97492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REPORTING TO THE CLASS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473784"/>
            <a:ext cx="12613399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After the group has worked on the assigned tasks, they will choose one member to report their answers to the whole class.</a:t>
            </a:r>
          </a:p>
          <a:p>
            <a:pPr algn="l">
              <a:lnSpc>
                <a:spcPts val="33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3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This will continue until all have shared their answers.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40624" y="2785287"/>
            <a:ext cx="10286138" cy="4344772"/>
            <a:chOff x="0" y="0"/>
            <a:chExt cx="2709106" cy="1144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106" cy="1144302"/>
            </a:xfrm>
            <a:custGeom>
              <a:avLst/>
              <a:gdLst/>
              <a:ahLst/>
              <a:cxnLst/>
              <a:rect l="l" t="t" r="r" b="b"/>
              <a:pathLst>
                <a:path w="2709106" h="1144302">
                  <a:moveTo>
                    <a:pt x="0" y="0"/>
                  </a:moveTo>
                  <a:lnTo>
                    <a:pt x="2709106" y="0"/>
                  </a:lnTo>
                  <a:lnTo>
                    <a:pt x="2709106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5968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106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0128" y="3178914"/>
            <a:ext cx="9417722" cy="3524601"/>
            <a:chOff x="0" y="0"/>
            <a:chExt cx="2480388" cy="92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0388" cy="928290"/>
            </a:xfrm>
            <a:custGeom>
              <a:avLst/>
              <a:gdLst/>
              <a:ahLst/>
              <a:cxnLst/>
              <a:rect l="l" t="t" r="r" b="b"/>
              <a:pathLst>
                <a:path w="2480388" h="928290">
                  <a:moveTo>
                    <a:pt x="0" y="0"/>
                  </a:moveTo>
                  <a:lnTo>
                    <a:pt x="2480388" y="0"/>
                  </a:lnTo>
                  <a:lnTo>
                    <a:pt x="2480388" y="928290"/>
                  </a:lnTo>
                  <a:lnTo>
                    <a:pt x="0" y="928290"/>
                  </a:lnTo>
                  <a:close/>
                </a:path>
              </a:pathLst>
            </a:custGeom>
            <a:solidFill>
              <a:srgbClr val="E8EEF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80388" cy="97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0624" y="2768829"/>
            <a:ext cx="217104" cy="4344772"/>
            <a:chOff x="0" y="0"/>
            <a:chExt cx="57180" cy="11443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09658" y="2785287"/>
            <a:ext cx="217104" cy="4344772"/>
            <a:chOff x="0" y="0"/>
            <a:chExt cx="57180" cy="11443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2111925"/>
            <a:ext cx="4882379" cy="9624761"/>
          </a:xfrm>
          <a:custGeom>
            <a:avLst/>
            <a:gdLst/>
            <a:ahLst/>
            <a:cxnLst/>
            <a:rect l="l" t="t" r="r" b="b"/>
            <a:pathLst>
              <a:path w="4882379" h="9624761">
                <a:moveTo>
                  <a:pt x="0" y="0"/>
                </a:moveTo>
                <a:lnTo>
                  <a:pt x="4882379" y="0"/>
                </a:lnTo>
                <a:lnTo>
                  <a:pt x="4882379" y="9624760"/>
                </a:lnTo>
                <a:lnTo>
                  <a:pt x="0" y="9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15157" y="4941215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48661" y="3766465"/>
            <a:ext cx="8140657" cy="2618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ACCIDENTAL INVENTIONS AND THEIR BENEFITS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0128" y="1397550"/>
            <a:ext cx="3381213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DAY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53650" y="1028700"/>
            <a:ext cx="7689474" cy="1575250"/>
            <a:chOff x="0" y="0"/>
            <a:chExt cx="10252631" cy="210033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2153650" y="2690086"/>
            <a:ext cx="7689474" cy="1575250"/>
            <a:chOff x="0" y="0"/>
            <a:chExt cx="10252631" cy="210033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2153650" y="4354408"/>
            <a:ext cx="7689474" cy="1575250"/>
            <a:chOff x="0" y="0"/>
            <a:chExt cx="10252631" cy="210033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2153650" y="6018729"/>
            <a:ext cx="7689474" cy="1575250"/>
            <a:chOff x="0" y="0"/>
            <a:chExt cx="10252631" cy="210033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2153650" y="7683050"/>
            <a:ext cx="7689474" cy="1575250"/>
            <a:chOff x="0" y="0"/>
            <a:chExt cx="968979" cy="19850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68979" cy="198503"/>
            </a:xfrm>
            <a:custGeom>
              <a:avLst/>
              <a:gdLst/>
              <a:ahLst/>
              <a:cxnLst/>
              <a:rect l="l" t="t" r="r" b="b"/>
              <a:pathLst>
                <a:path w="968979" h="198503">
                  <a:moveTo>
                    <a:pt x="0" y="0"/>
                  </a:moveTo>
                  <a:lnTo>
                    <a:pt x="968979" y="0"/>
                  </a:lnTo>
                  <a:lnTo>
                    <a:pt x="968979" y="198503"/>
                  </a:lnTo>
                  <a:lnTo>
                    <a:pt x="0" y="198503"/>
                  </a:lnTo>
                  <a:close/>
                </a:path>
              </a:pathLst>
            </a:custGeom>
            <a:solidFill>
              <a:srgbClr val="E8EEFD"/>
            </a:solidFill>
            <a:ln w="219075" cap="sq">
              <a:solidFill>
                <a:srgbClr val="59687F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68979" cy="246128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153650" y="7683050"/>
            <a:ext cx="133396" cy="1575250"/>
            <a:chOff x="0" y="0"/>
            <a:chExt cx="13262" cy="15660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262" cy="156609"/>
            </a:xfrm>
            <a:custGeom>
              <a:avLst/>
              <a:gdLst/>
              <a:ahLst/>
              <a:cxnLst/>
              <a:rect l="l" t="t" r="r" b="b"/>
              <a:pathLst>
                <a:path w="13262" h="156609">
                  <a:moveTo>
                    <a:pt x="0" y="0"/>
                  </a:moveTo>
                  <a:lnTo>
                    <a:pt x="13262" y="0"/>
                  </a:lnTo>
                  <a:lnTo>
                    <a:pt x="13262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3262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12593" y="7683050"/>
            <a:ext cx="130530" cy="1575250"/>
            <a:chOff x="0" y="0"/>
            <a:chExt cx="12977" cy="15660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977" cy="156609"/>
            </a:xfrm>
            <a:custGeom>
              <a:avLst/>
              <a:gdLst/>
              <a:ahLst/>
              <a:cxnLst/>
              <a:rect l="l" t="t" r="r" b="b"/>
              <a:pathLst>
                <a:path w="12977" h="156609">
                  <a:moveTo>
                    <a:pt x="0" y="0"/>
                  </a:moveTo>
                  <a:lnTo>
                    <a:pt x="12977" y="0"/>
                  </a:lnTo>
                  <a:lnTo>
                    <a:pt x="12977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2977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-2114014" y="2430747"/>
            <a:ext cx="5034459" cy="8265530"/>
          </a:xfrm>
          <a:custGeom>
            <a:avLst/>
            <a:gdLst/>
            <a:ahLst/>
            <a:cxnLst/>
            <a:rect l="l" t="t" r="r" b="b"/>
            <a:pathLst>
              <a:path w="5034459" h="8265530">
                <a:moveTo>
                  <a:pt x="0" y="0"/>
                </a:moveTo>
                <a:lnTo>
                  <a:pt x="5034459" y="0"/>
                </a:lnTo>
                <a:lnTo>
                  <a:pt x="5034459" y="8265530"/>
                </a:lnTo>
                <a:lnTo>
                  <a:pt x="0" y="826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2713588" y="142471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2713588" y="3086100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2713588" y="4733736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2713588" y="643076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2713588" y="807975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9843124" y="4506530"/>
            <a:ext cx="7613722" cy="10263595"/>
          </a:xfrm>
          <a:custGeom>
            <a:avLst/>
            <a:gdLst/>
            <a:ahLst/>
            <a:cxnLst/>
            <a:rect l="l" t="t" r="r" b="b"/>
            <a:pathLst>
              <a:path w="7613722" h="10263595">
                <a:moveTo>
                  <a:pt x="0" y="0"/>
                </a:moveTo>
                <a:lnTo>
                  <a:pt x="7613721" y="0"/>
                </a:lnTo>
                <a:lnTo>
                  <a:pt x="7613721" y="10263595"/>
                </a:lnTo>
                <a:lnTo>
                  <a:pt x="0" y="10263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9843124" y="1803625"/>
            <a:ext cx="7416176" cy="270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8581" dirty="0">
                <a:solidFill>
                  <a:srgbClr val="244799"/>
                </a:solidFill>
                <a:latin typeface="Fredoka"/>
                <a:ea typeface="Fredoka"/>
                <a:cs typeface="Fredoka"/>
                <a:sym typeface="Fredoka"/>
              </a:rPr>
              <a:t>FIFTEEN ACCIDENTAL INVENTIONS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38972" y="1527400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Matches - make it easy to start a fire.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38972" y="31887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Teflon - used to make non-stick pans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38972" y="47908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Potato Chips - provide a tasty and crispy snack.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38972" y="6510682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Ice Cream Cones - let people eat ice cream easily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38972" y="8136904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Coca-Cola - became a popular refreshing drink 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53650" y="1028700"/>
            <a:ext cx="7689474" cy="1575250"/>
            <a:chOff x="0" y="0"/>
            <a:chExt cx="10252631" cy="210033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2153650" y="2690086"/>
            <a:ext cx="7689474" cy="1575250"/>
            <a:chOff x="0" y="0"/>
            <a:chExt cx="10252631" cy="210033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2153650" y="4354408"/>
            <a:ext cx="7689474" cy="1575250"/>
            <a:chOff x="0" y="0"/>
            <a:chExt cx="10252631" cy="210033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2153650" y="6018729"/>
            <a:ext cx="7689474" cy="1575250"/>
            <a:chOff x="0" y="0"/>
            <a:chExt cx="10252631" cy="210033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2153650" y="7683050"/>
            <a:ext cx="7689474" cy="1575250"/>
            <a:chOff x="0" y="0"/>
            <a:chExt cx="968979" cy="19850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68979" cy="198503"/>
            </a:xfrm>
            <a:custGeom>
              <a:avLst/>
              <a:gdLst/>
              <a:ahLst/>
              <a:cxnLst/>
              <a:rect l="l" t="t" r="r" b="b"/>
              <a:pathLst>
                <a:path w="968979" h="198503">
                  <a:moveTo>
                    <a:pt x="0" y="0"/>
                  </a:moveTo>
                  <a:lnTo>
                    <a:pt x="968979" y="0"/>
                  </a:lnTo>
                  <a:lnTo>
                    <a:pt x="968979" y="198503"/>
                  </a:lnTo>
                  <a:lnTo>
                    <a:pt x="0" y="198503"/>
                  </a:lnTo>
                  <a:close/>
                </a:path>
              </a:pathLst>
            </a:custGeom>
            <a:solidFill>
              <a:srgbClr val="E8EEFD"/>
            </a:solidFill>
            <a:ln w="219075" cap="sq">
              <a:solidFill>
                <a:srgbClr val="59687F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68979" cy="246128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153650" y="7683050"/>
            <a:ext cx="133396" cy="1575250"/>
            <a:chOff x="0" y="0"/>
            <a:chExt cx="13262" cy="15660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262" cy="156609"/>
            </a:xfrm>
            <a:custGeom>
              <a:avLst/>
              <a:gdLst/>
              <a:ahLst/>
              <a:cxnLst/>
              <a:rect l="l" t="t" r="r" b="b"/>
              <a:pathLst>
                <a:path w="13262" h="156609">
                  <a:moveTo>
                    <a:pt x="0" y="0"/>
                  </a:moveTo>
                  <a:lnTo>
                    <a:pt x="13262" y="0"/>
                  </a:lnTo>
                  <a:lnTo>
                    <a:pt x="13262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3262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12593" y="7683050"/>
            <a:ext cx="130530" cy="1575250"/>
            <a:chOff x="0" y="0"/>
            <a:chExt cx="12977" cy="15660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977" cy="156609"/>
            </a:xfrm>
            <a:custGeom>
              <a:avLst/>
              <a:gdLst/>
              <a:ahLst/>
              <a:cxnLst/>
              <a:rect l="l" t="t" r="r" b="b"/>
              <a:pathLst>
                <a:path w="12977" h="156609">
                  <a:moveTo>
                    <a:pt x="0" y="0"/>
                  </a:moveTo>
                  <a:lnTo>
                    <a:pt x="12977" y="0"/>
                  </a:lnTo>
                  <a:lnTo>
                    <a:pt x="12977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2977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-2114014" y="2430747"/>
            <a:ext cx="5034459" cy="8265530"/>
          </a:xfrm>
          <a:custGeom>
            <a:avLst/>
            <a:gdLst/>
            <a:ahLst/>
            <a:cxnLst/>
            <a:rect l="l" t="t" r="r" b="b"/>
            <a:pathLst>
              <a:path w="5034459" h="8265530">
                <a:moveTo>
                  <a:pt x="0" y="0"/>
                </a:moveTo>
                <a:lnTo>
                  <a:pt x="5034459" y="0"/>
                </a:lnTo>
                <a:lnTo>
                  <a:pt x="5034459" y="8265530"/>
                </a:lnTo>
                <a:lnTo>
                  <a:pt x="0" y="826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2713588" y="142471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2713588" y="3086100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2713588" y="4733736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2713588" y="643076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2713588" y="807975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9843124" y="4506530"/>
            <a:ext cx="7613722" cy="10263595"/>
          </a:xfrm>
          <a:custGeom>
            <a:avLst/>
            <a:gdLst/>
            <a:ahLst/>
            <a:cxnLst/>
            <a:rect l="l" t="t" r="r" b="b"/>
            <a:pathLst>
              <a:path w="7613722" h="10263595">
                <a:moveTo>
                  <a:pt x="0" y="0"/>
                </a:moveTo>
                <a:lnTo>
                  <a:pt x="7613721" y="0"/>
                </a:lnTo>
                <a:lnTo>
                  <a:pt x="7613721" y="10263595"/>
                </a:lnTo>
                <a:lnTo>
                  <a:pt x="0" y="10263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9843124" y="1803625"/>
            <a:ext cx="7416176" cy="270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8581">
                <a:solidFill>
                  <a:srgbClr val="244799"/>
                </a:solidFill>
                <a:latin typeface="Fredoka"/>
                <a:ea typeface="Fredoka"/>
                <a:cs typeface="Fredoka"/>
                <a:sym typeface="Fredoka"/>
              </a:rPr>
              <a:t>FIFTEEN ACCIDENTAL INVENTIONS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38972" y="1527400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Post-it Notes - help people remember things.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38972" y="31887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Safety Glass - prevents serious injury.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38972" y="47908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Vulcanized Rubber - used to make strong and flexible tires.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38972" y="6510682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Plastic - a lightweight and durable material.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38972" y="8136904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Antidepressants - help people with mental health problems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53650" y="1028700"/>
            <a:ext cx="7689474" cy="1575250"/>
            <a:chOff x="0" y="0"/>
            <a:chExt cx="10252631" cy="210033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2153650" y="2690086"/>
            <a:ext cx="7689474" cy="1575250"/>
            <a:chOff x="0" y="0"/>
            <a:chExt cx="10252631" cy="210033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2153650" y="4354408"/>
            <a:ext cx="7689474" cy="1575250"/>
            <a:chOff x="0" y="0"/>
            <a:chExt cx="10252631" cy="210033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2153650" y="6018729"/>
            <a:ext cx="7689474" cy="1575250"/>
            <a:chOff x="0" y="0"/>
            <a:chExt cx="10252631" cy="210033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252631" cy="2100333"/>
              <a:chOff x="0" y="0"/>
              <a:chExt cx="968979" cy="19850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68979" cy="198503"/>
              </a:xfrm>
              <a:custGeom>
                <a:avLst/>
                <a:gdLst/>
                <a:ahLst/>
                <a:cxnLst/>
                <a:rect l="l" t="t" r="r" b="b"/>
                <a:pathLst>
                  <a:path w="968979" h="198503">
                    <a:moveTo>
                      <a:pt x="0" y="0"/>
                    </a:moveTo>
                    <a:lnTo>
                      <a:pt x="968979" y="0"/>
                    </a:lnTo>
                    <a:lnTo>
                      <a:pt x="968979" y="198503"/>
                    </a:lnTo>
                    <a:lnTo>
                      <a:pt x="0" y="198503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968979" cy="246128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177862" cy="2100333"/>
              <a:chOff x="0" y="0"/>
              <a:chExt cx="13262" cy="15660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262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3262" h="156609">
                    <a:moveTo>
                      <a:pt x="0" y="0"/>
                    </a:moveTo>
                    <a:lnTo>
                      <a:pt x="13262" y="0"/>
                    </a:lnTo>
                    <a:lnTo>
                      <a:pt x="13262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13262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0078591" y="0"/>
              <a:ext cx="174040" cy="2100333"/>
              <a:chOff x="0" y="0"/>
              <a:chExt cx="12977" cy="15660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2977" cy="156609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56609">
                    <a:moveTo>
                      <a:pt x="0" y="0"/>
                    </a:moveTo>
                    <a:lnTo>
                      <a:pt x="12977" y="0"/>
                    </a:lnTo>
                    <a:lnTo>
                      <a:pt x="12977" y="156609"/>
                    </a:lnTo>
                    <a:lnTo>
                      <a:pt x="0" y="15660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2977" cy="20423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2153650" y="7683050"/>
            <a:ext cx="7689474" cy="1575250"/>
            <a:chOff x="0" y="0"/>
            <a:chExt cx="968979" cy="19850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68979" cy="198503"/>
            </a:xfrm>
            <a:custGeom>
              <a:avLst/>
              <a:gdLst/>
              <a:ahLst/>
              <a:cxnLst/>
              <a:rect l="l" t="t" r="r" b="b"/>
              <a:pathLst>
                <a:path w="968979" h="198503">
                  <a:moveTo>
                    <a:pt x="0" y="0"/>
                  </a:moveTo>
                  <a:lnTo>
                    <a:pt x="968979" y="0"/>
                  </a:lnTo>
                  <a:lnTo>
                    <a:pt x="968979" y="198503"/>
                  </a:lnTo>
                  <a:lnTo>
                    <a:pt x="0" y="198503"/>
                  </a:lnTo>
                  <a:close/>
                </a:path>
              </a:pathLst>
            </a:custGeom>
            <a:solidFill>
              <a:srgbClr val="E8EEFD"/>
            </a:solidFill>
            <a:ln w="219075" cap="sq">
              <a:solidFill>
                <a:srgbClr val="59687F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68979" cy="246128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153650" y="7683050"/>
            <a:ext cx="133396" cy="1575250"/>
            <a:chOff x="0" y="0"/>
            <a:chExt cx="13262" cy="15660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262" cy="156609"/>
            </a:xfrm>
            <a:custGeom>
              <a:avLst/>
              <a:gdLst/>
              <a:ahLst/>
              <a:cxnLst/>
              <a:rect l="l" t="t" r="r" b="b"/>
              <a:pathLst>
                <a:path w="13262" h="156609">
                  <a:moveTo>
                    <a:pt x="0" y="0"/>
                  </a:moveTo>
                  <a:lnTo>
                    <a:pt x="13262" y="0"/>
                  </a:lnTo>
                  <a:lnTo>
                    <a:pt x="13262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3262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12593" y="7683050"/>
            <a:ext cx="130530" cy="1575250"/>
            <a:chOff x="0" y="0"/>
            <a:chExt cx="12977" cy="15660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977" cy="156609"/>
            </a:xfrm>
            <a:custGeom>
              <a:avLst/>
              <a:gdLst/>
              <a:ahLst/>
              <a:cxnLst/>
              <a:rect l="l" t="t" r="r" b="b"/>
              <a:pathLst>
                <a:path w="12977" h="156609">
                  <a:moveTo>
                    <a:pt x="0" y="0"/>
                  </a:moveTo>
                  <a:lnTo>
                    <a:pt x="12977" y="0"/>
                  </a:lnTo>
                  <a:lnTo>
                    <a:pt x="12977" y="156609"/>
                  </a:lnTo>
                  <a:lnTo>
                    <a:pt x="0" y="156609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2977" cy="204234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-2114014" y="2430747"/>
            <a:ext cx="5034459" cy="8265530"/>
          </a:xfrm>
          <a:custGeom>
            <a:avLst/>
            <a:gdLst/>
            <a:ahLst/>
            <a:cxnLst/>
            <a:rect l="l" t="t" r="r" b="b"/>
            <a:pathLst>
              <a:path w="5034459" h="8265530">
                <a:moveTo>
                  <a:pt x="0" y="0"/>
                </a:moveTo>
                <a:lnTo>
                  <a:pt x="5034459" y="0"/>
                </a:lnTo>
                <a:lnTo>
                  <a:pt x="5034459" y="8265530"/>
                </a:lnTo>
                <a:lnTo>
                  <a:pt x="0" y="826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2713588" y="142471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2713588" y="3086100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2713588" y="4733736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2713588" y="643076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2713588" y="8079754"/>
            <a:ext cx="737686" cy="737686"/>
          </a:xfrm>
          <a:custGeom>
            <a:avLst/>
            <a:gdLst/>
            <a:ahLst/>
            <a:cxnLst/>
            <a:rect l="l" t="t" r="r" b="b"/>
            <a:pathLst>
              <a:path w="737686" h="737686">
                <a:moveTo>
                  <a:pt x="0" y="0"/>
                </a:moveTo>
                <a:lnTo>
                  <a:pt x="737686" y="0"/>
                </a:lnTo>
                <a:lnTo>
                  <a:pt x="737686" y="737686"/>
                </a:lnTo>
                <a:lnTo>
                  <a:pt x="0" y="7376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9843124" y="4506530"/>
            <a:ext cx="7613722" cy="10263595"/>
          </a:xfrm>
          <a:custGeom>
            <a:avLst/>
            <a:gdLst/>
            <a:ahLst/>
            <a:cxnLst/>
            <a:rect l="l" t="t" r="r" b="b"/>
            <a:pathLst>
              <a:path w="7613722" h="10263595">
                <a:moveTo>
                  <a:pt x="0" y="0"/>
                </a:moveTo>
                <a:lnTo>
                  <a:pt x="7613721" y="0"/>
                </a:lnTo>
                <a:lnTo>
                  <a:pt x="7613721" y="10263595"/>
                </a:lnTo>
                <a:lnTo>
                  <a:pt x="0" y="10263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9843124" y="1803625"/>
            <a:ext cx="7416176" cy="270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5"/>
              </a:lnSpc>
            </a:pPr>
            <a:r>
              <a:rPr lang="en-US" sz="8581">
                <a:solidFill>
                  <a:srgbClr val="244799"/>
                </a:solidFill>
                <a:latin typeface="Fredoka"/>
                <a:ea typeface="Fredoka"/>
                <a:cs typeface="Fredoka"/>
                <a:sym typeface="Fredoka"/>
              </a:rPr>
              <a:t>FIFTEEN ACCIDENTAL INVENTIONS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38972" y="15089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Implantable Pacemaker -  keeps heartbeat steady and regular.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38972" y="31887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Antibiotics - fight harmful bacteria and save lives.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38972" y="4790886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X-rays - allow doctors to see inside the body.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38972" y="6510682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Superglue -  used to quickly fix broken objects.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38972" y="8136904"/>
            <a:ext cx="586970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Microwave Oven - heats and cooks food faster and easier.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6970" y="2290640"/>
            <a:ext cx="7391084" cy="8828327"/>
            <a:chOff x="0" y="0"/>
            <a:chExt cx="9854778" cy="11771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44922" cy="11771102"/>
            </a:xfrm>
            <a:custGeom>
              <a:avLst/>
              <a:gdLst/>
              <a:ahLst/>
              <a:cxnLst/>
              <a:rect l="l" t="t" r="r" b="b"/>
              <a:pathLst>
                <a:path w="9844922" h="11771102">
                  <a:moveTo>
                    <a:pt x="0" y="0"/>
                  </a:moveTo>
                  <a:lnTo>
                    <a:pt x="9844922" y="0"/>
                  </a:lnTo>
                  <a:lnTo>
                    <a:pt x="9844922" y="11771102"/>
                  </a:lnTo>
                  <a:lnTo>
                    <a:pt x="0" y="1177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449250">
              <a:off x="3558494" y="1136996"/>
              <a:ext cx="2417339" cy="1012261"/>
            </a:xfrm>
            <a:custGeom>
              <a:avLst/>
              <a:gdLst/>
              <a:ahLst/>
              <a:cxnLst/>
              <a:rect l="l" t="t" r="r" b="b"/>
              <a:pathLst>
                <a:path w="2417339" h="1012261">
                  <a:moveTo>
                    <a:pt x="0" y="0"/>
                  </a:moveTo>
                  <a:lnTo>
                    <a:pt x="2417339" y="0"/>
                  </a:lnTo>
                  <a:lnTo>
                    <a:pt x="2417339" y="1012261"/>
                  </a:lnTo>
                  <a:lnTo>
                    <a:pt x="0" y="101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9857" y="3044413"/>
              <a:ext cx="2129695" cy="2418878"/>
            </a:xfrm>
            <a:custGeom>
              <a:avLst/>
              <a:gdLst/>
              <a:ahLst/>
              <a:cxnLst/>
              <a:rect l="l" t="t" r="r" b="b"/>
              <a:pathLst>
                <a:path w="2129695" h="2418878">
                  <a:moveTo>
                    <a:pt x="0" y="0"/>
                  </a:moveTo>
                  <a:lnTo>
                    <a:pt x="2129695" y="0"/>
                  </a:lnTo>
                  <a:lnTo>
                    <a:pt x="2129695" y="2418878"/>
                  </a:lnTo>
                  <a:lnTo>
                    <a:pt x="0" y="2418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2" t="-125860" r="-361806" b="-26077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266975" y="2291843"/>
              <a:ext cx="2587804" cy="1221857"/>
            </a:xfrm>
            <a:custGeom>
              <a:avLst/>
              <a:gdLst/>
              <a:ahLst/>
              <a:cxnLst/>
              <a:rect l="l" t="t" r="r" b="b"/>
              <a:pathLst>
                <a:path w="2587804" h="1221857">
                  <a:moveTo>
                    <a:pt x="0" y="0"/>
                  </a:moveTo>
                  <a:lnTo>
                    <a:pt x="2587803" y="0"/>
                  </a:lnTo>
                  <a:lnTo>
                    <a:pt x="2587803" y="1221856"/>
                  </a:lnTo>
                  <a:lnTo>
                    <a:pt x="0" y="122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80435" t="-187570" b="-6758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13838" y="4283004"/>
            <a:ext cx="8617648" cy="2421799"/>
            <a:chOff x="0" y="0"/>
            <a:chExt cx="11490198" cy="322906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490198" cy="3229066"/>
              <a:chOff x="0" y="0"/>
              <a:chExt cx="1085942" cy="3051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85942" cy="305180"/>
              </a:xfrm>
              <a:custGeom>
                <a:avLst/>
                <a:gdLst/>
                <a:ahLst/>
                <a:cxnLst/>
                <a:rect l="l" t="t" r="r" b="b"/>
                <a:pathLst>
                  <a:path w="1085942" h="305180">
                    <a:moveTo>
                      <a:pt x="0" y="0"/>
                    </a:moveTo>
                    <a:lnTo>
                      <a:pt x="1085942" y="0"/>
                    </a:lnTo>
                    <a:lnTo>
                      <a:pt x="1085942" y="305180"/>
                    </a:lnTo>
                    <a:lnTo>
                      <a:pt x="0" y="30518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085942" cy="35280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99331" cy="3229066"/>
              <a:chOff x="0" y="0"/>
              <a:chExt cx="14863" cy="24077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863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863" h="240771">
                    <a:moveTo>
                      <a:pt x="0" y="0"/>
                    </a:moveTo>
                    <a:lnTo>
                      <a:pt x="14863" y="0"/>
                    </a:lnTo>
                    <a:lnTo>
                      <a:pt x="14863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863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95149" y="0"/>
              <a:ext cx="195048" cy="3229066"/>
              <a:chOff x="0" y="0"/>
              <a:chExt cx="14544" cy="240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44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240771">
                    <a:moveTo>
                      <a:pt x="0" y="0"/>
                    </a:moveTo>
                    <a:lnTo>
                      <a:pt x="14544" y="0"/>
                    </a:lnTo>
                    <a:lnTo>
                      <a:pt x="14544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544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01952" y="5001779"/>
            <a:ext cx="764141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Learners’ Takeaways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3982758"/>
            <a:chOff x="0" y="0"/>
            <a:chExt cx="18692536" cy="53103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5310344"/>
              <a:chOff x="0" y="0"/>
              <a:chExt cx="1766638" cy="5018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501882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501882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501882"/>
                    </a:lnTo>
                    <a:lnTo>
                      <a:pt x="0" y="501882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549507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5310344"/>
              <a:chOff x="0" y="0"/>
              <a:chExt cx="24179" cy="3959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395959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395959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395959"/>
                    </a:lnTo>
                    <a:lnTo>
                      <a:pt x="0" y="3959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4435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5310344"/>
              <a:chOff x="0" y="0"/>
              <a:chExt cx="23660" cy="3959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395959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395959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395959"/>
                    </a:lnTo>
                    <a:lnTo>
                      <a:pt x="0" y="3959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4435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Share at least 3 of the 15 accidental inventions with your family members.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Take note of their reactions to your sharing.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________________________________________________________________________________________________________________________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9320" y="5043495"/>
            <a:ext cx="14019403" cy="3695534"/>
            <a:chOff x="0" y="-638715"/>
            <a:chExt cx="18692537" cy="492737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638715"/>
              <a:ext cx="324276" cy="4927379"/>
            </a:xfrm>
            <a:prstGeom prst="rect">
              <a:avLst/>
            </a:prstGeom>
          </p:spPr>
          <p:txBody>
            <a:bodyPr lIns="134577" tIns="134577" rIns="134577" bIns="13457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375227" y="0"/>
              <a:ext cx="317310" cy="4288664"/>
              <a:chOff x="0" y="0"/>
              <a:chExt cx="23660" cy="31977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3660" cy="319779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319779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319779"/>
                    </a:lnTo>
                    <a:lnTo>
                      <a:pt x="0" y="31977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23660" cy="36740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6970" y="2290640"/>
            <a:ext cx="7391084" cy="8828327"/>
            <a:chOff x="0" y="0"/>
            <a:chExt cx="9854778" cy="11771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44922" cy="11771102"/>
            </a:xfrm>
            <a:custGeom>
              <a:avLst/>
              <a:gdLst/>
              <a:ahLst/>
              <a:cxnLst/>
              <a:rect l="l" t="t" r="r" b="b"/>
              <a:pathLst>
                <a:path w="9844922" h="11771102">
                  <a:moveTo>
                    <a:pt x="0" y="0"/>
                  </a:moveTo>
                  <a:lnTo>
                    <a:pt x="9844922" y="0"/>
                  </a:lnTo>
                  <a:lnTo>
                    <a:pt x="9844922" y="11771102"/>
                  </a:lnTo>
                  <a:lnTo>
                    <a:pt x="0" y="1177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449250">
              <a:off x="3558494" y="1136996"/>
              <a:ext cx="2417339" cy="1012261"/>
            </a:xfrm>
            <a:custGeom>
              <a:avLst/>
              <a:gdLst/>
              <a:ahLst/>
              <a:cxnLst/>
              <a:rect l="l" t="t" r="r" b="b"/>
              <a:pathLst>
                <a:path w="2417339" h="1012261">
                  <a:moveTo>
                    <a:pt x="0" y="0"/>
                  </a:moveTo>
                  <a:lnTo>
                    <a:pt x="2417339" y="0"/>
                  </a:lnTo>
                  <a:lnTo>
                    <a:pt x="2417339" y="1012261"/>
                  </a:lnTo>
                  <a:lnTo>
                    <a:pt x="0" y="101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9857" y="3044413"/>
              <a:ext cx="2129695" cy="2418878"/>
            </a:xfrm>
            <a:custGeom>
              <a:avLst/>
              <a:gdLst/>
              <a:ahLst/>
              <a:cxnLst/>
              <a:rect l="l" t="t" r="r" b="b"/>
              <a:pathLst>
                <a:path w="2129695" h="2418878">
                  <a:moveTo>
                    <a:pt x="0" y="0"/>
                  </a:moveTo>
                  <a:lnTo>
                    <a:pt x="2129695" y="0"/>
                  </a:lnTo>
                  <a:lnTo>
                    <a:pt x="2129695" y="2418878"/>
                  </a:lnTo>
                  <a:lnTo>
                    <a:pt x="0" y="2418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2" t="-125860" r="-361806" b="-26077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266975" y="2291843"/>
              <a:ext cx="2587804" cy="1221857"/>
            </a:xfrm>
            <a:custGeom>
              <a:avLst/>
              <a:gdLst/>
              <a:ahLst/>
              <a:cxnLst/>
              <a:rect l="l" t="t" r="r" b="b"/>
              <a:pathLst>
                <a:path w="2587804" h="1221857">
                  <a:moveTo>
                    <a:pt x="0" y="0"/>
                  </a:moveTo>
                  <a:lnTo>
                    <a:pt x="2587803" y="0"/>
                  </a:lnTo>
                  <a:lnTo>
                    <a:pt x="2587803" y="1221856"/>
                  </a:lnTo>
                  <a:lnTo>
                    <a:pt x="0" y="122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80435" t="-187570" b="-6758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13838" y="4283004"/>
            <a:ext cx="8617648" cy="2421799"/>
            <a:chOff x="0" y="0"/>
            <a:chExt cx="11490198" cy="322906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490198" cy="3229066"/>
              <a:chOff x="0" y="0"/>
              <a:chExt cx="1085942" cy="3051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85942" cy="305180"/>
              </a:xfrm>
              <a:custGeom>
                <a:avLst/>
                <a:gdLst/>
                <a:ahLst/>
                <a:cxnLst/>
                <a:rect l="l" t="t" r="r" b="b"/>
                <a:pathLst>
                  <a:path w="1085942" h="305180">
                    <a:moveTo>
                      <a:pt x="0" y="0"/>
                    </a:moveTo>
                    <a:lnTo>
                      <a:pt x="1085942" y="0"/>
                    </a:lnTo>
                    <a:lnTo>
                      <a:pt x="1085942" y="305180"/>
                    </a:lnTo>
                    <a:lnTo>
                      <a:pt x="0" y="30518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085942" cy="35280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99331" cy="3229066"/>
              <a:chOff x="0" y="0"/>
              <a:chExt cx="14863" cy="24077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863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863" h="240771">
                    <a:moveTo>
                      <a:pt x="0" y="0"/>
                    </a:moveTo>
                    <a:lnTo>
                      <a:pt x="14863" y="0"/>
                    </a:lnTo>
                    <a:lnTo>
                      <a:pt x="14863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863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95149" y="0"/>
              <a:ext cx="195048" cy="3229066"/>
              <a:chOff x="0" y="0"/>
              <a:chExt cx="14544" cy="240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44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240771">
                    <a:moveTo>
                      <a:pt x="0" y="0"/>
                    </a:moveTo>
                    <a:lnTo>
                      <a:pt x="14544" y="0"/>
                    </a:lnTo>
                    <a:lnTo>
                      <a:pt x="14544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544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01952" y="5001779"/>
            <a:ext cx="764141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Reflection on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3982758"/>
            <a:chOff x="0" y="0"/>
            <a:chExt cx="18692536" cy="53103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5310344"/>
              <a:chOff x="0" y="0"/>
              <a:chExt cx="1766638" cy="5018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501882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501882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501882"/>
                    </a:lnTo>
                    <a:lnTo>
                      <a:pt x="0" y="501882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549507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5310344"/>
              <a:chOff x="0" y="0"/>
              <a:chExt cx="24179" cy="39595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395959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395959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395959"/>
                    </a:lnTo>
                    <a:lnTo>
                      <a:pt x="0" y="3959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4435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5310344"/>
              <a:chOff x="0" y="0"/>
              <a:chExt cx="23660" cy="3959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395959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395959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395959"/>
                    </a:lnTo>
                    <a:lnTo>
                      <a:pt x="0" y="395959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443584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If you are to invent something, which issue or problem will you try to address?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________________________________________________________________________________________________________________________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40624" y="2785287"/>
            <a:ext cx="10286138" cy="4344772"/>
            <a:chOff x="0" y="0"/>
            <a:chExt cx="2709106" cy="1144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106" cy="1144302"/>
            </a:xfrm>
            <a:custGeom>
              <a:avLst/>
              <a:gdLst/>
              <a:ahLst/>
              <a:cxnLst/>
              <a:rect l="l" t="t" r="r" b="b"/>
              <a:pathLst>
                <a:path w="2709106" h="1144302">
                  <a:moveTo>
                    <a:pt x="0" y="0"/>
                  </a:moveTo>
                  <a:lnTo>
                    <a:pt x="2709106" y="0"/>
                  </a:lnTo>
                  <a:lnTo>
                    <a:pt x="2709106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59687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09106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0128" y="3178914"/>
            <a:ext cx="9417722" cy="3524601"/>
            <a:chOff x="0" y="0"/>
            <a:chExt cx="2480388" cy="928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0388" cy="928290"/>
            </a:xfrm>
            <a:custGeom>
              <a:avLst/>
              <a:gdLst/>
              <a:ahLst/>
              <a:cxnLst/>
              <a:rect l="l" t="t" r="r" b="b"/>
              <a:pathLst>
                <a:path w="2480388" h="928290">
                  <a:moveTo>
                    <a:pt x="0" y="0"/>
                  </a:moveTo>
                  <a:lnTo>
                    <a:pt x="2480388" y="0"/>
                  </a:lnTo>
                  <a:lnTo>
                    <a:pt x="2480388" y="928290"/>
                  </a:lnTo>
                  <a:lnTo>
                    <a:pt x="0" y="928290"/>
                  </a:lnTo>
                  <a:close/>
                </a:path>
              </a:pathLst>
            </a:custGeom>
            <a:solidFill>
              <a:srgbClr val="E8EEF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80388" cy="975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940624" y="2768829"/>
            <a:ext cx="217104" cy="4344772"/>
            <a:chOff x="0" y="0"/>
            <a:chExt cx="57180" cy="11443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09658" y="2785287"/>
            <a:ext cx="217104" cy="4344772"/>
            <a:chOff x="0" y="0"/>
            <a:chExt cx="57180" cy="11443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80" cy="1144302"/>
            </a:xfrm>
            <a:custGeom>
              <a:avLst/>
              <a:gdLst/>
              <a:ahLst/>
              <a:cxnLst/>
              <a:rect l="l" t="t" r="r" b="b"/>
              <a:pathLst>
                <a:path w="57180" h="1144302">
                  <a:moveTo>
                    <a:pt x="0" y="0"/>
                  </a:moveTo>
                  <a:lnTo>
                    <a:pt x="57180" y="0"/>
                  </a:lnTo>
                  <a:lnTo>
                    <a:pt x="57180" y="1144302"/>
                  </a:lnTo>
                  <a:lnTo>
                    <a:pt x="0" y="1144302"/>
                  </a:lnTo>
                  <a:close/>
                </a:path>
              </a:pathLst>
            </a:custGeom>
            <a:solidFill>
              <a:srgbClr val="46526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7180" cy="11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2111925"/>
            <a:ext cx="4882379" cy="9624761"/>
          </a:xfrm>
          <a:custGeom>
            <a:avLst/>
            <a:gdLst/>
            <a:ahLst/>
            <a:cxnLst/>
            <a:rect l="l" t="t" r="r" b="b"/>
            <a:pathLst>
              <a:path w="4882379" h="9624761">
                <a:moveTo>
                  <a:pt x="0" y="0"/>
                </a:moveTo>
                <a:lnTo>
                  <a:pt x="4882379" y="0"/>
                </a:lnTo>
                <a:lnTo>
                  <a:pt x="4882379" y="9624760"/>
                </a:lnTo>
                <a:lnTo>
                  <a:pt x="0" y="9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15157" y="4941215"/>
            <a:ext cx="14586339" cy="6454455"/>
          </a:xfrm>
          <a:custGeom>
            <a:avLst/>
            <a:gdLst/>
            <a:ahLst/>
            <a:cxnLst/>
            <a:rect l="l" t="t" r="r" b="b"/>
            <a:pathLst>
              <a:path w="14586339" h="6454455">
                <a:moveTo>
                  <a:pt x="0" y="0"/>
                </a:moveTo>
                <a:lnTo>
                  <a:pt x="14586339" y="0"/>
                </a:lnTo>
                <a:lnTo>
                  <a:pt x="14586339" y="6454455"/>
                </a:lnTo>
                <a:lnTo>
                  <a:pt x="0" y="6454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48661" y="3766465"/>
            <a:ext cx="814065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FA7444"/>
                </a:solidFill>
                <a:latin typeface="Fredoka"/>
                <a:ea typeface="Fredoka"/>
                <a:cs typeface="Fredoka"/>
                <a:sym typeface="Fredoka"/>
              </a:rPr>
              <a:t>FORMATIVE ASSESSMENT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10128" y="1397550"/>
            <a:ext cx="3381213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dirty="0">
                <a:solidFill>
                  <a:srgbClr val="264899"/>
                </a:solidFill>
                <a:latin typeface="Fredoka"/>
                <a:ea typeface="Fredoka"/>
                <a:cs typeface="Fredoka"/>
                <a:sym typeface="Fredoka"/>
              </a:rPr>
              <a:t>DAY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6970" y="2290640"/>
            <a:ext cx="7391084" cy="8828327"/>
            <a:chOff x="0" y="0"/>
            <a:chExt cx="9854778" cy="11771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44922" cy="11771102"/>
            </a:xfrm>
            <a:custGeom>
              <a:avLst/>
              <a:gdLst/>
              <a:ahLst/>
              <a:cxnLst/>
              <a:rect l="l" t="t" r="r" b="b"/>
              <a:pathLst>
                <a:path w="9844922" h="11771102">
                  <a:moveTo>
                    <a:pt x="0" y="0"/>
                  </a:moveTo>
                  <a:lnTo>
                    <a:pt x="9844922" y="0"/>
                  </a:lnTo>
                  <a:lnTo>
                    <a:pt x="9844922" y="11771102"/>
                  </a:lnTo>
                  <a:lnTo>
                    <a:pt x="0" y="1177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449250">
              <a:off x="3558494" y="1136996"/>
              <a:ext cx="2417339" cy="1012261"/>
            </a:xfrm>
            <a:custGeom>
              <a:avLst/>
              <a:gdLst/>
              <a:ahLst/>
              <a:cxnLst/>
              <a:rect l="l" t="t" r="r" b="b"/>
              <a:pathLst>
                <a:path w="2417339" h="1012261">
                  <a:moveTo>
                    <a:pt x="0" y="0"/>
                  </a:moveTo>
                  <a:lnTo>
                    <a:pt x="2417339" y="0"/>
                  </a:lnTo>
                  <a:lnTo>
                    <a:pt x="2417339" y="1012261"/>
                  </a:lnTo>
                  <a:lnTo>
                    <a:pt x="0" y="101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9857" y="3044413"/>
              <a:ext cx="2129695" cy="2418878"/>
            </a:xfrm>
            <a:custGeom>
              <a:avLst/>
              <a:gdLst/>
              <a:ahLst/>
              <a:cxnLst/>
              <a:rect l="l" t="t" r="r" b="b"/>
              <a:pathLst>
                <a:path w="2129695" h="2418878">
                  <a:moveTo>
                    <a:pt x="0" y="0"/>
                  </a:moveTo>
                  <a:lnTo>
                    <a:pt x="2129695" y="0"/>
                  </a:lnTo>
                  <a:lnTo>
                    <a:pt x="2129695" y="2418878"/>
                  </a:lnTo>
                  <a:lnTo>
                    <a:pt x="0" y="2418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2" t="-125860" r="-361806" b="-26077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266975" y="2291843"/>
              <a:ext cx="2587804" cy="1221857"/>
            </a:xfrm>
            <a:custGeom>
              <a:avLst/>
              <a:gdLst/>
              <a:ahLst/>
              <a:cxnLst/>
              <a:rect l="l" t="t" r="r" b="b"/>
              <a:pathLst>
                <a:path w="2587804" h="1221857">
                  <a:moveTo>
                    <a:pt x="0" y="0"/>
                  </a:moveTo>
                  <a:lnTo>
                    <a:pt x="2587803" y="0"/>
                  </a:lnTo>
                  <a:lnTo>
                    <a:pt x="2587803" y="1221856"/>
                  </a:lnTo>
                  <a:lnTo>
                    <a:pt x="0" y="122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80435" t="-187570" b="-6758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13838" y="4283004"/>
            <a:ext cx="8617648" cy="3671427"/>
            <a:chOff x="0" y="0"/>
            <a:chExt cx="11490198" cy="4895235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490198" cy="4895235"/>
              <a:chOff x="0" y="0"/>
              <a:chExt cx="1085942" cy="4626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85942" cy="462650"/>
              </a:xfrm>
              <a:custGeom>
                <a:avLst/>
                <a:gdLst/>
                <a:ahLst/>
                <a:cxnLst/>
                <a:rect l="l" t="t" r="r" b="b"/>
                <a:pathLst>
                  <a:path w="1085942" h="462650">
                    <a:moveTo>
                      <a:pt x="0" y="0"/>
                    </a:moveTo>
                    <a:lnTo>
                      <a:pt x="1085942" y="0"/>
                    </a:lnTo>
                    <a:lnTo>
                      <a:pt x="1085942" y="462650"/>
                    </a:lnTo>
                    <a:lnTo>
                      <a:pt x="0" y="46265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085942" cy="51027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99331" cy="4895235"/>
              <a:chOff x="0" y="0"/>
              <a:chExt cx="14863" cy="36500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863" cy="365007"/>
              </a:xfrm>
              <a:custGeom>
                <a:avLst/>
                <a:gdLst/>
                <a:ahLst/>
                <a:cxnLst/>
                <a:rect l="l" t="t" r="r" b="b"/>
                <a:pathLst>
                  <a:path w="14863" h="365007">
                    <a:moveTo>
                      <a:pt x="0" y="0"/>
                    </a:moveTo>
                    <a:lnTo>
                      <a:pt x="14863" y="0"/>
                    </a:lnTo>
                    <a:lnTo>
                      <a:pt x="14863" y="365007"/>
                    </a:lnTo>
                    <a:lnTo>
                      <a:pt x="0" y="365007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863" cy="412632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95149" y="0"/>
              <a:ext cx="195048" cy="4895235"/>
              <a:chOff x="0" y="0"/>
              <a:chExt cx="14544" cy="36500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44" cy="365007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365007">
                    <a:moveTo>
                      <a:pt x="0" y="0"/>
                    </a:moveTo>
                    <a:lnTo>
                      <a:pt x="14544" y="0"/>
                    </a:lnTo>
                    <a:lnTo>
                      <a:pt x="14544" y="365007"/>
                    </a:lnTo>
                    <a:lnTo>
                      <a:pt x="0" y="365007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544" cy="412632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01952" y="4712854"/>
            <a:ext cx="7641419" cy="258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9"/>
              </a:lnSpc>
            </a:pPr>
            <a:r>
              <a:rPr lang="en-US" sz="30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Multiple Choice: Choose the letter of the correct answer from the given options and write your choice in CAPITAL letters. Answers will be written on a piece of paper and submitted to your teacher.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642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Which of the following inventions has greatly changed the way people communicate with each other?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laptop 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television 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cell phone 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projector</a:t>
            </a:r>
          </a:p>
          <a:p>
            <a:pPr algn="l">
              <a:lnSpc>
                <a:spcPts val="39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Which of the following contributed to the improvement of health?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electronic mosquito repellant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electronic door opener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jeepney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steamboat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642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Identify from the list below, which DOES NOT belong.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patis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video phone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</a:t>
            </a:r>
            <a:r>
              <a:rPr lang="en-US" sz="3000" dirty="0" err="1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soyalac</a:t>
            </a: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banana ketchup</a:t>
            </a:r>
          </a:p>
          <a:p>
            <a:pPr algn="l">
              <a:lnSpc>
                <a:spcPts val="39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4. The following are examples of inventions in agriculture EXCEPT one, which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is it?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</a:t>
            </a:r>
            <a:r>
              <a:rPr lang="en-US" sz="3000" dirty="0" err="1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soyalac</a:t>
            </a: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banana ketchup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tractor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jeepney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5. Which of the following refers to the exchange of various forms of meaning, such as ideas and information, through a common system of symbols?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Health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Agriculture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Education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Communication</a:t>
            </a:r>
          </a:p>
          <a:p>
            <a:pPr algn="l">
              <a:lnSpc>
                <a:spcPts val="39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6. Which of the following refers to complete physical, mental, and social well-being, not merely the absence of disease or infirmity?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Health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Agriculture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Education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54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7. Identify from the list below, which DOES NOT belong.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refrigerator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stove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projector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burglar alarm</a:t>
            </a:r>
          </a:p>
          <a:p>
            <a:pPr algn="l">
              <a:lnSpc>
                <a:spcPts val="39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8. Identify from the list below, which DOES NOT belong.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Alexander Graham Bell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Agapito Flores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Gregorio Zara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Daniel Dingel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54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9. Which of the following will you use to help you in your studies?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laptop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projector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television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video phone</a:t>
            </a:r>
          </a:p>
          <a:p>
            <a:pPr algn="l">
              <a:lnSpc>
                <a:spcPts val="3900"/>
              </a:lnSpc>
            </a:pPr>
            <a:endParaRPr lang="en-US" sz="3000" dirty="0">
              <a:solidFill>
                <a:srgbClr val="689BCB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10. Who is known as the “Father of Video teleconferencing”?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a. Alexander Graham Bell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b. Agapito Flores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c. Gregorio Zara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d. Daniel Dingel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6970" y="2290640"/>
            <a:ext cx="7391084" cy="8828327"/>
            <a:chOff x="0" y="0"/>
            <a:chExt cx="9854778" cy="11771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44922" cy="11771102"/>
            </a:xfrm>
            <a:custGeom>
              <a:avLst/>
              <a:gdLst/>
              <a:ahLst/>
              <a:cxnLst/>
              <a:rect l="l" t="t" r="r" b="b"/>
              <a:pathLst>
                <a:path w="9844922" h="11771102">
                  <a:moveTo>
                    <a:pt x="0" y="0"/>
                  </a:moveTo>
                  <a:lnTo>
                    <a:pt x="9844922" y="0"/>
                  </a:lnTo>
                  <a:lnTo>
                    <a:pt x="9844922" y="11771102"/>
                  </a:lnTo>
                  <a:lnTo>
                    <a:pt x="0" y="1177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449250">
              <a:off x="3558494" y="1136996"/>
              <a:ext cx="2417339" cy="1012261"/>
            </a:xfrm>
            <a:custGeom>
              <a:avLst/>
              <a:gdLst/>
              <a:ahLst/>
              <a:cxnLst/>
              <a:rect l="l" t="t" r="r" b="b"/>
              <a:pathLst>
                <a:path w="2417339" h="1012261">
                  <a:moveTo>
                    <a:pt x="0" y="0"/>
                  </a:moveTo>
                  <a:lnTo>
                    <a:pt x="2417339" y="0"/>
                  </a:lnTo>
                  <a:lnTo>
                    <a:pt x="2417339" y="1012261"/>
                  </a:lnTo>
                  <a:lnTo>
                    <a:pt x="0" y="101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9857" y="3044413"/>
              <a:ext cx="2129695" cy="2418878"/>
            </a:xfrm>
            <a:custGeom>
              <a:avLst/>
              <a:gdLst/>
              <a:ahLst/>
              <a:cxnLst/>
              <a:rect l="l" t="t" r="r" b="b"/>
              <a:pathLst>
                <a:path w="2129695" h="2418878">
                  <a:moveTo>
                    <a:pt x="0" y="0"/>
                  </a:moveTo>
                  <a:lnTo>
                    <a:pt x="2129695" y="0"/>
                  </a:lnTo>
                  <a:lnTo>
                    <a:pt x="2129695" y="2418878"/>
                  </a:lnTo>
                  <a:lnTo>
                    <a:pt x="0" y="2418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2" t="-125860" r="-361806" b="-26077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266975" y="2291843"/>
              <a:ext cx="2587804" cy="1221857"/>
            </a:xfrm>
            <a:custGeom>
              <a:avLst/>
              <a:gdLst/>
              <a:ahLst/>
              <a:cxnLst/>
              <a:rect l="l" t="t" r="r" b="b"/>
              <a:pathLst>
                <a:path w="2587804" h="1221857">
                  <a:moveTo>
                    <a:pt x="0" y="0"/>
                  </a:moveTo>
                  <a:lnTo>
                    <a:pt x="2587803" y="0"/>
                  </a:lnTo>
                  <a:lnTo>
                    <a:pt x="2587803" y="1221856"/>
                  </a:lnTo>
                  <a:lnTo>
                    <a:pt x="0" y="122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80435" t="-187570" b="-6758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13838" y="4283004"/>
            <a:ext cx="8617648" cy="2421799"/>
            <a:chOff x="0" y="0"/>
            <a:chExt cx="11490198" cy="322906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490198" cy="3229066"/>
              <a:chOff x="0" y="0"/>
              <a:chExt cx="1085942" cy="3051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85942" cy="305180"/>
              </a:xfrm>
              <a:custGeom>
                <a:avLst/>
                <a:gdLst/>
                <a:ahLst/>
                <a:cxnLst/>
                <a:rect l="l" t="t" r="r" b="b"/>
                <a:pathLst>
                  <a:path w="1085942" h="305180">
                    <a:moveTo>
                      <a:pt x="0" y="0"/>
                    </a:moveTo>
                    <a:lnTo>
                      <a:pt x="1085942" y="0"/>
                    </a:lnTo>
                    <a:lnTo>
                      <a:pt x="1085942" y="305180"/>
                    </a:lnTo>
                    <a:lnTo>
                      <a:pt x="0" y="30518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085942" cy="35280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99331" cy="3229066"/>
              <a:chOff x="0" y="0"/>
              <a:chExt cx="14863" cy="24077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863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863" h="240771">
                    <a:moveTo>
                      <a:pt x="0" y="0"/>
                    </a:moveTo>
                    <a:lnTo>
                      <a:pt x="14863" y="0"/>
                    </a:lnTo>
                    <a:lnTo>
                      <a:pt x="14863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863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95149" y="0"/>
              <a:ext cx="195048" cy="3229066"/>
              <a:chOff x="0" y="0"/>
              <a:chExt cx="14544" cy="240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44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240771">
                    <a:moveTo>
                      <a:pt x="0" y="0"/>
                    </a:moveTo>
                    <a:lnTo>
                      <a:pt x="14544" y="0"/>
                    </a:lnTo>
                    <a:lnTo>
                      <a:pt x="14544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544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01952" y="5001779"/>
            <a:ext cx="764141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ANSWERS SHOULD BE: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28723" y="2367026"/>
            <a:ext cx="4321579" cy="9701505"/>
          </a:xfrm>
          <a:custGeom>
            <a:avLst/>
            <a:gdLst/>
            <a:ahLst/>
            <a:cxnLst/>
            <a:rect l="l" t="t" r="r" b="b"/>
            <a:pathLst>
              <a:path w="4321579" h="9701505">
                <a:moveTo>
                  <a:pt x="0" y="0"/>
                </a:moveTo>
                <a:lnTo>
                  <a:pt x="4321579" y="0"/>
                </a:lnTo>
                <a:lnTo>
                  <a:pt x="4321579" y="9701505"/>
                </a:lnTo>
                <a:lnTo>
                  <a:pt x="0" y="970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09320" y="1160742"/>
            <a:ext cx="14019402" cy="8097558"/>
            <a:chOff x="0" y="0"/>
            <a:chExt cx="18692536" cy="1079674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8692536" cy="10796744"/>
              <a:chOff x="0" y="0"/>
              <a:chExt cx="1766638" cy="10204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66638" cy="1020404"/>
              </a:xfrm>
              <a:custGeom>
                <a:avLst/>
                <a:gdLst/>
                <a:ahLst/>
                <a:cxnLst/>
                <a:rect l="l" t="t" r="r" b="b"/>
                <a:pathLst>
                  <a:path w="1766638" h="1020404">
                    <a:moveTo>
                      <a:pt x="0" y="0"/>
                    </a:moveTo>
                    <a:lnTo>
                      <a:pt x="1766638" y="0"/>
                    </a:lnTo>
                    <a:lnTo>
                      <a:pt x="1766638" y="1020404"/>
                    </a:lnTo>
                    <a:lnTo>
                      <a:pt x="0" y="1020404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766638" cy="1068029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324276" cy="10796744"/>
              <a:chOff x="0" y="0"/>
              <a:chExt cx="24179" cy="8050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79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4179" h="805046">
                    <a:moveTo>
                      <a:pt x="0" y="0"/>
                    </a:moveTo>
                    <a:lnTo>
                      <a:pt x="24179" y="0"/>
                    </a:lnTo>
                    <a:lnTo>
                      <a:pt x="24179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179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375227" y="0"/>
              <a:ext cx="317310" cy="10796744"/>
              <a:chOff x="0" y="0"/>
              <a:chExt cx="23660" cy="80504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660" cy="805046"/>
              </a:xfrm>
              <a:custGeom>
                <a:avLst/>
                <a:gdLst/>
                <a:ahLst/>
                <a:cxnLst/>
                <a:rect l="l" t="t" r="r" b="b"/>
                <a:pathLst>
                  <a:path w="23660" h="805046">
                    <a:moveTo>
                      <a:pt x="0" y="0"/>
                    </a:moveTo>
                    <a:lnTo>
                      <a:pt x="23660" y="0"/>
                    </a:lnTo>
                    <a:lnTo>
                      <a:pt x="23660" y="805046"/>
                    </a:lnTo>
                    <a:lnTo>
                      <a:pt x="0" y="805046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23660" cy="852671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28700" y="1656696"/>
            <a:ext cx="12613399" cy="494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1. D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2. 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3. B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4. D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5. D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6. 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7. C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8. 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9. A</a:t>
            </a:r>
          </a:p>
          <a:p>
            <a:pPr algn="l">
              <a:lnSpc>
                <a:spcPts val="3900"/>
              </a:lnSpc>
            </a:pPr>
            <a:r>
              <a:rPr lang="en-US" sz="3000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10.C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" b="-1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6970" y="2290640"/>
            <a:ext cx="7391084" cy="8828327"/>
            <a:chOff x="0" y="0"/>
            <a:chExt cx="9854778" cy="11771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44922" cy="11771102"/>
            </a:xfrm>
            <a:custGeom>
              <a:avLst/>
              <a:gdLst/>
              <a:ahLst/>
              <a:cxnLst/>
              <a:rect l="l" t="t" r="r" b="b"/>
              <a:pathLst>
                <a:path w="9844922" h="11771102">
                  <a:moveTo>
                    <a:pt x="0" y="0"/>
                  </a:moveTo>
                  <a:lnTo>
                    <a:pt x="9844922" y="0"/>
                  </a:lnTo>
                  <a:lnTo>
                    <a:pt x="9844922" y="11771102"/>
                  </a:lnTo>
                  <a:lnTo>
                    <a:pt x="0" y="11771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449250">
              <a:off x="3558494" y="1136996"/>
              <a:ext cx="2417339" cy="1012261"/>
            </a:xfrm>
            <a:custGeom>
              <a:avLst/>
              <a:gdLst/>
              <a:ahLst/>
              <a:cxnLst/>
              <a:rect l="l" t="t" r="r" b="b"/>
              <a:pathLst>
                <a:path w="2417339" h="1012261">
                  <a:moveTo>
                    <a:pt x="0" y="0"/>
                  </a:moveTo>
                  <a:lnTo>
                    <a:pt x="2417339" y="0"/>
                  </a:lnTo>
                  <a:lnTo>
                    <a:pt x="2417339" y="1012261"/>
                  </a:lnTo>
                  <a:lnTo>
                    <a:pt x="0" y="1012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9857" y="3044413"/>
              <a:ext cx="2129695" cy="2418878"/>
            </a:xfrm>
            <a:custGeom>
              <a:avLst/>
              <a:gdLst/>
              <a:ahLst/>
              <a:cxnLst/>
              <a:rect l="l" t="t" r="r" b="b"/>
              <a:pathLst>
                <a:path w="2129695" h="2418878">
                  <a:moveTo>
                    <a:pt x="0" y="0"/>
                  </a:moveTo>
                  <a:lnTo>
                    <a:pt x="2129695" y="0"/>
                  </a:lnTo>
                  <a:lnTo>
                    <a:pt x="2129695" y="2418878"/>
                  </a:lnTo>
                  <a:lnTo>
                    <a:pt x="0" y="2418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2" t="-125860" r="-361806" b="-26077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266975" y="2291843"/>
              <a:ext cx="2587804" cy="1221857"/>
            </a:xfrm>
            <a:custGeom>
              <a:avLst/>
              <a:gdLst/>
              <a:ahLst/>
              <a:cxnLst/>
              <a:rect l="l" t="t" r="r" b="b"/>
              <a:pathLst>
                <a:path w="2587804" h="1221857">
                  <a:moveTo>
                    <a:pt x="0" y="0"/>
                  </a:moveTo>
                  <a:lnTo>
                    <a:pt x="2587803" y="0"/>
                  </a:lnTo>
                  <a:lnTo>
                    <a:pt x="2587803" y="1221856"/>
                  </a:lnTo>
                  <a:lnTo>
                    <a:pt x="0" y="1221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280435" t="-187570" b="-6758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66209" y="9642589"/>
            <a:ext cx="18854209" cy="763941"/>
            <a:chOff x="0" y="0"/>
            <a:chExt cx="4965718" cy="2012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5718" cy="201203"/>
            </a:xfrm>
            <a:custGeom>
              <a:avLst/>
              <a:gdLst/>
              <a:ahLst/>
              <a:cxnLst/>
              <a:rect l="l" t="t" r="r" b="b"/>
              <a:pathLst>
                <a:path w="4965718" h="201203">
                  <a:moveTo>
                    <a:pt x="0" y="0"/>
                  </a:moveTo>
                  <a:lnTo>
                    <a:pt x="4965718" y="0"/>
                  </a:lnTo>
                  <a:lnTo>
                    <a:pt x="4965718" y="201203"/>
                  </a:lnTo>
                  <a:lnTo>
                    <a:pt x="0" y="201203"/>
                  </a:lnTo>
                  <a:close/>
                </a:path>
              </a:pathLst>
            </a:custGeom>
            <a:solidFill>
              <a:srgbClr val="FA744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65718" cy="24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13838" y="4283004"/>
            <a:ext cx="8617648" cy="2421799"/>
            <a:chOff x="0" y="0"/>
            <a:chExt cx="11490198" cy="322906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490198" cy="3229066"/>
              <a:chOff x="0" y="0"/>
              <a:chExt cx="1085942" cy="3051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85942" cy="305180"/>
              </a:xfrm>
              <a:custGeom>
                <a:avLst/>
                <a:gdLst/>
                <a:ahLst/>
                <a:cxnLst/>
                <a:rect l="l" t="t" r="r" b="b"/>
                <a:pathLst>
                  <a:path w="1085942" h="305180">
                    <a:moveTo>
                      <a:pt x="0" y="0"/>
                    </a:moveTo>
                    <a:lnTo>
                      <a:pt x="1085942" y="0"/>
                    </a:lnTo>
                    <a:lnTo>
                      <a:pt x="1085942" y="305180"/>
                    </a:lnTo>
                    <a:lnTo>
                      <a:pt x="0" y="305180"/>
                    </a:lnTo>
                    <a:close/>
                  </a:path>
                </a:pathLst>
              </a:custGeom>
              <a:solidFill>
                <a:srgbClr val="E8EEFD"/>
              </a:solidFill>
              <a:ln w="219075" cap="sq">
                <a:solidFill>
                  <a:srgbClr val="59687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085942" cy="352805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99331" cy="3229066"/>
              <a:chOff x="0" y="0"/>
              <a:chExt cx="14863" cy="24077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863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863" h="240771">
                    <a:moveTo>
                      <a:pt x="0" y="0"/>
                    </a:moveTo>
                    <a:lnTo>
                      <a:pt x="14863" y="0"/>
                    </a:lnTo>
                    <a:lnTo>
                      <a:pt x="14863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863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95149" y="0"/>
              <a:ext cx="195048" cy="3229066"/>
              <a:chOff x="0" y="0"/>
              <a:chExt cx="14544" cy="24077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44" cy="240771"/>
              </a:xfrm>
              <a:custGeom>
                <a:avLst/>
                <a:gdLst/>
                <a:ahLst/>
                <a:cxnLst/>
                <a:rect l="l" t="t" r="r" b="b"/>
                <a:pathLst>
                  <a:path w="14544" h="240771">
                    <a:moveTo>
                      <a:pt x="0" y="0"/>
                    </a:moveTo>
                    <a:lnTo>
                      <a:pt x="14544" y="0"/>
                    </a:lnTo>
                    <a:lnTo>
                      <a:pt x="14544" y="240771"/>
                    </a:lnTo>
                    <a:lnTo>
                      <a:pt x="0" y="240771"/>
                    </a:lnTo>
                    <a:close/>
                  </a:path>
                </a:pathLst>
              </a:custGeom>
              <a:solidFill>
                <a:srgbClr val="46526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4544" cy="288396"/>
              </a:xfrm>
              <a:prstGeom prst="rect">
                <a:avLst/>
              </a:prstGeom>
            </p:spPr>
            <p:txBody>
              <a:bodyPr lIns="134577" tIns="134577" rIns="134577" bIns="13457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8101952" y="5230379"/>
            <a:ext cx="764141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dirty="0">
                <a:solidFill>
                  <a:srgbClr val="689BC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1568</Words>
  <Application>Microsoft Office PowerPoint</Application>
  <PresentationFormat>Custom</PresentationFormat>
  <Paragraphs>227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Fredoka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ScienceQ1-Week2</dc:title>
  <cp:lastModifiedBy>Wendee Diane Llona</cp:lastModifiedBy>
  <cp:revision>8</cp:revision>
  <dcterms:created xsi:type="dcterms:W3CDTF">2006-08-16T00:00:00Z</dcterms:created>
  <dcterms:modified xsi:type="dcterms:W3CDTF">2025-11-28T16:55:43Z</dcterms:modified>
  <dc:identifier>DAG1ZnPXc-4</dc:identifier>
</cp:coreProperties>
</file>