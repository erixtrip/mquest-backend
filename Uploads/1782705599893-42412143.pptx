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8288000" cy="10287000"/>
  <p:notesSz cx="6858000" cy="9144000"/>
  <p:embeddedFontLst>
    <p:embeddedFont>
      <p:font typeface="Fredoka" panose="020B0604020202020204" charset="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0.sv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0.svg"/></Relationships>
</file>

<file path=ppt/slides/_rels/slide4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12.svg"/></Relationships>
</file>

<file path=ppt/slides/_rels/slide4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0.svg"/></Relationships>
</file>

<file path=ppt/slides/_rels/slide4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11232674" y="2286331"/>
            <a:ext cx="6723231" cy="10271603"/>
          </a:xfrm>
          <a:custGeom>
            <a:avLst/>
            <a:gdLst/>
            <a:ahLst/>
            <a:cxnLst/>
            <a:rect l="l" t="t" r="r" b="b"/>
            <a:pathLst>
              <a:path w="6723231" h="10271603">
                <a:moveTo>
                  <a:pt x="0" y="0"/>
                </a:moveTo>
                <a:lnTo>
                  <a:pt x="6723231" y="0"/>
                </a:lnTo>
                <a:lnTo>
                  <a:pt x="6723231" y="10271602"/>
                </a:lnTo>
                <a:lnTo>
                  <a:pt x="0" y="1027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239931" y="2827510"/>
            <a:ext cx="8081449" cy="8339206"/>
          </a:xfrm>
          <a:custGeom>
            <a:avLst/>
            <a:gdLst/>
            <a:ahLst/>
            <a:cxnLst/>
            <a:rect l="l" t="t" r="r" b="b"/>
            <a:pathLst>
              <a:path w="8081449" h="8339206">
                <a:moveTo>
                  <a:pt x="0" y="0"/>
                </a:moveTo>
                <a:lnTo>
                  <a:pt x="8081449" y="0"/>
                </a:lnTo>
                <a:lnTo>
                  <a:pt x="8081449" y="8339206"/>
                </a:lnTo>
                <a:lnTo>
                  <a:pt x="0" y="83392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604250" y="4837380"/>
            <a:ext cx="14586339" cy="6454455"/>
          </a:xfrm>
          <a:custGeom>
            <a:avLst/>
            <a:gdLst/>
            <a:ahLst/>
            <a:cxnLst/>
            <a:rect l="l" t="t" r="r" b="b"/>
            <a:pathLst>
              <a:path w="14586339" h="6454455">
                <a:moveTo>
                  <a:pt x="0" y="0"/>
                </a:moveTo>
                <a:lnTo>
                  <a:pt x="14586339" y="0"/>
                </a:lnTo>
                <a:lnTo>
                  <a:pt x="14586339" y="6454455"/>
                </a:lnTo>
                <a:lnTo>
                  <a:pt x="0" y="6454455"/>
                </a:lnTo>
                <a:lnTo>
                  <a:pt x="0" y="0"/>
                </a:lnTo>
                <a:close/>
              </a:path>
            </a:pathLst>
          </a:custGeom>
          <a:blipFill>
            <a:blip r:embed="rId7"/>
            <a:stretch>
              <a:fillRect/>
            </a:stretch>
          </a:blipFill>
        </p:spPr>
      </p:sp>
      <p:grpSp>
        <p:nvGrpSpPr>
          <p:cNvPr id="6" name="Group 6"/>
          <p:cNvGrpSpPr/>
          <p:nvPr/>
        </p:nvGrpSpPr>
        <p:grpSpPr>
          <a:xfrm>
            <a:off x="-566209" y="9642589"/>
            <a:ext cx="18854209" cy="763941"/>
            <a:chOff x="0" y="0"/>
            <a:chExt cx="4965718" cy="201203"/>
          </a:xfrm>
        </p:grpSpPr>
        <p:sp>
          <p:nvSpPr>
            <p:cNvPr id="7" name="Freeform 7"/>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8" name="TextBox 8"/>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943201" y="3773488"/>
            <a:ext cx="10651088" cy="1749425"/>
          </a:xfrm>
          <a:prstGeom prst="rect">
            <a:avLst/>
          </a:prstGeom>
        </p:spPr>
        <p:txBody>
          <a:bodyPr lIns="0" tIns="0" rIns="0" bIns="0" rtlCol="0" anchor="t">
            <a:spAutoFit/>
          </a:bodyPr>
          <a:lstStyle/>
          <a:p>
            <a:pPr algn="ctr">
              <a:lnSpc>
                <a:spcPts val="7000"/>
              </a:lnSpc>
            </a:pPr>
            <a:r>
              <a:rPr lang="en-US" sz="5000" dirty="0">
                <a:solidFill>
                  <a:srgbClr val="264899"/>
                </a:solidFill>
                <a:latin typeface="Fredoka"/>
                <a:ea typeface="Fredoka"/>
                <a:cs typeface="Fredoka"/>
                <a:sym typeface="Fredoka"/>
              </a:rPr>
              <a:t>LESSON 3: CHEMICAL PROPERTIES OF MATERIALS AND THEIR USES</a:t>
            </a:r>
          </a:p>
        </p:txBody>
      </p:sp>
      <p:sp>
        <p:nvSpPr>
          <p:cNvPr id="10" name="TextBox 10"/>
          <p:cNvSpPr txBox="1"/>
          <p:nvPr/>
        </p:nvSpPr>
        <p:spPr>
          <a:xfrm>
            <a:off x="5117306" y="1556081"/>
            <a:ext cx="8293894" cy="2094932"/>
          </a:xfrm>
          <a:prstGeom prst="rect">
            <a:avLst/>
          </a:prstGeom>
        </p:spPr>
        <p:txBody>
          <a:bodyPr wrap="square" lIns="0" tIns="0" rIns="0" bIns="0" rtlCol="0" anchor="t">
            <a:spAutoFit/>
          </a:bodyPr>
          <a:lstStyle/>
          <a:p>
            <a:pPr algn="ctr">
              <a:lnSpc>
                <a:spcPts val="5599"/>
              </a:lnSpc>
            </a:pPr>
            <a:r>
              <a:rPr lang="en-US" sz="3999" dirty="0">
                <a:solidFill>
                  <a:srgbClr val="FF8461"/>
                </a:solidFill>
                <a:latin typeface="Fredoka"/>
                <a:ea typeface="Fredoka"/>
                <a:cs typeface="Fredoka"/>
                <a:sym typeface="Fredoka"/>
              </a:rPr>
              <a:t>SCIENCE 4 – QUARTER 1, WEEK 3</a:t>
            </a:r>
          </a:p>
          <a:p>
            <a:pPr algn="ctr">
              <a:lnSpc>
                <a:spcPts val="5599"/>
              </a:lnSpc>
            </a:pPr>
            <a:r>
              <a:rPr lang="en-US" sz="3999" dirty="0">
                <a:solidFill>
                  <a:srgbClr val="FF8461"/>
                </a:solidFill>
                <a:latin typeface="Fredoka"/>
                <a:ea typeface="Fredoka"/>
                <a:cs typeface="Fredoka"/>
                <a:sym typeface="Fredoka"/>
              </a:rPr>
              <a:t>DAY 1-5</a:t>
            </a:r>
          </a:p>
          <a:p>
            <a:pPr algn="ctr">
              <a:lnSpc>
                <a:spcPts val="5599"/>
              </a:lnSpc>
            </a:pPr>
            <a:endParaRPr lang="en-US" sz="3999" dirty="0">
              <a:solidFill>
                <a:srgbClr val="FF8461"/>
              </a:solidFill>
              <a:latin typeface="Fredoka"/>
              <a:ea typeface="Fredoka"/>
              <a:cs typeface="Fredoka"/>
              <a:sym typeface="Fredok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1043013" y="1416300"/>
            <a:ext cx="8730842" cy="10282576"/>
          </a:xfrm>
          <a:custGeom>
            <a:avLst/>
            <a:gdLst/>
            <a:ahLst/>
            <a:cxnLst/>
            <a:rect l="l" t="t" r="r" b="b"/>
            <a:pathLst>
              <a:path w="8730842" h="10282576">
                <a:moveTo>
                  <a:pt x="0" y="0"/>
                </a:moveTo>
                <a:lnTo>
                  <a:pt x="8730842" y="0"/>
                </a:lnTo>
                <a:lnTo>
                  <a:pt x="8730842" y="10282575"/>
                </a:lnTo>
                <a:lnTo>
                  <a:pt x="0" y="102825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4679187" y="4908038"/>
            <a:ext cx="14586339" cy="6454455"/>
          </a:xfrm>
          <a:custGeom>
            <a:avLst/>
            <a:gdLst/>
            <a:ahLst/>
            <a:cxnLst/>
            <a:rect l="l" t="t" r="r" b="b"/>
            <a:pathLst>
              <a:path w="14586339" h="6454455">
                <a:moveTo>
                  <a:pt x="0" y="0"/>
                </a:moveTo>
                <a:lnTo>
                  <a:pt x="14586339" y="0"/>
                </a:lnTo>
                <a:lnTo>
                  <a:pt x="14586339" y="6454455"/>
                </a:lnTo>
                <a:lnTo>
                  <a:pt x="0" y="6454455"/>
                </a:lnTo>
                <a:lnTo>
                  <a:pt x="0" y="0"/>
                </a:lnTo>
                <a:close/>
              </a:path>
            </a:pathLst>
          </a:custGeom>
          <a:blipFill>
            <a:blip r:embed="rId5"/>
            <a:stretch>
              <a:fillRect/>
            </a:stretch>
          </a:blipFill>
        </p:spPr>
      </p:sp>
      <p:grpSp>
        <p:nvGrpSpPr>
          <p:cNvPr id="5" name="Group 5"/>
          <p:cNvGrpSpPr/>
          <p:nvPr/>
        </p:nvGrpSpPr>
        <p:grpSpPr>
          <a:xfrm>
            <a:off x="8439824" y="2312695"/>
            <a:ext cx="9341380" cy="6945605"/>
            <a:chOff x="0" y="0"/>
            <a:chExt cx="12455173" cy="9260806"/>
          </a:xfrm>
        </p:grpSpPr>
        <p:grpSp>
          <p:nvGrpSpPr>
            <p:cNvPr id="6" name="Group 6"/>
            <p:cNvGrpSpPr/>
            <p:nvPr/>
          </p:nvGrpSpPr>
          <p:grpSpPr>
            <a:xfrm>
              <a:off x="0" y="0"/>
              <a:ext cx="12455173" cy="9260806"/>
              <a:chOff x="0" y="0"/>
              <a:chExt cx="2750678" cy="2045214"/>
            </a:xfrm>
          </p:grpSpPr>
          <p:sp>
            <p:nvSpPr>
              <p:cNvPr id="7" name="Freeform 7"/>
              <p:cNvSpPr/>
              <p:nvPr/>
            </p:nvSpPr>
            <p:spPr>
              <a:xfrm>
                <a:off x="0" y="0"/>
                <a:ext cx="2750678" cy="2045214"/>
              </a:xfrm>
              <a:custGeom>
                <a:avLst/>
                <a:gdLst/>
                <a:ahLst/>
                <a:cxnLst/>
                <a:rect l="l" t="t" r="r" b="b"/>
                <a:pathLst>
                  <a:path w="2750678" h="2045214">
                    <a:moveTo>
                      <a:pt x="0" y="0"/>
                    </a:moveTo>
                    <a:lnTo>
                      <a:pt x="2750678" y="0"/>
                    </a:lnTo>
                    <a:lnTo>
                      <a:pt x="2750678" y="2045214"/>
                    </a:lnTo>
                    <a:lnTo>
                      <a:pt x="0" y="2045214"/>
                    </a:lnTo>
                    <a:close/>
                  </a:path>
                </a:pathLst>
              </a:custGeom>
              <a:solidFill>
                <a:srgbClr val="E8EEFD"/>
              </a:solidFill>
              <a:ln w="219075" cap="sq">
                <a:solidFill>
                  <a:srgbClr val="59687F"/>
                </a:solidFill>
                <a:prstDash val="solid"/>
                <a:miter/>
              </a:ln>
            </p:spPr>
          </p:sp>
          <p:sp>
            <p:nvSpPr>
              <p:cNvPr id="8" name="TextBox 8"/>
              <p:cNvSpPr txBox="1"/>
              <p:nvPr/>
            </p:nvSpPr>
            <p:spPr>
              <a:xfrm>
                <a:off x="0" y="-47625"/>
                <a:ext cx="2750678" cy="2092839"/>
              </a:xfrm>
              <a:prstGeom prst="rect">
                <a:avLst/>
              </a:prstGeom>
            </p:spPr>
            <p:txBody>
              <a:bodyPr lIns="57592" tIns="57592" rIns="57592" bIns="57592" rtlCol="0" anchor="ctr"/>
              <a:lstStyle/>
              <a:p>
                <a:pPr algn="ctr">
                  <a:lnSpc>
                    <a:spcPts val="2659"/>
                  </a:lnSpc>
                </a:pPr>
                <a:endParaRPr/>
              </a:p>
            </p:txBody>
          </p:sp>
        </p:grpSp>
        <p:grpSp>
          <p:nvGrpSpPr>
            <p:cNvPr id="9" name="Group 9"/>
            <p:cNvGrpSpPr/>
            <p:nvPr/>
          </p:nvGrpSpPr>
          <p:grpSpPr>
            <a:xfrm>
              <a:off x="0" y="0"/>
              <a:ext cx="197225" cy="9260806"/>
              <a:chOff x="0" y="0"/>
              <a:chExt cx="34364" cy="1613569"/>
            </a:xfrm>
          </p:grpSpPr>
          <p:sp>
            <p:nvSpPr>
              <p:cNvPr id="10" name="Freeform 10"/>
              <p:cNvSpPr/>
              <p:nvPr/>
            </p:nvSpPr>
            <p:spPr>
              <a:xfrm>
                <a:off x="0" y="0"/>
                <a:ext cx="34364" cy="1613569"/>
              </a:xfrm>
              <a:custGeom>
                <a:avLst/>
                <a:gdLst/>
                <a:ahLst/>
                <a:cxnLst/>
                <a:rect l="l" t="t" r="r" b="b"/>
                <a:pathLst>
                  <a:path w="34364" h="1613569">
                    <a:moveTo>
                      <a:pt x="0" y="0"/>
                    </a:moveTo>
                    <a:lnTo>
                      <a:pt x="34364" y="0"/>
                    </a:lnTo>
                    <a:lnTo>
                      <a:pt x="34364" y="1613569"/>
                    </a:lnTo>
                    <a:lnTo>
                      <a:pt x="0" y="1613569"/>
                    </a:lnTo>
                    <a:close/>
                  </a:path>
                </a:pathLst>
              </a:custGeom>
              <a:solidFill>
                <a:srgbClr val="465265"/>
              </a:solidFill>
            </p:spPr>
          </p:sp>
          <p:sp>
            <p:nvSpPr>
              <p:cNvPr id="11" name="TextBox 11"/>
              <p:cNvSpPr txBox="1"/>
              <p:nvPr/>
            </p:nvSpPr>
            <p:spPr>
              <a:xfrm>
                <a:off x="0" y="-47625"/>
                <a:ext cx="34364" cy="1661194"/>
              </a:xfrm>
              <a:prstGeom prst="rect">
                <a:avLst/>
              </a:prstGeom>
            </p:spPr>
            <p:txBody>
              <a:bodyPr lIns="57592" tIns="57592" rIns="57592" bIns="57592" rtlCol="0" anchor="ctr"/>
              <a:lstStyle/>
              <a:p>
                <a:pPr algn="ctr">
                  <a:lnSpc>
                    <a:spcPts val="2659"/>
                  </a:lnSpc>
                </a:pPr>
                <a:endParaRPr/>
              </a:p>
            </p:txBody>
          </p:sp>
        </p:grpSp>
        <p:grpSp>
          <p:nvGrpSpPr>
            <p:cNvPr id="12" name="Group 12"/>
            <p:cNvGrpSpPr/>
            <p:nvPr/>
          </p:nvGrpSpPr>
          <p:grpSpPr>
            <a:xfrm>
              <a:off x="12256971" y="0"/>
              <a:ext cx="198202" cy="9260806"/>
              <a:chOff x="0" y="0"/>
              <a:chExt cx="34534" cy="1613569"/>
            </a:xfrm>
          </p:grpSpPr>
          <p:sp>
            <p:nvSpPr>
              <p:cNvPr id="13" name="Freeform 13"/>
              <p:cNvSpPr/>
              <p:nvPr/>
            </p:nvSpPr>
            <p:spPr>
              <a:xfrm>
                <a:off x="0" y="0"/>
                <a:ext cx="34534" cy="1613569"/>
              </a:xfrm>
              <a:custGeom>
                <a:avLst/>
                <a:gdLst/>
                <a:ahLst/>
                <a:cxnLst/>
                <a:rect l="l" t="t" r="r" b="b"/>
                <a:pathLst>
                  <a:path w="34534" h="1613569">
                    <a:moveTo>
                      <a:pt x="0" y="0"/>
                    </a:moveTo>
                    <a:lnTo>
                      <a:pt x="34534" y="0"/>
                    </a:lnTo>
                    <a:lnTo>
                      <a:pt x="34534" y="1613569"/>
                    </a:lnTo>
                    <a:lnTo>
                      <a:pt x="0" y="1613569"/>
                    </a:lnTo>
                    <a:close/>
                  </a:path>
                </a:pathLst>
              </a:custGeom>
              <a:solidFill>
                <a:srgbClr val="465265"/>
              </a:solidFill>
            </p:spPr>
          </p:sp>
          <p:sp>
            <p:nvSpPr>
              <p:cNvPr id="14" name="TextBox 14"/>
              <p:cNvSpPr txBox="1"/>
              <p:nvPr/>
            </p:nvSpPr>
            <p:spPr>
              <a:xfrm>
                <a:off x="0" y="-47625"/>
                <a:ext cx="34534" cy="1661194"/>
              </a:xfrm>
              <a:prstGeom prst="rect">
                <a:avLst/>
              </a:prstGeom>
            </p:spPr>
            <p:txBody>
              <a:bodyPr lIns="57592" tIns="57592" rIns="57592" bIns="57592" rtlCol="0" anchor="ctr"/>
              <a:lstStyle/>
              <a:p>
                <a:pPr algn="ctr">
                  <a:lnSpc>
                    <a:spcPts val="2659"/>
                  </a:lnSpc>
                </a:pPr>
                <a:endParaRPr/>
              </a:p>
            </p:txBody>
          </p:sp>
        </p:grpSp>
      </p:grpSp>
      <p:grpSp>
        <p:nvGrpSpPr>
          <p:cNvPr id="15" name="Group 15"/>
          <p:cNvGrpSpPr/>
          <p:nvPr/>
        </p:nvGrpSpPr>
        <p:grpSpPr>
          <a:xfrm>
            <a:off x="-566209" y="9642589"/>
            <a:ext cx="18854209" cy="763941"/>
            <a:chOff x="0" y="0"/>
            <a:chExt cx="4965718" cy="201203"/>
          </a:xfrm>
        </p:grpSpPr>
        <p:sp>
          <p:nvSpPr>
            <p:cNvPr id="16" name="Freeform 16"/>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7" name="TextBox 17"/>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8860895" y="2874974"/>
            <a:ext cx="638495" cy="638495"/>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444"/>
            </a:solidFill>
            <a:ln cap="sq">
              <a:noFill/>
              <a:prstDash val="solid"/>
              <a:miter/>
            </a:ln>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359"/>
                </a:lnSpc>
              </a:pPr>
              <a:r>
                <a:rPr lang="en-US" sz="2399">
                  <a:solidFill>
                    <a:srgbClr val="FFFFFF"/>
                  </a:solidFill>
                  <a:latin typeface="Fredoka"/>
                  <a:ea typeface="Fredoka"/>
                  <a:cs typeface="Fredoka"/>
                  <a:sym typeface="Fredoka"/>
                </a:rPr>
                <a:t>1</a:t>
              </a:r>
            </a:p>
          </p:txBody>
        </p:sp>
      </p:grpSp>
      <p:sp>
        <p:nvSpPr>
          <p:cNvPr id="21" name="TextBox 21"/>
          <p:cNvSpPr txBox="1"/>
          <p:nvPr/>
        </p:nvSpPr>
        <p:spPr>
          <a:xfrm>
            <a:off x="9463247" y="1230334"/>
            <a:ext cx="6315185" cy="863600"/>
          </a:xfrm>
          <a:prstGeom prst="rect">
            <a:avLst/>
          </a:prstGeom>
        </p:spPr>
        <p:txBody>
          <a:bodyPr lIns="0" tIns="0" rIns="0" bIns="0" rtlCol="0" anchor="t">
            <a:spAutoFit/>
          </a:bodyPr>
          <a:lstStyle/>
          <a:p>
            <a:pPr algn="r">
              <a:lnSpc>
                <a:spcPts val="7000"/>
              </a:lnSpc>
            </a:pPr>
            <a:r>
              <a:rPr lang="en-US" sz="5000" dirty="0">
                <a:solidFill>
                  <a:srgbClr val="264899"/>
                </a:solidFill>
                <a:latin typeface="Fredoka"/>
                <a:ea typeface="Fredoka"/>
                <a:cs typeface="Fredoka"/>
                <a:sym typeface="Fredoka"/>
              </a:rPr>
              <a:t>LESSON OVERVIEW</a:t>
            </a:r>
          </a:p>
        </p:txBody>
      </p:sp>
      <p:sp>
        <p:nvSpPr>
          <p:cNvPr id="22" name="TextBox 22"/>
          <p:cNvSpPr txBox="1"/>
          <p:nvPr/>
        </p:nvSpPr>
        <p:spPr>
          <a:xfrm>
            <a:off x="9652828" y="3650738"/>
            <a:ext cx="7606472" cy="781050"/>
          </a:xfrm>
          <a:prstGeom prst="rect">
            <a:avLst/>
          </a:prstGeom>
        </p:spPr>
        <p:txBody>
          <a:bodyPr lIns="0" tIns="0" rIns="0" bIns="0" rtlCol="0" anchor="t">
            <a:spAutoFit/>
          </a:bodyPr>
          <a:lstStyle/>
          <a:p>
            <a:pPr algn="l">
              <a:lnSpc>
                <a:spcPts val="3000"/>
              </a:lnSpc>
            </a:pPr>
            <a:r>
              <a:rPr lang="en-US" sz="3000" dirty="0">
                <a:solidFill>
                  <a:srgbClr val="689BCB"/>
                </a:solidFill>
                <a:latin typeface="Fredoka"/>
                <a:ea typeface="Fredoka"/>
                <a:cs typeface="Fredoka"/>
                <a:sym typeface="Fredoka"/>
              </a:rPr>
              <a:t>Chemical properties of materials determine their uses.</a:t>
            </a:r>
          </a:p>
        </p:txBody>
      </p:sp>
      <p:sp>
        <p:nvSpPr>
          <p:cNvPr id="23" name="TextBox 23"/>
          <p:cNvSpPr txBox="1"/>
          <p:nvPr/>
        </p:nvSpPr>
        <p:spPr>
          <a:xfrm>
            <a:off x="9652828" y="2908471"/>
            <a:ext cx="3457685" cy="514350"/>
          </a:xfrm>
          <a:prstGeom prst="rect">
            <a:avLst/>
          </a:prstGeom>
        </p:spPr>
        <p:txBody>
          <a:bodyPr lIns="0" tIns="0" rIns="0" bIns="0" rtlCol="0" anchor="t">
            <a:spAutoFit/>
          </a:bodyPr>
          <a:lstStyle/>
          <a:p>
            <a:pPr algn="r">
              <a:lnSpc>
                <a:spcPts val="4200"/>
              </a:lnSpc>
            </a:pPr>
            <a:r>
              <a:rPr lang="en-US" sz="3000" dirty="0">
                <a:solidFill>
                  <a:srgbClr val="FA7444"/>
                </a:solidFill>
                <a:latin typeface="Fredoka"/>
                <a:ea typeface="Fredoka"/>
                <a:cs typeface="Fredoka"/>
                <a:sym typeface="Fredoka"/>
              </a:rPr>
              <a:t>Content Standard:</a:t>
            </a:r>
          </a:p>
        </p:txBody>
      </p:sp>
      <p:grpSp>
        <p:nvGrpSpPr>
          <p:cNvPr id="24" name="Group 24"/>
          <p:cNvGrpSpPr/>
          <p:nvPr/>
        </p:nvGrpSpPr>
        <p:grpSpPr>
          <a:xfrm>
            <a:off x="8860895" y="4737271"/>
            <a:ext cx="638495" cy="638495"/>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444"/>
            </a:solidFill>
            <a:ln cap="sq">
              <a:noFill/>
              <a:prstDash val="solid"/>
              <a:miter/>
            </a:ln>
          </p:spPr>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3359"/>
                </a:lnSpc>
              </a:pPr>
              <a:r>
                <a:rPr lang="en-US" sz="2399">
                  <a:solidFill>
                    <a:srgbClr val="FFFFFF"/>
                  </a:solidFill>
                  <a:latin typeface="Fredoka"/>
                  <a:ea typeface="Fredoka"/>
                  <a:cs typeface="Fredoka"/>
                  <a:sym typeface="Fredoka"/>
                </a:rPr>
                <a:t>2</a:t>
              </a:r>
            </a:p>
          </p:txBody>
        </p:sp>
      </p:grpSp>
      <p:sp>
        <p:nvSpPr>
          <p:cNvPr id="27" name="TextBox 27"/>
          <p:cNvSpPr txBox="1"/>
          <p:nvPr/>
        </p:nvSpPr>
        <p:spPr>
          <a:xfrm>
            <a:off x="9738553" y="4770769"/>
            <a:ext cx="4314935" cy="514350"/>
          </a:xfrm>
          <a:prstGeom prst="rect">
            <a:avLst/>
          </a:prstGeom>
        </p:spPr>
        <p:txBody>
          <a:bodyPr lIns="0" tIns="0" rIns="0" bIns="0" rtlCol="0" anchor="t">
            <a:spAutoFit/>
          </a:bodyPr>
          <a:lstStyle/>
          <a:p>
            <a:pPr algn="r">
              <a:lnSpc>
                <a:spcPts val="4200"/>
              </a:lnSpc>
            </a:pPr>
            <a:r>
              <a:rPr lang="en-US" sz="3000" dirty="0">
                <a:solidFill>
                  <a:srgbClr val="FA7444"/>
                </a:solidFill>
                <a:latin typeface="Fredoka"/>
                <a:ea typeface="Fredoka"/>
                <a:cs typeface="Fredoka"/>
                <a:sym typeface="Fredoka"/>
              </a:rPr>
              <a:t>Performance Standard:</a:t>
            </a:r>
          </a:p>
        </p:txBody>
      </p:sp>
      <p:sp>
        <p:nvSpPr>
          <p:cNvPr id="28" name="TextBox 28"/>
          <p:cNvSpPr txBox="1"/>
          <p:nvPr/>
        </p:nvSpPr>
        <p:spPr>
          <a:xfrm>
            <a:off x="9738553" y="5432916"/>
            <a:ext cx="7520747" cy="1162050"/>
          </a:xfrm>
          <a:prstGeom prst="rect">
            <a:avLst/>
          </a:prstGeom>
        </p:spPr>
        <p:txBody>
          <a:bodyPr lIns="0" tIns="0" rIns="0" bIns="0" rtlCol="0" anchor="t">
            <a:spAutoFit/>
          </a:bodyPr>
          <a:lstStyle/>
          <a:p>
            <a:pPr algn="l">
              <a:lnSpc>
                <a:spcPts val="3000"/>
              </a:lnSpc>
            </a:pPr>
            <a:r>
              <a:rPr lang="en-US" sz="3000" dirty="0">
                <a:solidFill>
                  <a:srgbClr val="689BCB"/>
                </a:solidFill>
                <a:latin typeface="Fredoka"/>
                <a:ea typeface="Fredoka"/>
                <a:cs typeface="Fredoka"/>
                <a:sym typeface="Fredoka"/>
              </a:rPr>
              <a:t>Learners use science to solve problems and understand material changes.</a:t>
            </a:r>
          </a:p>
          <a:p>
            <a:pPr algn="l">
              <a:lnSpc>
                <a:spcPts val="3000"/>
              </a:lnSpc>
            </a:pPr>
            <a:endParaRPr lang="en-US" sz="3000" dirty="0">
              <a:solidFill>
                <a:srgbClr val="689BCB"/>
              </a:solidFill>
              <a:latin typeface="Fredoka"/>
              <a:ea typeface="Fredoka"/>
              <a:cs typeface="Fredoka"/>
              <a:sym typeface="Fredoka"/>
            </a:endParaRPr>
          </a:p>
        </p:txBody>
      </p:sp>
      <p:grpSp>
        <p:nvGrpSpPr>
          <p:cNvPr id="29" name="Group 29"/>
          <p:cNvGrpSpPr/>
          <p:nvPr/>
        </p:nvGrpSpPr>
        <p:grpSpPr>
          <a:xfrm>
            <a:off x="8860895" y="6582371"/>
            <a:ext cx="638495" cy="638495"/>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444"/>
            </a:solidFill>
            <a:ln cap="sq">
              <a:noFill/>
              <a:prstDash val="solid"/>
              <a:miter/>
            </a:ln>
          </p:spPr>
        </p:sp>
        <p:sp>
          <p:nvSpPr>
            <p:cNvPr id="31" name="TextBox 31"/>
            <p:cNvSpPr txBox="1"/>
            <p:nvPr/>
          </p:nvSpPr>
          <p:spPr>
            <a:xfrm>
              <a:off x="76200" y="28575"/>
              <a:ext cx="660400" cy="708025"/>
            </a:xfrm>
            <a:prstGeom prst="rect">
              <a:avLst/>
            </a:prstGeom>
          </p:spPr>
          <p:txBody>
            <a:bodyPr lIns="50800" tIns="50800" rIns="50800" bIns="50800" rtlCol="0" anchor="ctr"/>
            <a:lstStyle/>
            <a:p>
              <a:pPr algn="ctr">
                <a:lnSpc>
                  <a:spcPts val="3359"/>
                </a:lnSpc>
              </a:pPr>
              <a:r>
                <a:rPr lang="en-US" sz="2399" dirty="0">
                  <a:solidFill>
                    <a:srgbClr val="FFFFFF"/>
                  </a:solidFill>
                  <a:latin typeface="Fredoka"/>
                  <a:ea typeface="Fredoka"/>
                  <a:cs typeface="Fredoka"/>
                  <a:sym typeface="Fredoka"/>
                </a:rPr>
                <a:t>3</a:t>
              </a:r>
            </a:p>
          </p:txBody>
        </p:sp>
      </p:grpSp>
      <p:sp>
        <p:nvSpPr>
          <p:cNvPr id="32" name="TextBox 32"/>
          <p:cNvSpPr txBox="1"/>
          <p:nvPr/>
        </p:nvSpPr>
        <p:spPr>
          <a:xfrm>
            <a:off x="9738553" y="6615868"/>
            <a:ext cx="3856926" cy="514350"/>
          </a:xfrm>
          <a:prstGeom prst="rect">
            <a:avLst/>
          </a:prstGeom>
        </p:spPr>
        <p:txBody>
          <a:bodyPr lIns="0" tIns="0" rIns="0" bIns="0" rtlCol="0" anchor="t">
            <a:spAutoFit/>
          </a:bodyPr>
          <a:lstStyle/>
          <a:p>
            <a:pPr algn="r">
              <a:lnSpc>
                <a:spcPts val="4200"/>
              </a:lnSpc>
            </a:pPr>
            <a:r>
              <a:rPr lang="en-US" sz="3000" dirty="0">
                <a:solidFill>
                  <a:srgbClr val="FA7444"/>
                </a:solidFill>
                <a:latin typeface="Fredoka"/>
                <a:ea typeface="Fredoka"/>
                <a:cs typeface="Fredoka"/>
                <a:sym typeface="Fredoka"/>
              </a:rPr>
              <a:t>Learning Objectives:</a:t>
            </a:r>
          </a:p>
        </p:txBody>
      </p:sp>
      <p:sp>
        <p:nvSpPr>
          <p:cNvPr id="33" name="TextBox 33"/>
          <p:cNvSpPr txBox="1"/>
          <p:nvPr/>
        </p:nvSpPr>
        <p:spPr>
          <a:xfrm>
            <a:off x="9738553" y="7292143"/>
            <a:ext cx="7713852" cy="781050"/>
          </a:xfrm>
          <a:prstGeom prst="rect">
            <a:avLst/>
          </a:prstGeom>
        </p:spPr>
        <p:txBody>
          <a:bodyPr lIns="0" tIns="0" rIns="0" bIns="0" rtlCol="0" anchor="t">
            <a:spAutoFit/>
          </a:bodyPr>
          <a:lstStyle/>
          <a:p>
            <a:pPr algn="l">
              <a:lnSpc>
                <a:spcPts val="3000"/>
              </a:lnSpc>
            </a:pPr>
            <a:r>
              <a:rPr lang="en-US" sz="3000" dirty="0">
                <a:solidFill>
                  <a:srgbClr val="689BCB"/>
                </a:solidFill>
                <a:latin typeface="Fredoka"/>
                <a:ea typeface="Fredoka"/>
                <a:cs typeface="Fredoka"/>
                <a:sym typeface="Fredoka"/>
              </a:rPr>
              <a:t>a. Identify flammable materials and explain their properties.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xEl>
                                              <p:pRg st="0" end="0"/>
                                            </p:txEl>
                                          </p:spTgt>
                                        </p:tgtEl>
                                        <p:attrNameLst>
                                          <p:attrName>style.visibility</p:attrName>
                                        </p:attrNameLst>
                                      </p:cBhvr>
                                      <p:to>
                                        <p:strVal val="visible"/>
                                      </p:to>
                                    </p:set>
                                    <p:animEffect transition="in" filter="fade">
                                      <p:cBhvr>
                                        <p:cTn id="22" dur="500"/>
                                        <p:tgtEl>
                                          <p:spTgt spid="2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animEffect transition="in" filter="fade">
                                      <p:cBhvr>
                                        <p:cTn id="27" dur="500"/>
                                        <p:tgtEl>
                                          <p:spTgt spid="2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xEl>
                                              <p:pRg st="0" end="0"/>
                                            </p:txEl>
                                          </p:spTgt>
                                        </p:tgtEl>
                                        <p:attrNameLst>
                                          <p:attrName>style.visibility</p:attrName>
                                        </p:attrNameLst>
                                      </p:cBhvr>
                                      <p:to>
                                        <p:strVal val="visible"/>
                                      </p:to>
                                    </p:set>
                                    <p:animEffect transition="in" filter="fade">
                                      <p:cBhvr>
                                        <p:cTn id="37" dur="500"/>
                                        <p:tgtEl>
                                          <p:spTgt spid="2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0" end="0"/>
                                            </p:txEl>
                                          </p:spTgt>
                                        </p:tgtEl>
                                        <p:attrNameLst>
                                          <p:attrName>style.visibility</p:attrName>
                                        </p:attrNameLst>
                                      </p:cBhvr>
                                      <p:to>
                                        <p:strVal val="visible"/>
                                      </p:to>
                                    </p:set>
                                    <p:animEffect transition="in" filter="fade">
                                      <p:cBhvr>
                                        <p:cTn id="42" dur="500"/>
                                        <p:tgtEl>
                                          <p:spTgt spid="28">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2">
                                            <p:txEl>
                                              <p:pRg st="0" end="0"/>
                                            </p:txEl>
                                          </p:spTgt>
                                        </p:tgtEl>
                                        <p:attrNameLst>
                                          <p:attrName>style.visibility</p:attrName>
                                        </p:attrNameLst>
                                      </p:cBhvr>
                                      <p:to>
                                        <p:strVal val="visible"/>
                                      </p:to>
                                    </p:set>
                                    <p:animEffect transition="in" filter="fade">
                                      <p:cBhvr>
                                        <p:cTn id="52" dur="500"/>
                                        <p:tgtEl>
                                          <p:spTgt spid="3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3">
                                            <p:txEl>
                                              <p:pRg st="0" end="0"/>
                                            </p:txEl>
                                          </p:spTgt>
                                        </p:tgtEl>
                                        <p:attrNameLst>
                                          <p:attrName>style.visibility</p:attrName>
                                        </p:attrNameLst>
                                      </p:cBhvr>
                                      <p:to>
                                        <p:strVal val="visible"/>
                                      </p:to>
                                    </p:set>
                                    <p:animEffect transition="in" filter="fade">
                                      <p:cBhvr>
                                        <p:cTn id="57" dur="5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1043013" y="1416300"/>
            <a:ext cx="8730842" cy="10282576"/>
          </a:xfrm>
          <a:custGeom>
            <a:avLst/>
            <a:gdLst/>
            <a:ahLst/>
            <a:cxnLst/>
            <a:rect l="l" t="t" r="r" b="b"/>
            <a:pathLst>
              <a:path w="8730842" h="10282576">
                <a:moveTo>
                  <a:pt x="0" y="0"/>
                </a:moveTo>
                <a:lnTo>
                  <a:pt x="8730842" y="0"/>
                </a:lnTo>
                <a:lnTo>
                  <a:pt x="8730842" y="10282575"/>
                </a:lnTo>
                <a:lnTo>
                  <a:pt x="0" y="102825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4679187" y="4908038"/>
            <a:ext cx="14586339" cy="6454455"/>
          </a:xfrm>
          <a:custGeom>
            <a:avLst/>
            <a:gdLst/>
            <a:ahLst/>
            <a:cxnLst/>
            <a:rect l="l" t="t" r="r" b="b"/>
            <a:pathLst>
              <a:path w="14586339" h="6454455">
                <a:moveTo>
                  <a:pt x="0" y="0"/>
                </a:moveTo>
                <a:lnTo>
                  <a:pt x="14586339" y="0"/>
                </a:lnTo>
                <a:lnTo>
                  <a:pt x="14586339" y="6454455"/>
                </a:lnTo>
                <a:lnTo>
                  <a:pt x="0" y="6454455"/>
                </a:lnTo>
                <a:lnTo>
                  <a:pt x="0" y="0"/>
                </a:lnTo>
                <a:close/>
              </a:path>
            </a:pathLst>
          </a:custGeom>
          <a:blipFill>
            <a:blip r:embed="rId5"/>
            <a:stretch>
              <a:fillRect/>
            </a:stretch>
          </a:blipFill>
        </p:spPr>
      </p:sp>
      <p:grpSp>
        <p:nvGrpSpPr>
          <p:cNvPr id="5" name="Group 5"/>
          <p:cNvGrpSpPr/>
          <p:nvPr/>
        </p:nvGrpSpPr>
        <p:grpSpPr>
          <a:xfrm>
            <a:off x="8439824" y="2312695"/>
            <a:ext cx="9341380" cy="6945605"/>
            <a:chOff x="0" y="0"/>
            <a:chExt cx="12455173" cy="9260806"/>
          </a:xfrm>
        </p:grpSpPr>
        <p:grpSp>
          <p:nvGrpSpPr>
            <p:cNvPr id="6" name="Group 6"/>
            <p:cNvGrpSpPr/>
            <p:nvPr/>
          </p:nvGrpSpPr>
          <p:grpSpPr>
            <a:xfrm>
              <a:off x="0" y="0"/>
              <a:ext cx="12455173" cy="9260806"/>
              <a:chOff x="0" y="0"/>
              <a:chExt cx="2750678" cy="2045214"/>
            </a:xfrm>
          </p:grpSpPr>
          <p:sp>
            <p:nvSpPr>
              <p:cNvPr id="7" name="Freeform 7"/>
              <p:cNvSpPr/>
              <p:nvPr/>
            </p:nvSpPr>
            <p:spPr>
              <a:xfrm>
                <a:off x="0" y="0"/>
                <a:ext cx="2750678" cy="2045214"/>
              </a:xfrm>
              <a:custGeom>
                <a:avLst/>
                <a:gdLst/>
                <a:ahLst/>
                <a:cxnLst/>
                <a:rect l="l" t="t" r="r" b="b"/>
                <a:pathLst>
                  <a:path w="2750678" h="2045214">
                    <a:moveTo>
                      <a:pt x="0" y="0"/>
                    </a:moveTo>
                    <a:lnTo>
                      <a:pt x="2750678" y="0"/>
                    </a:lnTo>
                    <a:lnTo>
                      <a:pt x="2750678" y="2045214"/>
                    </a:lnTo>
                    <a:lnTo>
                      <a:pt x="0" y="2045214"/>
                    </a:lnTo>
                    <a:close/>
                  </a:path>
                </a:pathLst>
              </a:custGeom>
              <a:solidFill>
                <a:srgbClr val="E8EEFD"/>
              </a:solidFill>
              <a:ln w="219075" cap="sq">
                <a:solidFill>
                  <a:srgbClr val="59687F"/>
                </a:solidFill>
                <a:prstDash val="solid"/>
                <a:miter/>
              </a:ln>
            </p:spPr>
          </p:sp>
          <p:sp>
            <p:nvSpPr>
              <p:cNvPr id="8" name="TextBox 8"/>
              <p:cNvSpPr txBox="1"/>
              <p:nvPr/>
            </p:nvSpPr>
            <p:spPr>
              <a:xfrm>
                <a:off x="0" y="-47625"/>
                <a:ext cx="2750678" cy="2092839"/>
              </a:xfrm>
              <a:prstGeom prst="rect">
                <a:avLst/>
              </a:prstGeom>
            </p:spPr>
            <p:txBody>
              <a:bodyPr lIns="57592" tIns="57592" rIns="57592" bIns="57592" rtlCol="0" anchor="ctr"/>
              <a:lstStyle/>
              <a:p>
                <a:pPr algn="ctr">
                  <a:lnSpc>
                    <a:spcPts val="2659"/>
                  </a:lnSpc>
                </a:pPr>
                <a:endParaRPr/>
              </a:p>
            </p:txBody>
          </p:sp>
        </p:grpSp>
        <p:grpSp>
          <p:nvGrpSpPr>
            <p:cNvPr id="9" name="Group 9"/>
            <p:cNvGrpSpPr/>
            <p:nvPr/>
          </p:nvGrpSpPr>
          <p:grpSpPr>
            <a:xfrm>
              <a:off x="0" y="0"/>
              <a:ext cx="197225" cy="9260806"/>
              <a:chOff x="0" y="0"/>
              <a:chExt cx="34364" cy="1613569"/>
            </a:xfrm>
          </p:grpSpPr>
          <p:sp>
            <p:nvSpPr>
              <p:cNvPr id="10" name="Freeform 10"/>
              <p:cNvSpPr/>
              <p:nvPr/>
            </p:nvSpPr>
            <p:spPr>
              <a:xfrm>
                <a:off x="0" y="0"/>
                <a:ext cx="34364" cy="1613569"/>
              </a:xfrm>
              <a:custGeom>
                <a:avLst/>
                <a:gdLst/>
                <a:ahLst/>
                <a:cxnLst/>
                <a:rect l="l" t="t" r="r" b="b"/>
                <a:pathLst>
                  <a:path w="34364" h="1613569">
                    <a:moveTo>
                      <a:pt x="0" y="0"/>
                    </a:moveTo>
                    <a:lnTo>
                      <a:pt x="34364" y="0"/>
                    </a:lnTo>
                    <a:lnTo>
                      <a:pt x="34364" y="1613569"/>
                    </a:lnTo>
                    <a:lnTo>
                      <a:pt x="0" y="1613569"/>
                    </a:lnTo>
                    <a:close/>
                  </a:path>
                </a:pathLst>
              </a:custGeom>
              <a:solidFill>
                <a:srgbClr val="465265"/>
              </a:solidFill>
            </p:spPr>
          </p:sp>
          <p:sp>
            <p:nvSpPr>
              <p:cNvPr id="11" name="TextBox 11"/>
              <p:cNvSpPr txBox="1"/>
              <p:nvPr/>
            </p:nvSpPr>
            <p:spPr>
              <a:xfrm>
                <a:off x="0" y="-47625"/>
                <a:ext cx="34364" cy="1661194"/>
              </a:xfrm>
              <a:prstGeom prst="rect">
                <a:avLst/>
              </a:prstGeom>
            </p:spPr>
            <p:txBody>
              <a:bodyPr lIns="57592" tIns="57592" rIns="57592" bIns="57592" rtlCol="0" anchor="ctr"/>
              <a:lstStyle/>
              <a:p>
                <a:pPr algn="ctr">
                  <a:lnSpc>
                    <a:spcPts val="2659"/>
                  </a:lnSpc>
                </a:pPr>
                <a:endParaRPr/>
              </a:p>
            </p:txBody>
          </p:sp>
        </p:grpSp>
        <p:grpSp>
          <p:nvGrpSpPr>
            <p:cNvPr id="12" name="Group 12"/>
            <p:cNvGrpSpPr/>
            <p:nvPr/>
          </p:nvGrpSpPr>
          <p:grpSpPr>
            <a:xfrm>
              <a:off x="12256971" y="0"/>
              <a:ext cx="198202" cy="9260806"/>
              <a:chOff x="0" y="0"/>
              <a:chExt cx="34534" cy="1613569"/>
            </a:xfrm>
          </p:grpSpPr>
          <p:sp>
            <p:nvSpPr>
              <p:cNvPr id="13" name="Freeform 13"/>
              <p:cNvSpPr/>
              <p:nvPr/>
            </p:nvSpPr>
            <p:spPr>
              <a:xfrm>
                <a:off x="0" y="0"/>
                <a:ext cx="34534" cy="1613569"/>
              </a:xfrm>
              <a:custGeom>
                <a:avLst/>
                <a:gdLst/>
                <a:ahLst/>
                <a:cxnLst/>
                <a:rect l="l" t="t" r="r" b="b"/>
                <a:pathLst>
                  <a:path w="34534" h="1613569">
                    <a:moveTo>
                      <a:pt x="0" y="0"/>
                    </a:moveTo>
                    <a:lnTo>
                      <a:pt x="34534" y="0"/>
                    </a:lnTo>
                    <a:lnTo>
                      <a:pt x="34534" y="1613569"/>
                    </a:lnTo>
                    <a:lnTo>
                      <a:pt x="0" y="1613569"/>
                    </a:lnTo>
                    <a:close/>
                  </a:path>
                </a:pathLst>
              </a:custGeom>
              <a:solidFill>
                <a:srgbClr val="465265"/>
              </a:solidFill>
            </p:spPr>
          </p:sp>
          <p:sp>
            <p:nvSpPr>
              <p:cNvPr id="14" name="TextBox 14"/>
              <p:cNvSpPr txBox="1"/>
              <p:nvPr/>
            </p:nvSpPr>
            <p:spPr>
              <a:xfrm>
                <a:off x="0" y="-47625"/>
                <a:ext cx="34534" cy="1661194"/>
              </a:xfrm>
              <a:prstGeom prst="rect">
                <a:avLst/>
              </a:prstGeom>
            </p:spPr>
            <p:txBody>
              <a:bodyPr lIns="57592" tIns="57592" rIns="57592" bIns="57592" rtlCol="0" anchor="ctr"/>
              <a:lstStyle/>
              <a:p>
                <a:pPr algn="ctr">
                  <a:lnSpc>
                    <a:spcPts val="2659"/>
                  </a:lnSpc>
                </a:pPr>
                <a:endParaRPr/>
              </a:p>
            </p:txBody>
          </p:sp>
        </p:grpSp>
      </p:grpSp>
      <p:grpSp>
        <p:nvGrpSpPr>
          <p:cNvPr id="15" name="Group 15"/>
          <p:cNvGrpSpPr/>
          <p:nvPr/>
        </p:nvGrpSpPr>
        <p:grpSpPr>
          <a:xfrm>
            <a:off x="-566209" y="9642589"/>
            <a:ext cx="18854209" cy="763941"/>
            <a:chOff x="0" y="0"/>
            <a:chExt cx="4965718" cy="201203"/>
          </a:xfrm>
        </p:grpSpPr>
        <p:sp>
          <p:nvSpPr>
            <p:cNvPr id="16" name="Freeform 16"/>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7" name="TextBox 17"/>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9463247" y="1230334"/>
            <a:ext cx="6315185" cy="863600"/>
          </a:xfrm>
          <a:prstGeom prst="rect">
            <a:avLst/>
          </a:prstGeom>
        </p:spPr>
        <p:txBody>
          <a:bodyPr lIns="0" tIns="0" rIns="0" bIns="0" rtlCol="0" anchor="t">
            <a:spAutoFit/>
          </a:bodyPr>
          <a:lstStyle/>
          <a:p>
            <a:pPr algn="r">
              <a:lnSpc>
                <a:spcPts val="7000"/>
              </a:lnSpc>
            </a:pPr>
            <a:r>
              <a:rPr lang="en-US" sz="5000">
                <a:solidFill>
                  <a:srgbClr val="264899"/>
                </a:solidFill>
                <a:latin typeface="Fredoka"/>
                <a:ea typeface="Fredoka"/>
                <a:cs typeface="Fredoka"/>
                <a:sym typeface="Fredoka"/>
              </a:rPr>
              <a:t>LESSON OVERVIEW</a:t>
            </a:r>
          </a:p>
        </p:txBody>
      </p:sp>
      <p:sp>
        <p:nvSpPr>
          <p:cNvPr id="19" name="TextBox 19"/>
          <p:cNvSpPr txBox="1"/>
          <p:nvPr/>
        </p:nvSpPr>
        <p:spPr>
          <a:xfrm>
            <a:off x="9652828" y="3650738"/>
            <a:ext cx="7606472" cy="4591050"/>
          </a:xfrm>
          <a:prstGeom prst="rect">
            <a:avLst/>
          </a:prstGeom>
        </p:spPr>
        <p:txBody>
          <a:bodyPr lIns="0" tIns="0" rIns="0" bIns="0" rtlCol="0" anchor="t">
            <a:spAutoFit/>
          </a:bodyPr>
          <a:lstStyle/>
          <a:p>
            <a:pPr algn="l">
              <a:lnSpc>
                <a:spcPts val="3000"/>
              </a:lnSpc>
            </a:pPr>
            <a:r>
              <a:rPr lang="en-US" sz="3000" dirty="0">
                <a:solidFill>
                  <a:srgbClr val="689BCB"/>
                </a:solidFill>
                <a:latin typeface="Fredoka"/>
                <a:ea typeface="Fredoka"/>
                <a:cs typeface="Fredoka"/>
                <a:sym typeface="Fredoka"/>
              </a:rPr>
              <a:t>b. Recognize the importance of fire safety precautions and responsible behavior around flammable materials.</a:t>
            </a:r>
          </a:p>
          <a:p>
            <a:pPr algn="l">
              <a:lnSpc>
                <a:spcPts val="3000"/>
              </a:lnSpc>
            </a:pPr>
            <a:endParaRPr lang="en-US" sz="3000" dirty="0">
              <a:solidFill>
                <a:srgbClr val="689BCB"/>
              </a:solidFill>
              <a:latin typeface="Fredoka"/>
              <a:ea typeface="Fredoka"/>
              <a:cs typeface="Fredoka"/>
              <a:sym typeface="Fredoka"/>
            </a:endParaRPr>
          </a:p>
          <a:p>
            <a:pPr algn="l">
              <a:lnSpc>
                <a:spcPts val="3000"/>
              </a:lnSpc>
            </a:pPr>
            <a:r>
              <a:rPr lang="en-US" sz="3000" dirty="0">
                <a:solidFill>
                  <a:srgbClr val="689BCB"/>
                </a:solidFill>
                <a:latin typeface="Fredoka"/>
                <a:ea typeface="Fredoka"/>
                <a:cs typeface="Fredoka"/>
                <a:sym typeface="Fredoka"/>
              </a:rPr>
              <a:t>c. Define chemical reactions and their significance in material interactions.</a:t>
            </a:r>
          </a:p>
          <a:p>
            <a:pPr algn="l">
              <a:lnSpc>
                <a:spcPts val="3000"/>
              </a:lnSpc>
            </a:pPr>
            <a:endParaRPr lang="en-US" sz="3000" dirty="0">
              <a:solidFill>
                <a:srgbClr val="689BCB"/>
              </a:solidFill>
              <a:latin typeface="Fredoka"/>
              <a:ea typeface="Fredoka"/>
              <a:cs typeface="Fredoka"/>
              <a:sym typeface="Fredoka"/>
            </a:endParaRPr>
          </a:p>
          <a:p>
            <a:pPr algn="l">
              <a:lnSpc>
                <a:spcPts val="3000"/>
              </a:lnSpc>
            </a:pPr>
            <a:r>
              <a:rPr lang="en-US" sz="3000" dirty="0">
                <a:solidFill>
                  <a:srgbClr val="689BCB"/>
                </a:solidFill>
                <a:latin typeface="Fredoka"/>
                <a:ea typeface="Fredoka"/>
                <a:cs typeface="Fredoka"/>
                <a:sym typeface="Fredoka"/>
              </a:rPr>
              <a:t>d. Analyze the factors that influence material reactivity and predict outcomes of common reactions.</a:t>
            </a:r>
          </a:p>
          <a:p>
            <a:pPr algn="l">
              <a:lnSpc>
                <a:spcPts val="3000"/>
              </a:lnSpc>
            </a:pPr>
            <a:endParaRPr lang="en-US" sz="3000" dirty="0">
              <a:solidFill>
                <a:srgbClr val="689BCB"/>
              </a:solidFill>
              <a:latin typeface="Fredoka"/>
              <a:ea typeface="Fredoka"/>
              <a:cs typeface="Fredoka"/>
              <a:sym typeface="Fredoka"/>
            </a:endParaRPr>
          </a:p>
          <a:p>
            <a:pPr algn="l">
              <a:lnSpc>
                <a:spcPts val="3000"/>
              </a:lnSpc>
            </a:pPr>
            <a:endParaRPr lang="en-US" sz="3000" dirty="0">
              <a:solidFill>
                <a:srgbClr val="689BCB"/>
              </a:solidFill>
              <a:latin typeface="Fredoka"/>
              <a:ea typeface="Fredoka"/>
              <a:cs typeface="Fredoka"/>
              <a:sym typeface="Fredoka"/>
            </a:endParaRPr>
          </a:p>
        </p:txBody>
      </p:sp>
      <p:sp>
        <p:nvSpPr>
          <p:cNvPr id="20" name="TextBox 20"/>
          <p:cNvSpPr txBox="1"/>
          <p:nvPr/>
        </p:nvSpPr>
        <p:spPr>
          <a:xfrm>
            <a:off x="9652828" y="2908471"/>
            <a:ext cx="4236443" cy="514350"/>
          </a:xfrm>
          <a:prstGeom prst="rect">
            <a:avLst/>
          </a:prstGeom>
        </p:spPr>
        <p:txBody>
          <a:bodyPr lIns="0" tIns="0" rIns="0" bIns="0" rtlCol="0" anchor="t">
            <a:spAutoFit/>
          </a:bodyPr>
          <a:lstStyle/>
          <a:p>
            <a:pPr algn="just">
              <a:lnSpc>
                <a:spcPts val="4200"/>
              </a:lnSpc>
            </a:pPr>
            <a:r>
              <a:rPr lang="en-US" sz="3000">
                <a:solidFill>
                  <a:srgbClr val="FA7444"/>
                </a:solidFill>
                <a:latin typeface="Fredoka"/>
                <a:ea typeface="Fredoka"/>
                <a:cs typeface="Fredoka"/>
                <a:sym typeface="Fredoka"/>
              </a:rPr>
              <a:t>Learning Objectives:</a:t>
            </a:r>
          </a:p>
        </p:txBody>
      </p:sp>
      <p:grpSp>
        <p:nvGrpSpPr>
          <p:cNvPr id="21" name="Group 21"/>
          <p:cNvGrpSpPr/>
          <p:nvPr/>
        </p:nvGrpSpPr>
        <p:grpSpPr>
          <a:xfrm>
            <a:off x="8824753" y="2874974"/>
            <a:ext cx="638495" cy="63849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444"/>
            </a:solidFill>
            <a:ln cap="sq">
              <a:noFill/>
              <a:prstDash val="solid"/>
              <a:miter/>
            </a:ln>
          </p:spPr>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3359"/>
                </a:lnSpc>
              </a:pPr>
              <a:r>
                <a:rPr lang="en-US" sz="2399">
                  <a:solidFill>
                    <a:srgbClr val="FFFFFF"/>
                  </a:solidFill>
                  <a:latin typeface="Fredoka"/>
                  <a:ea typeface="Fredoka"/>
                  <a:cs typeface="Fredoka"/>
                  <a:sym typeface="Fredoka"/>
                </a:rPr>
                <a:t>3</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
                                            <p:txEl>
                                              <p:pRg st="2" end="2"/>
                                            </p:txEl>
                                          </p:spTgt>
                                        </p:tgtEl>
                                        <p:attrNameLst>
                                          <p:attrName>style.visibility</p:attrName>
                                        </p:attrNameLst>
                                      </p:cBhvr>
                                      <p:to>
                                        <p:strVal val="visible"/>
                                      </p:to>
                                    </p:set>
                                    <p:animEffect transition="in" filter="fade">
                                      <p:cBhvr>
                                        <p:cTn id="10" dur="500"/>
                                        <p:tgtEl>
                                          <p:spTgt spid="1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xEl>
                                              <p:pRg st="4" end="4"/>
                                            </p:txEl>
                                          </p:spTgt>
                                        </p:tgtEl>
                                        <p:attrNameLst>
                                          <p:attrName>style.visibility</p:attrName>
                                        </p:attrNameLst>
                                      </p:cBhvr>
                                      <p:to>
                                        <p:strVal val="visible"/>
                                      </p:to>
                                    </p:set>
                                    <p:animEffect transition="in" filter="fade">
                                      <p:cBhvr>
                                        <p:cTn id="13" dur="500"/>
                                        <p:tgtEl>
                                          <p:spTgt spid="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1043013" y="1416300"/>
            <a:ext cx="8730842" cy="10282576"/>
          </a:xfrm>
          <a:custGeom>
            <a:avLst/>
            <a:gdLst/>
            <a:ahLst/>
            <a:cxnLst/>
            <a:rect l="l" t="t" r="r" b="b"/>
            <a:pathLst>
              <a:path w="8730842" h="10282576">
                <a:moveTo>
                  <a:pt x="0" y="0"/>
                </a:moveTo>
                <a:lnTo>
                  <a:pt x="8730842" y="0"/>
                </a:lnTo>
                <a:lnTo>
                  <a:pt x="8730842" y="10282575"/>
                </a:lnTo>
                <a:lnTo>
                  <a:pt x="0" y="102825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4679187" y="4908038"/>
            <a:ext cx="14586339" cy="6454455"/>
          </a:xfrm>
          <a:custGeom>
            <a:avLst/>
            <a:gdLst/>
            <a:ahLst/>
            <a:cxnLst/>
            <a:rect l="l" t="t" r="r" b="b"/>
            <a:pathLst>
              <a:path w="14586339" h="6454455">
                <a:moveTo>
                  <a:pt x="0" y="0"/>
                </a:moveTo>
                <a:lnTo>
                  <a:pt x="14586339" y="0"/>
                </a:lnTo>
                <a:lnTo>
                  <a:pt x="14586339" y="6454455"/>
                </a:lnTo>
                <a:lnTo>
                  <a:pt x="0" y="6454455"/>
                </a:lnTo>
                <a:lnTo>
                  <a:pt x="0" y="0"/>
                </a:lnTo>
                <a:close/>
              </a:path>
            </a:pathLst>
          </a:custGeom>
          <a:blipFill>
            <a:blip r:embed="rId5"/>
            <a:stretch>
              <a:fillRect/>
            </a:stretch>
          </a:blipFill>
        </p:spPr>
      </p:sp>
      <p:grpSp>
        <p:nvGrpSpPr>
          <p:cNvPr id="5" name="Group 5"/>
          <p:cNvGrpSpPr/>
          <p:nvPr/>
        </p:nvGrpSpPr>
        <p:grpSpPr>
          <a:xfrm>
            <a:off x="8439824" y="2312695"/>
            <a:ext cx="9341380" cy="6945605"/>
            <a:chOff x="0" y="0"/>
            <a:chExt cx="12455173" cy="9260806"/>
          </a:xfrm>
        </p:grpSpPr>
        <p:grpSp>
          <p:nvGrpSpPr>
            <p:cNvPr id="6" name="Group 6"/>
            <p:cNvGrpSpPr/>
            <p:nvPr/>
          </p:nvGrpSpPr>
          <p:grpSpPr>
            <a:xfrm>
              <a:off x="0" y="0"/>
              <a:ext cx="12455173" cy="9260806"/>
              <a:chOff x="0" y="0"/>
              <a:chExt cx="2750678" cy="2045214"/>
            </a:xfrm>
          </p:grpSpPr>
          <p:sp>
            <p:nvSpPr>
              <p:cNvPr id="7" name="Freeform 7"/>
              <p:cNvSpPr/>
              <p:nvPr/>
            </p:nvSpPr>
            <p:spPr>
              <a:xfrm>
                <a:off x="0" y="0"/>
                <a:ext cx="2750678" cy="2045214"/>
              </a:xfrm>
              <a:custGeom>
                <a:avLst/>
                <a:gdLst/>
                <a:ahLst/>
                <a:cxnLst/>
                <a:rect l="l" t="t" r="r" b="b"/>
                <a:pathLst>
                  <a:path w="2750678" h="2045214">
                    <a:moveTo>
                      <a:pt x="0" y="0"/>
                    </a:moveTo>
                    <a:lnTo>
                      <a:pt x="2750678" y="0"/>
                    </a:lnTo>
                    <a:lnTo>
                      <a:pt x="2750678" y="2045214"/>
                    </a:lnTo>
                    <a:lnTo>
                      <a:pt x="0" y="2045214"/>
                    </a:lnTo>
                    <a:close/>
                  </a:path>
                </a:pathLst>
              </a:custGeom>
              <a:solidFill>
                <a:srgbClr val="E8EEFD"/>
              </a:solidFill>
              <a:ln w="219075" cap="sq">
                <a:solidFill>
                  <a:srgbClr val="59687F"/>
                </a:solidFill>
                <a:prstDash val="solid"/>
                <a:miter/>
              </a:ln>
            </p:spPr>
          </p:sp>
          <p:sp>
            <p:nvSpPr>
              <p:cNvPr id="8" name="TextBox 8"/>
              <p:cNvSpPr txBox="1"/>
              <p:nvPr/>
            </p:nvSpPr>
            <p:spPr>
              <a:xfrm>
                <a:off x="0" y="-47625"/>
                <a:ext cx="2750678" cy="2092839"/>
              </a:xfrm>
              <a:prstGeom prst="rect">
                <a:avLst/>
              </a:prstGeom>
            </p:spPr>
            <p:txBody>
              <a:bodyPr lIns="57592" tIns="57592" rIns="57592" bIns="57592" rtlCol="0" anchor="ctr"/>
              <a:lstStyle/>
              <a:p>
                <a:pPr algn="ctr">
                  <a:lnSpc>
                    <a:spcPts val="2659"/>
                  </a:lnSpc>
                </a:pPr>
                <a:endParaRPr/>
              </a:p>
            </p:txBody>
          </p:sp>
        </p:grpSp>
        <p:grpSp>
          <p:nvGrpSpPr>
            <p:cNvPr id="9" name="Group 9"/>
            <p:cNvGrpSpPr/>
            <p:nvPr/>
          </p:nvGrpSpPr>
          <p:grpSpPr>
            <a:xfrm>
              <a:off x="0" y="0"/>
              <a:ext cx="197225" cy="9260806"/>
              <a:chOff x="0" y="0"/>
              <a:chExt cx="34364" cy="1613569"/>
            </a:xfrm>
          </p:grpSpPr>
          <p:sp>
            <p:nvSpPr>
              <p:cNvPr id="10" name="Freeform 10"/>
              <p:cNvSpPr/>
              <p:nvPr/>
            </p:nvSpPr>
            <p:spPr>
              <a:xfrm>
                <a:off x="0" y="0"/>
                <a:ext cx="34364" cy="1613569"/>
              </a:xfrm>
              <a:custGeom>
                <a:avLst/>
                <a:gdLst/>
                <a:ahLst/>
                <a:cxnLst/>
                <a:rect l="l" t="t" r="r" b="b"/>
                <a:pathLst>
                  <a:path w="34364" h="1613569">
                    <a:moveTo>
                      <a:pt x="0" y="0"/>
                    </a:moveTo>
                    <a:lnTo>
                      <a:pt x="34364" y="0"/>
                    </a:lnTo>
                    <a:lnTo>
                      <a:pt x="34364" y="1613569"/>
                    </a:lnTo>
                    <a:lnTo>
                      <a:pt x="0" y="1613569"/>
                    </a:lnTo>
                    <a:close/>
                  </a:path>
                </a:pathLst>
              </a:custGeom>
              <a:solidFill>
                <a:srgbClr val="465265"/>
              </a:solidFill>
            </p:spPr>
          </p:sp>
          <p:sp>
            <p:nvSpPr>
              <p:cNvPr id="11" name="TextBox 11"/>
              <p:cNvSpPr txBox="1"/>
              <p:nvPr/>
            </p:nvSpPr>
            <p:spPr>
              <a:xfrm>
                <a:off x="0" y="-47625"/>
                <a:ext cx="34364" cy="1661194"/>
              </a:xfrm>
              <a:prstGeom prst="rect">
                <a:avLst/>
              </a:prstGeom>
            </p:spPr>
            <p:txBody>
              <a:bodyPr lIns="57592" tIns="57592" rIns="57592" bIns="57592" rtlCol="0" anchor="ctr"/>
              <a:lstStyle/>
              <a:p>
                <a:pPr algn="ctr">
                  <a:lnSpc>
                    <a:spcPts val="2659"/>
                  </a:lnSpc>
                </a:pPr>
                <a:endParaRPr/>
              </a:p>
            </p:txBody>
          </p:sp>
        </p:grpSp>
        <p:grpSp>
          <p:nvGrpSpPr>
            <p:cNvPr id="12" name="Group 12"/>
            <p:cNvGrpSpPr/>
            <p:nvPr/>
          </p:nvGrpSpPr>
          <p:grpSpPr>
            <a:xfrm>
              <a:off x="12256971" y="0"/>
              <a:ext cx="198202" cy="9260806"/>
              <a:chOff x="0" y="0"/>
              <a:chExt cx="34534" cy="1613569"/>
            </a:xfrm>
          </p:grpSpPr>
          <p:sp>
            <p:nvSpPr>
              <p:cNvPr id="13" name="Freeform 13"/>
              <p:cNvSpPr/>
              <p:nvPr/>
            </p:nvSpPr>
            <p:spPr>
              <a:xfrm>
                <a:off x="0" y="0"/>
                <a:ext cx="34534" cy="1613569"/>
              </a:xfrm>
              <a:custGeom>
                <a:avLst/>
                <a:gdLst/>
                <a:ahLst/>
                <a:cxnLst/>
                <a:rect l="l" t="t" r="r" b="b"/>
                <a:pathLst>
                  <a:path w="34534" h="1613569">
                    <a:moveTo>
                      <a:pt x="0" y="0"/>
                    </a:moveTo>
                    <a:lnTo>
                      <a:pt x="34534" y="0"/>
                    </a:lnTo>
                    <a:lnTo>
                      <a:pt x="34534" y="1613569"/>
                    </a:lnTo>
                    <a:lnTo>
                      <a:pt x="0" y="1613569"/>
                    </a:lnTo>
                    <a:close/>
                  </a:path>
                </a:pathLst>
              </a:custGeom>
              <a:solidFill>
                <a:srgbClr val="465265"/>
              </a:solidFill>
            </p:spPr>
          </p:sp>
          <p:sp>
            <p:nvSpPr>
              <p:cNvPr id="14" name="TextBox 14"/>
              <p:cNvSpPr txBox="1"/>
              <p:nvPr/>
            </p:nvSpPr>
            <p:spPr>
              <a:xfrm>
                <a:off x="0" y="-47625"/>
                <a:ext cx="34534" cy="1661194"/>
              </a:xfrm>
              <a:prstGeom prst="rect">
                <a:avLst/>
              </a:prstGeom>
            </p:spPr>
            <p:txBody>
              <a:bodyPr lIns="57592" tIns="57592" rIns="57592" bIns="57592" rtlCol="0" anchor="ctr"/>
              <a:lstStyle/>
              <a:p>
                <a:pPr algn="ctr">
                  <a:lnSpc>
                    <a:spcPts val="2659"/>
                  </a:lnSpc>
                </a:pPr>
                <a:endParaRPr/>
              </a:p>
            </p:txBody>
          </p:sp>
        </p:grpSp>
      </p:grpSp>
      <p:grpSp>
        <p:nvGrpSpPr>
          <p:cNvPr id="15" name="Group 15"/>
          <p:cNvGrpSpPr/>
          <p:nvPr/>
        </p:nvGrpSpPr>
        <p:grpSpPr>
          <a:xfrm>
            <a:off x="-566209" y="9642589"/>
            <a:ext cx="18854209" cy="763941"/>
            <a:chOff x="0" y="0"/>
            <a:chExt cx="4965718" cy="201203"/>
          </a:xfrm>
        </p:grpSpPr>
        <p:sp>
          <p:nvSpPr>
            <p:cNvPr id="16" name="Freeform 16"/>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7" name="TextBox 17"/>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9463247" y="1230334"/>
            <a:ext cx="6315185" cy="863600"/>
          </a:xfrm>
          <a:prstGeom prst="rect">
            <a:avLst/>
          </a:prstGeom>
        </p:spPr>
        <p:txBody>
          <a:bodyPr lIns="0" tIns="0" rIns="0" bIns="0" rtlCol="0" anchor="t">
            <a:spAutoFit/>
          </a:bodyPr>
          <a:lstStyle/>
          <a:p>
            <a:pPr algn="r">
              <a:lnSpc>
                <a:spcPts val="7000"/>
              </a:lnSpc>
            </a:pPr>
            <a:r>
              <a:rPr lang="en-US" sz="5000">
                <a:solidFill>
                  <a:srgbClr val="264899"/>
                </a:solidFill>
                <a:latin typeface="Fredoka"/>
                <a:ea typeface="Fredoka"/>
                <a:cs typeface="Fredoka"/>
                <a:sym typeface="Fredoka"/>
              </a:rPr>
              <a:t>LESSON OVERVIEW</a:t>
            </a:r>
          </a:p>
        </p:txBody>
      </p:sp>
      <p:sp>
        <p:nvSpPr>
          <p:cNvPr id="19" name="TextBox 19"/>
          <p:cNvSpPr txBox="1"/>
          <p:nvPr/>
        </p:nvSpPr>
        <p:spPr>
          <a:xfrm>
            <a:off x="9652828" y="3650738"/>
            <a:ext cx="7606472" cy="2686050"/>
          </a:xfrm>
          <a:prstGeom prst="rect">
            <a:avLst/>
          </a:prstGeom>
        </p:spPr>
        <p:txBody>
          <a:bodyPr lIns="0" tIns="0" rIns="0" bIns="0" rtlCol="0" anchor="t">
            <a:spAutoFit/>
          </a:bodyPr>
          <a:lstStyle/>
          <a:p>
            <a:pPr algn="l">
              <a:lnSpc>
                <a:spcPts val="3000"/>
              </a:lnSpc>
            </a:pPr>
            <a:r>
              <a:rPr lang="en-US" sz="3000" dirty="0">
                <a:solidFill>
                  <a:srgbClr val="689BCB"/>
                </a:solidFill>
                <a:latin typeface="Fredoka"/>
                <a:ea typeface="Fredoka"/>
                <a:cs typeface="Fredoka"/>
                <a:sym typeface="Fredoka"/>
              </a:rPr>
              <a:t>e. Differentiate between degradable and biodegradable materials.</a:t>
            </a:r>
          </a:p>
          <a:p>
            <a:pPr algn="l">
              <a:lnSpc>
                <a:spcPts val="3000"/>
              </a:lnSpc>
            </a:pPr>
            <a:endParaRPr lang="en-US" sz="3000" dirty="0">
              <a:solidFill>
                <a:srgbClr val="689BCB"/>
              </a:solidFill>
              <a:latin typeface="Fredoka"/>
              <a:ea typeface="Fredoka"/>
              <a:cs typeface="Fredoka"/>
              <a:sym typeface="Fredoka"/>
            </a:endParaRPr>
          </a:p>
          <a:p>
            <a:pPr algn="l">
              <a:lnSpc>
                <a:spcPts val="3000"/>
              </a:lnSpc>
            </a:pPr>
            <a:r>
              <a:rPr lang="en-US" sz="3000" dirty="0">
                <a:solidFill>
                  <a:srgbClr val="689BCB"/>
                </a:solidFill>
                <a:latin typeface="Fredoka"/>
                <a:ea typeface="Fredoka"/>
                <a:cs typeface="Fredoka"/>
                <a:sym typeface="Fredoka"/>
              </a:rPr>
              <a:t>f. Evaluate the environmental implications of using degradable and biodegradable materials versus non-</a:t>
            </a:r>
          </a:p>
          <a:p>
            <a:pPr algn="l">
              <a:lnSpc>
                <a:spcPts val="3000"/>
              </a:lnSpc>
            </a:pPr>
            <a:r>
              <a:rPr lang="en-US" sz="3000" dirty="0">
                <a:solidFill>
                  <a:srgbClr val="689BCB"/>
                </a:solidFill>
                <a:latin typeface="Fredoka"/>
                <a:ea typeface="Fredoka"/>
                <a:cs typeface="Fredoka"/>
                <a:sym typeface="Fredoka"/>
              </a:rPr>
              <a:t>degradable materials.</a:t>
            </a:r>
          </a:p>
        </p:txBody>
      </p:sp>
      <p:sp>
        <p:nvSpPr>
          <p:cNvPr id="20" name="TextBox 20"/>
          <p:cNvSpPr txBox="1"/>
          <p:nvPr/>
        </p:nvSpPr>
        <p:spPr>
          <a:xfrm>
            <a:off x="9652828" y="2908471"/>
            <a:ext cx="4236443" cy="514350"/>
          </a:xfrm>
          <a:prstGeom prst="rect">
            <a:avLst/>
          </a:prstGeom>
        </p:spPr>
        <p:txBody>
          <a:bodyPr lIns="0" tIns="0" rIns="0" bIns="0" rtlCol="0" anchor="t">
            <a:spAutoFit/>
          </a:bodyPr>
          <a:lstStyle/>
          <a:p>
            <a:pPr algn="just">
              <a:lnSpc>
                <a:spcPts val="4200"/>
              </a:lnSpc>
            </a:pPr>
            <a:r>
              <a:rPr lang="en-US" sz="3000">
                <a:solidFill>
                  <a:srgbClr val="FA7444"/>
                </a:solidFill>
                <a:latin typeface="Fredoka"/>
                <a:ea typeface="Fredoka"/>
                <a:cs typeface="Fredoka"/>
                <a:sym typeface="Fredoka"/>
              </a:rPr>
              <a:t>Learning Objectives:</a:t>
            </a:r>
          </a:p>
        </p:txBody>
      </p:sp>
      <p:grpSp>
        <p:nvGrpSpPr>
          <p:cNvPr id="21" name="Group 21"/>
          <p:cNvGrpSpPr/>
          <p:nvPr/>
        </p:nvGrpSpPr>
        <p:grpSpPr>
          <a:xfrm>
            <a:off x="8824753" y="2874974"/>
            <a:ext cx="638495" cy="63849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444"/>
            </a:solidFill>
            <a:ln cap="sq">
              <a:noFill/>
              <a:prstDash val="solid"/>
              <a:miter/>
            </a:ln>
          </p:spPr>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3359"/>
                </a:lnSpc>
              </a:pPr>
              <a:r>
                <a:rPr lang="en-US" sz="2399">
                  <a:solidFill>
                    <a:srgbClr val="FFFFFF"/>
                  </a:solidFill>
                  <a:latin typeface="Fredoka"/>
                  <a:ea typeface="Fredoka"/>
                  <a:cs typeface="Fredoka"/>
                  <a:sym typeface="Fredoka"/>
                </a:rPr>
                <a:t>3</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
                                            <p:txEl>
                                              <p:pRg st="2" end="2"/>
                                            </p:txEl>
                                          </p:spTgt>
                                        </p:tgtEl>
                                        <p:attrNameLst>
                                          <p:attrName>style.visibility</p:attrName>
                                        </p:attrNameLst>
                                      </p:cBhvr>
                                      <p:to>
                                        <p:strVal val="visible"/>
                                      </p:to>
                                    </p:set>
                                    <p:animEffect transition="in" filter="fade">
                                      <p:cBhvr>
                                        <p:cTn id="10" dur="500"/>
                                        <p:tgtEl>
                                          <p:spTgt spid="1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xEl>
                                              <p:pRg st="3" end="3"/>
                                            </p:txEl>
                                          </p:spTgt>
                                        </p:tgtEl>
                                        <p:attrNameLst>
                                          <p:attrName>style.visibility</p:attrName>
                                        </p:attrNameLst>
                                      </p:cBhvr>
                                      <p:to>
                                        <p:strVal val="visible"/>
                                      </p:to>
                                    </p:set>
                                    <p:animEffect transition="in" filter="fade">
                                      <p:cBhvr>
                                        <p:cTn id="13"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3940624" y="2785287"/>
            <a:ext cx="10286138" cy="4344772"/>
            <a:chOff x="0" y="0"/>
            <a:chExt cx="2709106" cy="1144302"/>
          </a:xfrm>
        </p:grpSpPr>
        <p:sp>
          <p:nvSpPr>
            <p:cNvPr id="4" name="Freeform 4"/>
            <p:cNvSpPr/>
            <p:nvPr/>
          </p:nvSpPr>
          <p:spPr>
            <a:xfrm>
              <a:off x="0" y="0"/>
              <a:ext cx="2709106" cy="1144302"/>
            </a:xfrm>
            <a:custGeom>
              <a:avLst/>
              <a:gdLst/>
              <a:ahLst/>
              <a:cxnLst/>
              <a:rect l="l" t="t" r="r" b="b"/>
              <a:pathLst>
                <a:path w="2709106" h="1144302">
                  <a:moveTo>
                    <a:pt x="0" y="0"/>
                  </a:moveTo>
                  <a:lnTo>
                    <a:pt x="2709106" y="0"/>
                  </a:lnTo>
                  <a:lnTo>
                    <a:pt x="2709106" y="1144302"/>
                  </a:lnTo>
                  <a:lnTo>
                    <a:pt x="0" y="1144302"/>
                  </a:lnTo>
                  <a:close/>
                </a:path>
              </a:pathLst>
            </a:custGeom>
            <a:solidFill>
              <a:srgbClr val="59687F"/>
            </a:solidFill>
          </p:spPr>
        </p:sp>
        <p:sp>
          <p:nvSpPr>
            <p:cNvPr id="5" name="TextBox 5"/>
            <p:cNvSpPr txBox="1"/>
            <p:nvPr/>
          </p:nvSpPr>
          <p:spPr>
            <a:xfrm>
              <a:off x="0" y="-47625"/>
              <a:ext cx="2709106" cy="119192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4310128" y="3178914"/>
            <a:ext cx="9417722" cy="3524601"/>
            <a:chOff x="0" y="0"/>
            <a:chExt cx="2480388" cy="928290"/>
          </a:xfrm>
        </p:grpSpPr>
        <p:sp>
          <p:nvSpPr>
            <p:cNvPr id="7" name="Freeform 7"/>
            <p:cNvSpPr/>
            <p:nvPr/>
          </p:nvSpPr>
          <p:spPr>
            <a:xfrm>
              <a:off x="0" y="0"/>
              <a:ext cx="2480388" cy="928290"/>
            </a:xfrm>
            <a:custGeom>
              <a:avLst/>
              <a:gdLst/>
              <a:ahLst/>
              <a:cxnLst/>
              <a:rect l="l" t="t" r="r" b="b"/>
              <a:pathLst>
                <a:path w="2480388" h="928290">
                  <a:moveTo>
                    <a:pt x="0" y="0"/>
                  </a:moveTo>
                  <a:lnTo>
                    <a:pt x="2480388" y="0"/>
                  </a:lnTo>
                  <a:lnTo>
                    <a:pt x="2480388" y="928290"/>
                  </a:lnTo>
                  <a:lnTo>
                    <a:pt x="0" y="928290"/>
                  </a:lnTo>
                  <a:close/>
                </a:path>
              </a:pathLst>
            </a:custGeom>
            <a:solidFill>
              <a:srgbClr val="E8EEFD"/>
            </a:solidFill>
          </p:spPr>
        </p:sp>
        <p:sp>
          <p:nvSpPr>
            <p:cNvPr id="8" name="TextBox 8"/>
            <p:cNvSpPr txBox="1"/>
            <p:nvPr/>
          </p:nvSpPr>
          <p:spPr>
            <a:xfrm>
              <a:off x="0" y="-47625"/>
              <a:ext cx="2480388" cy="97591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940624" y="2768829"/>
            <a:ext cx="217104" cy="4344772"/>
            <a:chOff x="0" y="0"/>
            <a:chExt cx="57180" cy="1144302"/>
          </a:xfrm>
        </p:grpSpPr>
        <p:sp>
          <p:nvSpPr>
            <p:cNvPr id="10" name="Freeform 10"/>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1" name="TextBox 11"/>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4009658" y="2785287"/>
            <a:ext cx="217104" cy="4344772"/>
            <a:chOff x="0" y="0"/>
            <a:chExt cx="57180" cy="1144302"/>
          </a:xfrm>
        </p:grpSpPr>
        <p:sp>
          <p:nvSpPr>
            <p:cNvPr id="13" name="Freeform 13"/>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4" name="TextBox 14"/>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0" y="2111925"/>
            <a:ext cx="4882379" cy="9624761"/>
          </a:xfrm>
          <a:custGeom>
            <a:avLst/>
            <a:gdLst/>
            <a:ahLst/>
            <a:cxnLst/>
            <a:rect l="l" t="t" r="r" b="b"/>
            <a:pathLst>
              <a:path w="4882379" h="9624761">
                <a:moveTo>
                  <a:pt x="0" y="0"/>
                </a:moveTo>
                <a:lnTo>
                  <a:pt x="4882379" y="0"/>
                </a:lnTo>
                <a:lnTo>
                  <a:pt x="4882379" y="9624760"/>
                </a:lnTo>
                <a:lnTo>
                  <a:pt x="0" y="96247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10615157" y="4941215"/>
            <a:ext cx="14586339" cy="6454455"/>
          </a:xfrm>
          <a:custGeom>
            <a:avLst/>
            <a:gdLst/>
            <a:ahLst/>
            <a:cxnLst/>
            <a:rect l="l" t="t" r="r" b="b"/>
            <a:pathLst>
              <a:path w="14586339" h="6454455">
                <a:moveTo>
                  <a:pt x="0" y="0"/>
                </a:moveTo>
                <a:lnTo>
                  <a:pt x="14586339" y="0"/>
                </a:lnTo>
                <a:lnTo>
                  <a:pt x="14586339" y="6454455"/>
                </a:lnTo>
                <a:lnTo>
                  <a:pt x="0" y="6454455"/>
                </a:lnTo>
                <a:lnTo>
                  <a:pt x="0" y="0"/>
                </a:lnTo>
                <a:close/>
              </a:path>
            </a:pathLst>
          </a:custGeom>
          <a:blipFill>
            <a:blip r:embed="rId5"/>
            <a:stretch>
              <a:fillRect/>
            </a:stretch>
          </a:blipFill>
        </p:spPr>
      </p:sp>
      <p:grpSp>
        <p:nvGrpSpPr>
          <p:cNvPr id="17" name="Group 17"/>
          <p:cNvGrpSpPr/>
          <p:nvPr/>
        </p:nvGrpSpPr>
        <p:grpSpPr>
          <a:xfrm>
            <a:off x="-566209" y="9642589"/>
            <a:ext cx="18854209" cy="763941"/>
            <a:chOff x="0" y="0"/>
            <a:chExt cx="4965718" cy="201203"/>
          </a:xfrm>
        </p:grpSpPr>
        <p:sp>
          <p:nvSpPr>
            <p:cNvPr id="18" name="Freeform 18"/>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9" name="TextBox 19"/>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4958186" y="3766465"/>
            <a:ext cx="8140657" cy="1749425"/>
          </a:xfrm>
          <a:prstGeom prst="rect">
            <a:avLst/>
          </a:prstGeom>
        </p:spPr>
        <p:txBody>
          <a:bodyPr lIns="0" tIns="0" rIns="0" bIns="0" rtlCol="0" anchor="t">
            <a:spAutoFit/>
          </a:bodyPr>
          <a:lstStyle/>
          <a:p>
            <a:pPr algn="ctr">
              <a:lnSpc>
                <a:spcPts val="7000"/>
              </a:lnSpc>
            </a:pPr>
            <a:r>
              <a:rPr lang="en-US" sz="5000" dirty="0">
                <a:solidFill>
                  <a:srgbClr val="FA7444"/>
                </a:solidFill>
                <a:latin typeface="Fredoka"/>
                <a:ea typeface="Fredoka"/>
                <a:cs typeface="Fredoka"/>
                <a:sym typeface="Fredoka"/>
              </a:rPr>
              <a:t>CHEMICAL PROPERTIES OF MATERIALS</a:t>
            </a:r>
          </a:p>
        </p:txBody>
      </p:sp>
      <p:sp>
        <p:nvSpPr>
          <p:cNvPr id="21" name="TextBox 21"/>
          <p:cNvSpPr txBox="1"/>
          <p:nvPr/>
        </p:nvSpPr>
        <p:spPr>
          <a:xfrm>
            <a:off x="4310128" y="1397550"/>
            <a:ext cx="3381213" cy="1285875"/>
          </a:xfrm>
          <a:prstGeom prst="rect">
            <a:avLst/>
          </a:prstGeom>
        </p:spPr>
        <p:txBody>
          <a:bodyPr lIns="0" tIns="0" rIns="0" bIns="0" rtlCol="0" anchor="t">
            <a:spAutoFit/>
          </a:bodyPr>
          <a:lstStyle/>
          <a:p>
            <a:pPr algn="ctr">
              <a:lnSpc>
                <a:spcPts val="10500"/>
              </a:lnSpc>
            </a:pPr>
            <a:r>
              <a:rPr lang="en-US" sz="7500" dirty="0">
                <a:solidFill>
                  <a:srgbClr val="264899"/>
                </a:solidFill>
                <a:latin typeface="Fredoka"/>
                <a:ea typeface="Fredoka"/>
                <a:cs typeface="Fredoka"/>
                <a:sym typeface="Fredoka"/>
              </a:rPr>
              <a:t>DAY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3047733"/>
            <a:ext cx="14019402" cy="4170046"/>
            <a:chOff x="0" y="0"/>
            <a:chExt cx="18692536" cy="5560061"/>
          </a:xfrm>
        </p:grpSpPr>
        <p:grpSp>
          <p:nvGrpSpPr>
            <p:cNvPr id="8" name="Group 8"/>
            <p:cNvGrpSpPr/>
            <p:nvPr/>
          </p:nvGrpSpPr>
          <p:grpSpPr>
            <a:xfrm>
              <a:off x="0" y="0"/>
              <a:ext cx="18692536" cy="5560061"/>
              <a:chOff x="0" y="0"/>
              <a:chExt cx="1766638" cy="525483"/>
            </a:xfrm>
          </p:grpSpPr>
          <p:sp>
            <p:nvSpPr>
              <p:cNvPr id="9" name="Freeform 9"/>
              <p:cNvSpPr/>
              <p:nvPr/>
            </p:nvSpPr>
            <p:spPr>
              <a:xfrm>
                <a:off x="0" y="0"/>
                <a:ext cx="1766638" cy="525483"/>
              </a:xfrm>
              <a:custGeom>
                <a:avLst/>
                <a:gdLst/>
                <a:ahLst/>
                <a:cxnLst/>
                <a:rect l="l" t="t" r="r" b="b"/>
                <a:pathLst>
                  <a:path w="1766638" h="525483">
                    <a:moveTo>
                      <a:pt x="0" y="0"/>
                    </a:moveTo>
                    <a:lnTo>
                      <a:pt x="1766638" y="0"/>
                    </a:lnTo>
                    <a:lnTo>
                      <a:pt x="1766638" y="525483"/>
                    </a:lnTo>
                    <a:lnTo>
                      <a:pt x="0" y="525483"/>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573108"/>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5560061"/>
              <a:chOff x="0" y="0"/>
              <a:chExt cx="24179" cy="414579"/>
            </a:xfrm>
          </p:grpSpPr>
          <p:sp>
            <p:nvSpPr>
              <p:cNvPr id="12" name="Freeform 12"/>
              <p:cNvSpPr/>
              <p:nvPr/>
            </p:nvSpPr>
            <p:spPr>
              <a:xfrm>
                <a:off x="0" y="0"/>
                <a:ext cx="24179" cy="414579"/>
              </a:xfrm>
              <a:custGeom>
                <a:avLst/>
                <a:gdLst/>
                <a:ahLst/>
                <a:cxnLst/>
                <a:rect l="l" t="t" r="r" b="b"/>
                <a:pathLst>
                  <a:path w="24179" h="414579">
                    <a:moveTo>
                      <a:pt x="0" y="0"/>
                    </a:moveTo>
                    <a:lnTo>
                      <a:pt x="24179" y="0"/>
                    </a:lnTo>
                    <a:lnTo>
                      <a:pt x="24179" y="414579"/>
                    </a:lnTo>
                    <a:lnTo>
                      <a:pt x="0" y="414579"/>
                    </a:lnTo>
                    <a:close/>
                  </a:path>
                </a:pathLst>
              </a:custGeom>
              <a:solidFill>
                <a:srgbClr val="465265"/>
              </a:solidFill>
            </p:spPr>
          </p:sp>
          <p:sp>
            <p:nvSpPr>
              <p:cNvPr id="13" name="TextBox 13"/>
              <p:cNvSpPr txBox="1"/>
              <p:nvPr/>
            </p:nvSpPr>
            <p:spPr>
              <a:xfrm>
                <a:off x="0" y="-47625"/>
                <a:ext cx="24179" cy="462204"/>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5560061"/>
              <a:chOff x="0" y="0"/>
              <a:chExt cx="23660" cy="414579"/>
            </a:xfrm>
          </p:grpSpPr>
          <p:sp>
            <p:nvSpPr>
              <p:cNvPr id="15" name="Freeform 15"/>
              <p:cNvSpPr/>
              <p:nvPr/>
            </p:nvSpPr>
            <p:spPr>
              <a:xfrm>
                <a:off x="0" y="0"/>
                <a:ext cx="23660" cy="414579"/>
              </a:xfrm>
              <a:custGeom>
                <a:avLst/>
                <a:gdLst/>
                <a:ahLst/>
                <a:cxnLst/>
                <a:rect l="l" t="t" r="r" b="b"/>
                <a:pathLst>
                  <a:path w="23660" h="414579">
                    <a:moveTo>
                      <a:pt x="0" y="0"/>
                    </a:moveTo>
                    <a:lnTo>
                      <a:pt x="23660" y="0"/>
                    </a:lnTo>
                    <a:lnTo>
                      <a:pt x="23660" y="414579"/>
                    </a:lnTo>
                    <a:lnTo>
                      <a:pt x="0" y="414579"/>
                    </a:lnTo>
                    <a:close/>
                  </a:path>
                </a:pathLst>
              </a:custGeom>
              <a:solidFill>
                <a:srgbClr val="465265"/>
              </a:solidFill>
            </p:spPr>
          </p:sp>
          <p:sp>
            <p:nvSpPr>
              <p:cNvPr id="16" name="TextBox 16"/>
              <p:cNvSpPr txBox="1"/>
              <p:nvPr/>
            </p:nvSpPr>
            <p:spPr>
              <a:xfrm>
                <a:off x="0" y="-47625"/>
                <a:ext cx="23660" cy="462204"/>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1028700" y="3686175"/>
            <a:ext cx="12613399" cy="2943225"/>
          </a:xfrm>
          <a:prstGeom prst="rect">
            <a:avLst/>
          </a:prstGeom>
        </p:spPr>
        <p:txBody>
          <a:bodyPr lIns="0" tIns="0" rIns="0" bIns="0" rtlCol="0" anchor="t">
            <a:spAutoFit/>
          </a:bodyPr>
          <a:lstStyle/>
          <a:p>
            <a:pPr algn="l">
              <a:lnSpc>
                <a:spcPts val="3300"/>
              </a:lnSpc>
            </a:pPr>
            <a:r>
              <a:rPr lang="en-US" sz="3000" dirty="0">
                <a:solidFill>
                  <a:srgbClr val="689BCB"/>
                </a:solidFill>
                <a:latin typeface="Fredoka"/>
                <a:ea typeface="Fredoka"/>
                <a:cs typeface="Fredoka"/>
                <a:sym typeface="Fredoka"/>
              </a:rPr>
              <a:t>Matter has different physical and chemical properties, and these properties</a:t>
            </a:r>
          </a:p>
          <a:p>
            <a:pPr algn="l">
              <a:lnSpc>
                <a:spcPts val="3300"/>
              </a:lnSpc>
            </a:pPr>
            <a:r>
              <a:rPr lang="en-US" sz="3000" dirty="0">
                <a:solidFill>
                  <a:srgbClr val="689BCB"/>
                </a:solidFill>
                <a:latin typeface="Fredoka"/>
                <a:ea typeface="Fredoka"/>
                <a:cs typeface="Fredoka"/>
                <a:sym typeface="Fredoka"/>
              </a:rPr>
              <a:t>determine how it is classified, changed, and used. In the next phase of the lesson,</a:t>
            </a:r>
          </a:p>
          <a:p>
            <a:pPr algn="l">
              <a:lnSpc>
                <a:spcPts val="3300"/>
              </a:lnSpc>
            </a:pPr>
            <a:r>
              <a:rPr lang="en-US" sz="3000" dirty="0">
                <a:solidFill>
                  <a:srgbClr val="689BCB"/>
                </a:solidFill>
                <a:latin typeface="Fredoka"/>
                <a:ea typeface="Fredoka"/>
                <a:cs typeface="Fredoka"/>
                <a:sym typeface="Fredoka"/>
              </a:rPr>
              <a:t>you will learn more about other properties of matter and how to classify these</a:t>
            </a:r>
          </a:p>
          <a:p>
            <a:pPr algn="l">
              <a:lnSpc>
                <a:spcPts val="3300"/>
              </a:lnSpc>
            </a:pPr>
            <a:r>
              <a:rPr lang="en-US" sz="3000" dirty="0">
                <a:solidFill>
                  <a:srgbClr val="689BCB"/>
                </a:solidFill>
                <a:latin typeface="Fredoka"/>
                <a:ea typeface="Fredoka"/>
                <a:cs typeface="Fredoka"/>
                <a:sym typeface="Fredoka"/>
              </a:rPr>
              <a:t>materials according to these properties.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500"/>
                                        <p:tgtEl>
                                          <p:spTgt spid="1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Effect transition="in" filter="fade">
                                      <p:cBhvr>
                                        <p:cTn id="15" dur="500"/>
                                        <p:tgtEl>
                                          <p:spTgt spid="17">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xEl>
                                              <p:pRg st="2" end="2"/>
                                            </p:txEl>
                                          </p:spTgt>
                                        </p:tgtEl>
                                        <p:attrNameLst>
                                          <p:attrName>style.visibility</p:attrName>
                                        </p:attrNameLst>
                                      </p:cBhvr>
                                      <p:to>
                                        <p:strVal val="visible"/>
                                      </p:to>
                                    </p:set>
                                    <p:animEffect transition="in" filter="fade">
                                      <p:cBhvr>
                                        <p:cTn id="18" dur="500"/>
                                        <p:tgtEl>
                                          <p:spTgt spid="17">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xEl>
                                              <p:pRg st="3" end="3"/>
                                            </p:txEl>
                                          </p:spTgt>
                                        </p:tgtEl>
                                        <p:attrNameLst>
                                          <p:attrName>style.visibility</p:attrName>
                                        </p:attrNameLst>
                                      </p:cBhvr>
                                      <p:to>
                                        <p:strVal val="visible"/>
                                      </p:to>
                                    </p:set>
                                    <p:animEffect transition="in" filter="fade">
                                      <p:cBhvr>
                                        <p:cTn id="21" dur="5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2171433"/>
            <a:ext cx="14019402" cy="7086867"/>
            <a:chOff x="0" y="0"/>
            <a:chExt cx="18692536" cy="9449156"/>
          </a:xfrm>
        </p:grpSpPr>
        <p:grpSp>
          <p:nvGrpSpPr>
            <p:cNvPr id="8" name="Group 8"/>
            <p:cNvGrpSpPr/>
            <p:nvPr/>
          </p:nvGrpSpPr>
          <p:grpSpPr>
            <a:xfrm>
              <a:off x="0" y="0"/>
              <a:ext cx="18692536" cy="9449156"/>
              <a:chOff x="0" y="0"/>
              <a:chExt cx="1766638" cy="893043"/>
            </a:xfrm>
          </p:grpSpPr>
          <p:sp>
            <p:nvSpPr>
              <p:cNvPr id="9" name="Freeform 9"/>
              <p:cNvSpPr/>
              <p:nvPr/>
            </p:nvSpPr>
            <p:spPr>
              <a:xfrm>
                <a:off x="0" y="0"/>
                <a:ext cx="1766638" cy="893043"/>
              </a:xfrm>
              <a:custGeom>
                <a:avLst/>
                <a:gdLst/>
                <a:ahLst/>
                <a:cxnLst/>
                <a:rect l="l" t="t" r="r" b="b"/>
                <a:pathLst>
                  <a:path w="1766638" h="893043">
                    <a:moveTo>
                      <a:pt x="0" y="0"/>
                    </a:moveTo>
                    <a:lnTo>
                      <a:pt x="1766638" y="0"/>
                    </a:lnTo>
                    <a:lnTo>
                      <a:pt x="1766638" y="893043"/>
                    </a:lnTo>
                    <a:lnTo>
                      <a:pt x="0" y="893043"/>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940668"/>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9449156"/>
              <a:chOff x="0" y="0"/>
              <a:chExt cx="24179" cy="704565"/>
            </a:xfrm>
          </p:grpSpPr>
          <p:sp>
            <p:nvSpPr>
              <p:cNvPr id="12" name="Freeform 12"/>
              <p:cNvSpPr/>
              <p:nvPr/>
            </p:nvSpPr>
            <p:spPr>
              <a:xfrm>
                <a:off x="0" y="0"/>
                <a:ext cx="24179" cy="704565"/>
              </a:xfrm>
              <a:custGeom>
                <a:avLst/>
                <a:gdLst/>
                <a:ahLst/>
                <a:cxnLst/>
                <a:rect l="l" t="t" r="r" b="b"/>
                <a:pathLst>
                  <a:path w="24179" h="704565">
                    <a:moveTo>
                      <a:pt x="0" y="0"/>
                    </a:moveTo>
                    <a:lnTo>
                      <a:pt x="24179" y="0"/>
                    </a:lnTo>
                    <a:lnTo>
                      <a:pt x="24179" y="704565"/>
                    </a:lnTo>
                    <a:lnTo>
                      <a:pt x="0" y="704565"/>
                    </a:lnTo>
                    <a:close/>
                  </a:path>
                </a:pathLst>
              </a:custGeom>
              <a:solidFill>
                <a:srgbClr val="465265"/>
              </a:solidFill>
            </p:spPr>
          </p:sp>
          <p:sp>
            <p:nvSpPr>
              <p:cNvPr id="13" name="TextBox 13"/>
              <p:cNvSpPr txBox="1"/>
              <p:nvPr/>
            </p:nvSpPr>
            <p:spPr>
              <a:xfrm>
                <a:off x="0" y="-47625"/>
                <a:ext cx="24179" cy="752190"/>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9449156"/>
              <a:chOff x="0" y="0"/>
              <a:chExt cx="23660" cy="704565"/>
            </a:xfrm>
          </p:grpSpPr>
          <p:sp>
            <p:nvSpPr>
              <p:cNvPr id="15" name="Freeform 15"/>
              <p:cNvSpPr/>
              <p:nvPr/>
            </p:nvSpPr>
            <p:spPr>
              <a:xfrm>
                <a:off x="0" y="0"/>
                <a:ext cx="23660" cy="704565"/>
              </a:xfrm>
              <a:custGeom>
                <a:avLst/>
                <a:gdLst/>
                <a:ahLst/>
                <a:cxnLst/>
                <a:rect l="l" t="t" r="r" b="b"/>
                <a:pathLst>
                  <a:path w="23660" h="704565">
                    <a:moveTo>
                      <a:pt x="0" y="0"/>
                    </a:moveTo>
                    <a:lnTo>
                      <a:pt x="23660" y="0"/>
                    </a:lnTo>
                    <a:lnTo>
                      <a:pt x="23660" y="704565"/>
                    </a:lnTo>
                    <a:lnTo>
                      <a:pt x="0" y="704565"/>
                    </a:lnTo>
                    <a:close/>
                  </a:path>
                </a:pathLst>
              </a:custGeom>
              <a:solidFill>
                <a:srgbClr val="465265"/>
              </a:solidFill>
            </p:spPr>
          </p:sp>
          <p:sp>
            <p:nvSpPr>
              <p:cNvPr id="16" name="TextBox 16"/>
              <p:cNvSpPr txBox="1"/>
              <p:nvPr/>
            </p:nvSpPr>
            <p:spPr>
              <a:xfrm>
                <a:off x="0" y="-47625"/>
                <a:ext cx="23660" cy="752190"/>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409320" y="518079"/>
            <a:ext cx="9665247" cy="1377949"/>
          </a:xfrm>
          <a:prstGeom prst="rect">
            <a:avLst/>
          </a:prstGeom>
        </p:spPr>
        <p:txBody>
          <a:bodyPr lIns="0" tIns="0" rIns="0" bIns="0" rtlCol="0" anchor="t">
            <a:spAutoFit/>
          </a:bodyPr>
          <a:lstStyle/>
          <a:p>
            <a:pPr algn="ctr">
              <a:lnSpc>
                <a:spcPts val="11200"/>
              </a:lnSpc>
            </a:pPr>
            <a:r>
              <a:rPr lang="en-US" sz="8000" dirty="0">
                <a:solidFill>
                  <a:srgbClr val="264899"/>
                </a:solidFill>
                <a:latin typeface="Fredoka"/>
                <a:ea typeface="Fredoka"/>
                <a:cs typeface="Fredoka"/>
                <a:sym typeface="Fredoka"/>
              </a:rPr>
              <a:t>LESSON PURPOSE</a:t>
            </a:r>
          </a:p>
        </p:txBody>
      </p:sp>
      <p:sp>
        <p:nvSpPr>
          <p:cNvPr id="18" name="TextBox 18"/>
          <p:cNvSpPr txBox="1"/>
          <p:nvPr/>
        </p:nvSpPr>
        <p:spPr>
          <a:xfrm>
            <a:off x="725893" y="2502258"/>
            <a:ext cx="9749279" cy="596900"/>
          </a:xfrm>
          <a:prstGeom prst="rect">
            <a:avLst/>
          </a:prstGeom>
        </p:spPr>
        <p:txBody>
          <a:bodyPr lIns="0" tIns="0" rIns="0" bIns="0" rtlCol="0" anchor="t">
            <a:spAutoFit/>
          </a:bodyPr>
          <a:lstStyle/>
          <a:p>
            <a:pPr algn="l">
              <a:lnSpc>
                <a:spcPts val="4900"/>
              </a:lnSpc>
            </a:pPr>
            <a:r>
              <a:rPr lang="en-US" sz="3500" dirty="0">
                <a:solidFill>
                  <a:srgbClr val="FA7444"/>
                </a:solidFill>
                <a:latin typeface="Fredoka"/>
                <a:ea typeface="Fredoka"/>
                <a:cs typeface="Fredoka"/>
                <a:sym typeface="Fredoka"/>
              </a:rPr>
              <a:t>Unscramble Word Game</a:t>
            </a:r>
          </a:p>
        </p:txBody>
      </p:sp>
      <p:sp>
        <p:nvSpPr>
          <p:cNvPr id="19" name="TextBox 19"/>
          <p:cNvSpPr txBox="1"/>
          <p:nvPr/>
        </p:nvSpPr>
        <p:spPr>
          <a:xfrm>
            <a:off x="1028700" y="3473784"/>
            <a:ext cx="12613399" cy="1685925"/>
          </a:xfrm>
          <a:prstGeom prst="rect">
            <a:avLst/>
          </a:prstGeom>
        </p:spPr>
        <p:txBody>
          <a:bodyPr lIns="0" tIns="0" rIns="0" bIns="0" rtlCol="0" anchor="t">
            <a:spAutoFit/>
          </a:bodyPr>
          <a:lstStyle/>
          <a:p>
            <a:pPr algn="l">
              <a:lnSpc>
                <a:spcPts val="3300"/>
              </a:lnSpc>
            </a:pPr>
            <a:r>
              <a:rPr lang="en-US" sz="3000" dirty="0">
                <a:solidFill>
                  <a:srgbClr val="689BCB"/>
                </a:solidFill>
                <a:latin typeface="Fredoka"/>
                <a:ea typeface="Fredoka"/>
                <a:cs typeface="Fredoka"/>
                <a:sym typeface="Fredoka"/>
              </a:rPr>
              <a:t>Meaning: It is a measure of how quickly a specific material is capable of catching fire and burning.</a:t>
            </a:r>
          </a:p>
          <a:p>
            <a:pPr algn="l">
              <a:lnSpc>
                <a:spcPts val="3300"/>
              </a:lnSpc>
            </a:pPr>
            <a:endParaRPr lang="en-US" sz="3000" dirty="0">
              <a:solidFill>
                <a:srgbClr val="689BCB"/>
              </a:solidFill>
              <a:latin typeface="Fredoka"/>
              <a:ea typeface="Fredoka"/>
              <a:cs typeface="Fredoka"/>
              <a:sym typeface="Fredoka"/>
            </a:endParaRPr>
          </a:p>
          <a:p>
            <a:pPr algn="l">
              <a:lnSpc>
                <a:spcPts val="3300"/>
              </a:lnSpc>
            </a:pPr>
            <a:r>
              <a:rPr lang="en-US" sz="3000" dirty="0">
                <a:solidFill>
                  <a:srgbClr val="689BCB"/>
                </a:solidFill>
                <a:latin typeface="Fredoka"/>
                <a:ea typeface="Fredoka"/>
                <a:cs typeface="Fredoka"/>
                <a:sym typeface="Fredoka"/>
              </a:rPr>
              <a:t>Unscrambled word #1: LITYMABIMALF</a:t>
            </a:r>
          </a:p>
        </p:txBody>
      </p:sp>
      <p:sp>
        <p:nvSpPr>
          <p:cNvPr id="20" name="TextBox 20"/>
          <p:cNvSpPr txBox="1"/>
          <p:nvPr/>
        </p:nvSpPr>
        <p:spPr>
          <a:xfrm>
            <a:off x="1028700" y="5752966"/>
            <a:ext cx="12613399" cy="492125"/>
          </a:xfrm>
          <a:prstGeom prst="rect">
            <a:avLst/>
          </a:prstGeom>
        </p:spPr>
        <p:txBody>
          <a:bodyPr lIns="0" tIns="0" rIns="0" bIns="0" rtlCol="0" anchor="t">
            <a:spAutoFit/>
          </a:bodyPr>
          <a:lstStyle/>
          <a:p>
            <a:pPr algn="l">
              <a:lnSpc>
                <a:spcPts val="3849"/>
              </a:lnSpc>
            </a:pPr>
            <a:r>
              <a:rPr lang="en-US" sz="3499" dirty="0">
                <a:solidFill>
                  <a:srgbClr val="FA7444"/>
                </a:solidFill>
                <a:latin typeface="Fredoka"/>
                <a:ea typeface="Fredoka"/>
                <a:cs typeface="Fredoka"/>
                <a:sym typeface="Fredoka"/>
              </a:rPr>
              <a:t>Answer: FLAMMABILITY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xEl>
                                              <p:pRg st="0" end="0"/>
                                            </p:txEl>
                                          </p:spTgt>
                                        </p:tgtEl>
                                        <p:attrNameLst>
                                          <p:attrName>style.visibility</p:attrName>
                                        </p:attrNameLst>
                                      </p:cBhvr>
                                      <p:to>
                                        <p:strVal val="visible"/>
                                      </p:to>
                                    </p:set>
                                    <p:animEffect transition="in" filter="fade">
                                      <p:cBhvr>
                                        <p:cTn id="22" dur="500"/>
                                        <p:tgtEl>
                                          <p:spTgt spid="19">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xEl>
                                              <p:pRg st="2" end="2"/>
                                            </p:txEl>
                                          </p:spTgt>
                                        </p:tgtEl>
                                        <p:attrNameLst>
                                          <p:attrName>style.visibility</p:attrName>
                                        </p:attrNameLst>
                                      </p:cBhvr>
                                      <p:to>
                                        <p:strVal val="visible"/>
                                      </p:to>
                                    </p:set>
                                    <p:animEffect transition="in" filter="fade">
                                      <p:cBhvr>
                                        <p:cTn id="25" dur="500"/>
                                        <p:tgtEl>
                                          <p:spTgt spid="1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0">
                                            <p:txEl>
                                              <p:pRg st="0" end="0"/>
                                            </p:txEl>
                                          </p:spTgt>
                                        </p:tgtEl>
                                        <p:attrNameLst>
                                          <p:attrName>style.visibility</p:attrName>
                                        </p:attrNameLst>
                                      </p:cBhvr>
                                      <p:to>
                                        <p:strVal val="visible"/>
                                      </p:to>
                                    </p:set>
                                    <p:animEffect transition="in" filter="fade">
                                      <p:cBhvr>
                                        <p:cTn id="30"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2171433"/>
            <a:ext cx="14019402" cy="7086867"/>
            <a:chOff x="0" y="0"/>
            <a:chExt cx="18692536" cy="9449156"/>
          </a:xfrm>
        </p:grpSpPr>
        <p:grpSp>
          <p:nvGrpSpPr>
            <p:cNvPr id="8" name="Group 8"/>
            <p:cNvGrpSpPr/>
            <p:nvPr/>
          </p:nvGrpSpPr>
          <p:grpSpPr>
            <a:xfrm>
              <a:off x="0" y="0"/>
              <a:ext cx="18692536" cy="9449156"/>
              <a:chOff x="0" y="0"/>
              <a:chExt cx="1766638" cy="893043"/>
            </a:xfrm>
          </p:grpSpPr>
          <p:sp>
            <p:nvSpPr>
              <p:cNvPr id="9" name="Freeform 9"/>
              <p:cNvSpPr/>
              <p:nvPr/>
            </p:nvSpPr>
            <p:spPr>
              <a:xfrm>
                <a:off x="0" y="0"/>
                <a:ext cx="1766638" cy="893043"/>
              </a:xfrm>
              <a:custGeom>
                <a:avLst/>
                <a:gdLst/>
                <a:ahLst/>
                <a:cxnLst/>
                <a:rect l="l" t="t" r="r" b="b"/>
                <a:pathLst>
                  <a:path w="1766638" h="893043">
                    <a:moveTo>
                      <a:pt x="0" y="0"/>
                    </a:moveTo>
                    <a:lnTo>
                      <a:pt x="1766638" y="0"/>
                    </a:lnTo>
                    <a:lnTo>
                      <a:pt x="1766638" y="893043"/>
                    </a:lnTo>
                    <a:lnTo>
                      <a:pt x="0" y="893043"/>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940668"/>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9449156"/>
              <a:chOff x="0" y="0"/>
              <a:chExt cx="24179" cy="704565"/>
            </a:xfrm>
          </p:grpSpPr>
          <p:sp>
            <p:nvSpPr>
              <p:cNvPr id="12" name="Freeform 12"/>
              <p:cNvSpPr/>
              <p:nvPr/>
            </p:nvSpPr>
            <p:spPr>
              <a:xfrm>
                <a:off x="0" y="0"/>
                <a:ext cx="24179" cy="704565"/>
              </a:xfrm>
              <a:custGeom>
                <a:avLst/>
                <a:gdLst/>
                <a:ahLst/>
                <a:cxnLst/>
                <a:rect l="l" t="t" r="r" b="b"/>
                <a:pathLst>
                  <a:path w="24179" h="704565">
                    <a:moveTo>
                      <a:pt x="0" y="0"/>
                    </a:moveTo>
                    <a:lnTo>
                      <a:pt x="24179" y="0"/>
                    </a:lnTo>
                    <a:lnTo>
                      <a:pt x="24179" y="704565"/>
                    </a:lnTo>
                    <a:lnTo>
                      <a:pt x="0" y="704565"/>
                    </a:lnTo>
                    <a:close/>
                  </a:path>
                </a:pathLst>
              </a:custGeom>
              <a:solidFill>
                <a:srgbClr val="465265"/>
              </a:solidFill>
            </p:spPr>
          </p:sp>
          <p:sp>
            <p:nvSpPr>
              <p:cNvPr id="13" name="TextBox 13"/>
              <p:cNvSpPr txBox="1"/>
              <p:nvPr/>
            </p:nvSpPr>
            <p:spPr>
              <a:xfrm>
                <a:off x="0" y="-47625"/>
                <a:ext cx="24179" cy="752190"/>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9449156"/>
              <a:chOff x="0" y="0"/>
              <a:chExt cx="23660" cy="704565"/>
            </a:xfrm>
          </p:grpSpPr>
          <p:sp>
            <p:nvSpPr>
              <p:cNvPr id="15" name="Freeform 15"/>
              <p:cNvSpPr/>
              <p:nvPr/>
            </p:nvSpPr>
            <p:spPr>
              <a:xfrm>
                <a:off x="0" y="0"/>
                <a:ext cx="23660" cy="704565"/>
              </a:xfrm>
              <a:custGeom>
                <a:avLst/>
                <a:gdLst/>
                <a:ahLst/>
                <a:cxnLst/>
                <a:rect l="l" t="t" r="r" b="b"/>
                <a:pathLst>
                  <a:path w="23660" h="704565">
                    <a:moveTo>
                      <a:pt x="0" y="0"/>
                    </a:moveTo>
                    <a:lnTo>
                      <a:pt x="23660" y="0"/>
                    </a:lnTo>
                    <a:lnTo>
                      <a:pt x="23660" y="704565"/>
                    </a:lnTo>
                    <a:lnTo>
                      <a:pt x="0" y="704565"/>
                    </a:lnTo>
                    <a:close/>
                  </a:path>
                </a:pathLst>
              </a:custGeom>
              <a:solidFill>
                <a:srgbClr val="465265"/>
              </a:solidFill>
            </p:spPr>
          </p:sp>
          <p:sp>
            <p:nvSpPr>
              <p:cNvPr id="16" name="TextBox 16"/>
              <p:cNvSpPr txBox="1"/>
              <p:nvPr/>
            </p:nvSpPr>
            <p:spPr>
              <a:xfrm>
                <a:off x="0" y="-47625"/>
                <a:ext cx="23660" cy="752190"/>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409320" y="518079"/>
            <a:ext cx="9665247" cy="1377949"/>
          </a:xfrm>
          <a:prstGeom prst="rect">
            <a:avLst/>
          </a:prstGeom>
        </p:spPr>
        <p:txBody>
          <a:bodyPr lIns="0" tIns="0" rIns="0" bIns="0" rtlCol="0" anchor="t">
            <a:spAutoFit/>
          </a:bodyPr>
          <a:lstStyle/>
          <a:p>
            <a:pPr algn="ctr">
              <a:lnSpc>
                <a:spcPts val="11200"/>
              </a:lnSpc>
            </a:pPr>
            <a:r>
              <a:rPr lang="en-US" sz="8000">
                <a:solidFill>
                  <a:srgbClr val="264899"/>
                </a:solidFill>
                <a:latin typeface="Fredoka"/>
                <a:ea typeface="Fredoka"/>
                <a:cs typeface="Fredoka"/>
                <a:sym typeface="Fredoka"/>
              </a:rPr>
              <a:t>LESSON PURPOSE</a:t>
            </a:r>
          </a:p>
        </p:txBody>
      </p:sp>
      <p:sp>
        <p:nvSpPr>
          <p:cNvPr id="18" name="TextBox 18"/>
          <p:cNvSpPr txBox="1"/>
          <p:nvPr/>
        </p:nvSpPr>
        <p:spPr>
          <a:xfrm>
            <a:off x="725893" y="2502258"/>
            <a:ext cx="9749279" cy="596900"/>
          </a:xfrm>
          <a:prstGeom prst="rect">
            <a:avLst/>
          </a:prstGeom>
        </p:spPr>
        <p:txBody>
          <a:bodyPr lIns="0" tIns="0" rIns="0" bIns="0" rtlCol="0" anchor="t">
            <a:spAutoFit/>
          </a:bodyPr>
          <a:lstStyle/>
          <a:p>
            <a:pPr algn="l">
              <a:lnSpc>
                <a:spcPts val="4900"/>
              </a:lnSpc>
            </a:pPr>
            <a:r>
              <a:rPr lang="en-US" sz="3500">
                <a:solidFill>
                  <a:srgbClr val="FA7444"/>
                </a:solidFill>
                <a:latin typeface="Fredoka"/>
                <a:ea typeface="Fredoka"/>
                <a:cs typeface="Fredoka"/>
                <a:sym typeface="Fredoka"/>
              </a:rPr>
              <a:t>Unscramble Word Game</a:t>
            </a:r>
          </a:p>
        </p:txBody>
      </p:sp>
      <p:sp>
        <p:nvSpPr>
          <p:cNvPr id="19" name="TextBox 19"/>
          <p:cNvSpPr txBox="1"/>
          <p:nvPr/>
        </p:nvSpPr>
        <p:spPr>
          <a:xfrm>
            <a:off x="1028700" y="3473784"/>
            <a:ext cx="12613399" cy="2105025"/>
          </a:xfrm>
          <a:prstGeom prst="rect">
            <a:avLst/>
          </a:prstGeom>
        </p:spPr>
        <p:txBody>
          <a:bodyPr lIns="0" tIns="0" rIns="0" bIns="0" rtlCol="0" anchor="t">
            <a:spAutoFit/>
          </a:bodyPr>
          <a:lstStyle/>
          <a:p>
            <a:pPr algn="l">
              <a:lnSpc>
                <a:spcPts val="3300"/>
              </a:lnSpc>
            </a:pPr>
            <a:r>
              <a:rPr lang="en-US" sz="3000" dirty="0">
                <a:solidFill>
                  <a:srgbClr val="689BCB"/>
                </a:solidFill>
                <a:latin typeface="Fredoka"/>
                <a:ea typeface="Fredoka"/>
                <a:cs typeface="Fredoka"/>
                <a:sym typeface="Fredoka"/>
              </a:rPr>
              <a:t>Meaning: These are waste products, such as packaging materials, that can be slowly broken down into simple parts by chemical reactions or physical force.</a:t>
            </a:r>
          </a:p>
          <a:p>
            <a:pPr algn="l">
              <a:lnSpc>
                <a:spcPts val="3300"/>
              </a:lnSpc>
            </a:pPr>
            <a:endParaRPr lang="en-US" sz="3000" dirty="0">
              <a:solidFill>
                <a:srgbClr val="689BCB"/>
              </a:solidFill>
              <a:latin typeface="Fredoka"/>
              <a:ea typeface="Fredoka"/>
              <a:cs typeface="Fredoka"/>
              <a:sym typeface="Fredoka"/>
            </a:endParaRPr>
          </a:p>
          <a:p>
            <a:pPr algn="l">
              <a:lnSpc>
                <a:spcPts val="3300"/>
              </a:lnSpc>
            </a:pPr>
            <a:r>
              <a:rPr lang="en-US" sz="3000" dirty="0">
                <a:solidFill>
                  <a:srgbClr val="689BCB"/>
                </a:solidFill>
                <a:latin typeface="Fredoka"/>
                <a:ea typeface="Fredoka"/>
                <a:cs typeface="Fredoka"/>
                <a:sym typeface="Fredoka"/>
              </a:rPr>
              <a:t>Unscrambled word #2: ABLEGRADED</a:t>
            </a:r>
          </a:p>
        </p:txBody>
      </p:sp>
      <p:sp>
        <p:nvSpPr>
          <p:cNvPr id="20" name="TextBox 20"/>
          <p:cNvSpPr txBox="1"/>
          <p:nvPr/>
        </p:nvSpPr>
        <p:spPr>
          <a:xfrm>
            <a:off x="1028700" y="6143861"/>
            <a:ext cx="12613399" cy="492125"/>
          </a:xfrm>
          <a:prstGeom prst="rect">
            <a:avLst/>
          </a:prstGeom>
        </p:spPr>
        <p:txBody>
          <a:bodyPr lIns="0" tIns="0" rIns="0" bIns="0" rtlCol="0" anchor="t">
            <a:spAutoFit/>
          </a:bodyPr>
          <a:lstStyle/>
          <a:p>
            <a:pPr algn="l">
              <a:lnSpc>
                <a:spcPts val="3849"/>
              </a:lnSpc>
            </a:pPr>
            <a:r>
              <a:rPr lang="en-US" sz="3499" dirty="0">
                <a:solidFill>
                  <a:srgbClr val="FA7444"/>
                </a:solidFill>
                <a:latin typeface="Fredoka"/>
                <a:ea typeface="Fredoka"/>
                <a:cs typeface="Fredoka"/>
                <a:sym typeface="Fredoka"/>
              </a:rPr>
              <a:t>Answer: DEGRADABLE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
                                            <p:txEl>
                                              <p:pRg st="2" end="2"/>
                                            </p:txEl>
                                          </p:spTgt>
                                        </p:tgtEl>
                                        <p:attrNameLst>
                                          <p:attrName>style.visibility</p:attrName>
                                        </p:attrNameLst>
                                      </p:cBhvr>
                                      <p:to>
                                        <p:strVal val="visible"/>
                                      </p:to>
                                    </p:set>
                                    <p:animEffect transition="in" filter="fade">
                                      <p:cBhvr>
                                        <p:cTn id="10" dur="500"/>
                                        <p:tgtEl>
                                          <p:spTgt spid="1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animEffect transition="in" filter="fade">
                                      <p:cBhvr>
                                        <p:cTn id="15"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2171433"/>
            <a:ext cx="14019402" cy="7086867"/>
            <a:chOff x="0" y="0"/>
            <a:chExt cx="18692536" cy="9449156"/>
          </a:xfrm>
        </p:grpSpPr>
        <p:grpSp>
          <p:nvGrpSpPr>
            <p:cNvPr id="8" name="Group 8"/>
            <p:cNvGrpSpPr/>
            <p:nvPr/>
          </p:nvGrpSpPr>
          <p:grpSpPr>
            <a:xfrm>
              <a:off x="0" y="0"/>
              <a:ext cx="18692536" cy="9449156"/>
              <a:chOff x="0" y="0"/>
              <a:chExt cx="1766638" cy="893043"/>
            </a:xfrm>
          </p:grpSpPr>
          <p:sp>
            <p:nvSpPr>
              <p:cNvPr id="9" name="Freeform 9"/>
              <p:cNvSpPr/>
              <p:nvPr/>
            </p:nvSpPr>
            <p:spPr>
              <a:xfrm>
                <a:off x="0" y="0"/>
                <a:ext cx="1766638" cy="893043"/>
              </a:xfrm>
              <a:custGeom>
                <a:avLst/>
                <a:gdLst/>
                <a:ahLst/>
                <a:cxnLst/>
                <a:rect l="l" t="t" r="r" b="b"/>
                <a:pathLst>
                  <a:path w="1766638" h="893043">
                    <a:moveTo>
                      <a:pt x="0" y="0"/>
                    </a:moveTo>
                    <a:lnTo>
                      <a:pt x="1766638" y="0"/>
                    </a:lnTo>
                    <a:lnTo>
                      <a:pt x="1766638" y="893043"/>
                    </a:lnTo>
                    <a:lnTo>
                      <a:pt x="0" y="893043"/>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940668"/>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9449156"/>
              <a:chOff x="0" y="0"/>
              <a:chExt cx="24179" cy="704565"/>
            </a:xfrm>
          </p:grpSpPr>
          <p:sp>
            <p:nvSpPr>
              <p:cNvPr id="12" name="Freeform 12"/>
              <p:cNvSpPr/>
              <p:nvPr/>
            </p:nvSpPr>
            <p:spPr>
              <a:xfrm>
                <a:off x="0" y="0"/>
                <a:ext cx="24179" cy="704565"/>
              </a:xfrm>
              <a:custGeom>
                <a:avLst/>
                <a:gdLst/>
                <a:ahLst/>
                <a:cxnLst/>
                <a:rect l="l" t="t" r="r" b="b"/>
                <a:pathLst>
                  <a:path w="24179" h="704565">
                    <a:moveTo>
                      <a:pt x="0" y="0"/>
                    </a:moveTo>
                    <a:lnTo>
                      <a:pt x="24179" y="0"/>
                    </a:lnTo>
                    <a:lnTo>
                      <a:pt x="24179" y="704565"/>
                    </a:lnTo>
                    <a:lnTo>
                      <a:pt x="0" y="704565"/>
                    </a:lnTo>
                    <a:close/>
                  </a:path>
                </a:pathLst>
              </a:custGeom>
              <a:solidFill>
                <a:srgbClr val="465265"/>
              </a:solidFill>
            </p:spPr>
          </p:sp>
          <p:sp>
            <p:nvSpPr>
              <p:cNvPr id="13" name="TextBox 13"/>
              <p:cNvSpPr txBox="1"/>
              <p:nvPr/>
            </p:nvSpPr>
            <p:spPr>
              <a:xfrm>
                <a:off x="0" y="-47625"/>
                <a:ext cx="24179" cy="752190"/>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9449156"/>
              <a:chOff x="0" y="0"/>
              <a:chExt cx="23660" cy="704565"/>
            </a:xfrm>
          </p:grpSpPr>
          <p:sp>
            <p:nvSpPr>
              <p:cNvPr id="15" name="Freeform 15"/>
              <p:cNvSpPr/>
              <p:nvPr/>
            </p:nvSpPr>
            <p:spPr>
              <a:xfrm>
                <a:off x="0" y="0"/>
                <a:ext cx="23660" cy="704565"/>
              </a:xfrm>
              <a:custGeom>
                <a:avLst/>
                <a:gdLst/>
                <a:ahLst/>
                <a:cxnLst/>
                <a:rect l="l" t="t" r="r" b="b"/>
                <a:pathLst>
                  <a:path w="23660" h="704565">
                    <a:moveTo>
                      <a:pt x="0" y="0"/>
                    </a:moveTo>
                    <a:lnTo>
                      <a:pt x="23660" y="0"/>
                    </a:lnTo>
                    <a:lnTo>
                      <a:pt x="23660" y="704565"/>
                    </a:lnTo>
                    <a:lnTo>
                      <a:pt x="0" y="704565"/>
                    </a:lnTo>
                    <a:close/>
                  </a:path>
                </a:pathLst>
              </a:custGeom>
              <a:solidFill>
                <a:srgbClr val="465265"/>
              </a:solidFill>
            </p:spPr>
          </p:sp>
          <p:sp>
            <p:nvSpPr>
              <p:cNvPr id="16" name="TextBox 16"/>
              <p:cNvSpPr txBox="1"/>
              <p:nvPr/>
            </p:nvSpPr>
            <p:spPr>
              <a:xfrm>
                <a:off x="0" y="-47625"/>
                <a:ext cx="23660" cy="752190"/>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409320" y="518079"/>
            <a:ext cx="9665247" cy="1377949"/>
          </a:xfrm>
          <a:prstGeom prst="rect">
            <a:avLst/>
          </a:prstGeom>
        </p:spPr>
        <p:txBody>
          <a:bodyPr lIns="0" tIns="0" rIns="0" bIns="0" rtlCol="0" anchor="t">
            <a:spAutoFit/>
          </a:bodyPr>
          <a:lstStyle/>
          <a:p>
            <a:pPr algn="ctr">
              <a:lnSpc>
                <a:spcPts val="11200"/>
              </a:lnSpc>
            </a:pPr>
            <a:r>
              <a:rPr lang="en-US" sz="8000">
                <a:solidFill>
                  <a:srgbClr val="264899"/>
                </a:solidFill>
                <a:latin typeface="Fredoka"/>
                <a:ea typeface="Fredoka"/>
                <a:cs typeface="Fredoka"/>
                <a:sym typeface="Fredoka"/>
              </a:rPr>
              <a:t>LESSON PURPOSE</a:t>
            </a:r>
          </a:p>
        </p:txBody>
      </p:sp>
      <p:sp>
        <p:nvSpPr>
          <p:cNvPr id="18" name="TextBox 18"/>
          <p:cNvSpPr txBox="1"/>
          <p:nvPr/>
        </p:nvSpPr>
        <p:spPr>
          <a:xfrm>
            <a:off x="725893" y="2502258"/>
            <a:ext cx="9749279" cy="596900"/>
          </a:xfrm>
          <a:prstGeom prst="rect">
            <a:avLst/>
          </a:prstGeom>
        </p:spPr>
        <p:txBody>
          <a:bodyPr lIns="0" tIns="0" rIns="0" bIns="0" rtlCol="0" anchor="t">
            <a:spAutoFit/>
          </a:bodyPr>
          <a:lstStyle/>
          <a:p>
            <a:pPr algn="l">
              <a:lnSpc>
                <a:spcPts val="4900"/>
              </a:lnSpc>
            </a:pPr>
            <a:r>
              <a:rPr lang="en-US" sz="3500">
                <a:solidFill>
                  <a:srgbClr val="FA7444"/>
                </a:solidFill>
                <a:latin typeface="Fredoka"/>
                <a:ea typeface="Fredoka"/>
                <a:cs typeface="Fredoka"/>
                <a:sym typeface="Fredoka"/>
              </a:rPr>
              <a:t>Unscramble Word Game</a:t>
            </a:r>
          </a:p>
        </p:txBody>
      </p:sp>
      <p:sp>
        <p:nvSpPr>
          <p:cNvPr id="19" name="TextBox 19"/>
          <p:cNvSpPr txBox="1"/>
          <p:nvPr/>
        </p:nvSpPr>
        <p:spPr>
          <a:xfrm>
            <a:off x="1028700" y="3473784"/>
            <a:ext cx="12613399" cy="1685925"/>
          </a:xfrm>
          <a:prstGeom prst="rect">
            <a:avLst/>
          </a:prstGeom>
        </p:spPr>
        <p:txBody>
          <a:bodyPr lIns="0" tIns="0" rIns="0" bIns="0" rtlCol="0" anchor="t">
            <a:spAutoFit/>
          </a:bodyPr>
          <a:lstStyle/>
          <a:p>
            <a:pPr algn="l">
              <a:lnSpc>
                <a:spcPts val="3300"/>
              </a:lnSpc>
            </a:pPr>
            <a:r>
              <a:rPr lang="en-US" sz="3000" dirty="0">
                <a:solidFill>
                  <a:srgbClr val="689BCB"/>
                </a:solidFill>
                <a:latin typeface="Fredoka"/>
                <a:ea typeface="Fredoka"/>
                <a:cs typeface="Fredoka"/>
                <a:sym typeface="Fredoka"/>
              </a:rPr>
              <a:t>Meaning: Waste materials that can be broken down into simpler, non-toxic substances by microorganisms.</a:t>
            </a:r>
          </a:p>
          <a:p>
            <a:pPr algn="l">
              <a:lnSpc>
                <a:spcPts val="3300"/>
              </a:lnSpc>
            </a:pPr>
            <a:endParaRPr lang="en-US" sz="3000" dirty="0">
              <a:solidFill>
                <a:srgbClr val="689BCB"/>
              </a:solidFill>
              <a:latin typeface="Fredoka"/>
              <a:ea typeface="Fredoka"/>
              <a:cs typeface="Fredoka"/>
              <a:sym typeface="Fredoka"/>
            </a:endParaRPr>
          </a:p>
          <a:p>
            <a:pPr algn="l">
              <a:lnSpc>
                <a:spcPts val="3300"/>
              </a:lnSpc>
            </a:pPr>
            <a:r>
              <a:rPr lang="en-US" sz="3000" dirty="0">
                <a:solidFill>
                  <a:srgbClr val="689BCB"/>
                </a:solidFill>
                <a:latin typeface="Fredoka"/>
                <a:ea typeface="Fredoka"/>
                <a:cs typeface="Fredoka"/>
                <a:sym typeface="Fredoka"/>
              </a:rPr>
              <a:t>Unscrambled word #3: IOBEDGABLERAD</a:t>
            </a:r>
          </a:p>
        </p:txBody>
      </p:sp>
      <p:sp>
        <p:nvSpPr>
          <p:cNvPr id="20" name="TextBox 20"/>
          <p:cNvSpPr txBox="1"/>
          <p:nvPr/>
        </p:nvSpPr>
        <p:spPr>
          <a:xfrm>
            <a:off x="1028700" y="5972411"/>
            <a:ext cx="12613399" cy="492125"/>
          </a:xfrm>
          <a:prstGeom prst="rect">
            <a:avLst/>
          </a:prstGeom>
        </p:spPr>
        <p:txBody>
          <a:bodyPr lIns="0" tIns="0" rIns="0" bIns="0" rtlCol="0" anchor="t">
            <a:spAutoFit/>
          </a:bodyPr>
          <a:lstStyle/>
          <a:p>
            <a:pPr algn="l">
              <a:lnSpc>
                <a:spcPts val="3849"/>
              </a:lnSpc>
            </a:pPr>
            <a:r>
              <a:rPr lang="en-US" sz="3499" dirty="0">
                <a:solidFill>
                  <a:srgbClr val="FA7444"/>
                </a:solidFill>
                <a:latin typeface="Fredoka"/>
                <a:ea typeface="Fredoka"/>
                <a:cs typeface="Fredoka"/>
                <a:sym typeface="Fredoka"/>
              </a:rPr>
              <a:t>Answer: BIODEGRADABLE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
                                            <p:txEl>
                                              <p:pRg st="2" end="2"/>
                                            </p:txEl>
                                          </p:spTgt>
                                        </p:tgtEl>
                                        <p:attrNameLst>
                                          <p:attrName>style.visibility</p:attrName>
                                        </p:attrNameLst>
                                      </p:cBhvr>
                                      <p:to>
                                        <p:strVal val="visible"/>
                                      </p:to>
                                    </p:set>
                                    <p:animEffect transition="in" filter="fade">
                                      <p:cBhvr>
                                        <p:cTn id="10" dur="500"/>
                                        <p:tgtEl>
                                          <p:spTgt spid="1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animEffect transition="in" filter="fade">
                                      <p:cBhvr>
                                        <p:cTn id="15"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22633" y="2824423"/>
            <a:ext cx="10136667" cy="2319077"/>
            <a:chOff x="0" y="0"/>
            <a:chExt cx="13515556" cy="3092102"/>
          </a:xfrm>
        </p:grpSpPr>
        <p:grpSp>
          <p:nvGrpSpPr>
            <p:cNvPr id="8" name="Group 8"/>
            <p:cNvGrpSpPr/>
            <p:nvPr/>
          </p:nvGrpSpPr>
          <p:grpSpPr>
            <a:xfrm>
              <a:off x="0" y="0"/>
              <a:ext cx="13515556" cy="3092102"/>
              <a:chOff x="0" y="0"/>
              <a:chExt cx="1277359" cy="292236"/>
            </a:xfrm>
          </p:grpSpPr>
          <p:sp>
            <p:nvSpPr>
              <p:cNvPr id="9" name="Freeform 9"/>
              <p:cNvSpPr/>
              <p:nvPr/>
            </p:nvSpPr>
            <p:spPr>
              <a:xfrm>
                <a:off x="0" y="0"/>
                <a:ext cx="1277360" cy="292236"/>
              </a:xfrm>
              <a:custGeom>
                <a:avLst/>
                <a:gdLst/>
                <a:ahLst/>
                <a:cxnLst/>
                <a:rect l="l" t="t" r="r" b="b"/>
                <a:pathLst>
                  <a:path w="1277360" h="292236">
                    <a:moveTo>
                      <a:pt x="0" y="0"/>
                    </a:moveTo>
                    <a:lnTo>
                      <a:pt x="1277360" y="0"/>
                    </a:lnTo>
                    <a:lnTo>
                      <a:pt x="1277360" y="292236"/>
                    </a:lnTo>
                    <a:lnTo>
                      <a:pt x="0" y="292236"/>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339861"/>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3092102"/>
              <a:chOff x="0" y="0"/>
              <a:chExt cx="17483" cy="230559"/>
            </a:xfrm>
          </p:grpSpPr>
          <p:sp>
            <p:nvSpPr>
              <p:cNvPr id="12" name="Freeform 12"/>
              <p:cNvSpPr/>
              <p:nvPr/>
            </p:nvSpPr>
            <p:spPr>
              <a:xfrm>
                <a:off x="0" y="0"/>
                <a:ext cx="17483" cy="230559"/>
              </a:xfrm>
              <a:custGeom>
                <a:avLst/>
                <a:gdLst/>
                <a:ahLst/>
                <a:cxnLst/>
                <a:rect l="l" t="t" r="r" b="b"/>
                <a:pathLst>
                  <a:path w="17483" h="230559">
                    <a:moveTo>
                      <a:pt x="0" y="0"/>
                    </a:moveTo>
                    <a:lnTo>
                      <a:pt x="17483" y="0"/>
                    </a:lnTo>
                    <a:lnTo>
                      <a:pt x="17483" y="230559"/>
                    </a:lnTo>
                    <a:lnTo>
                      <a:pt x="0" y="230559"/>
                    </a:lnTo>
                    <a:close/>
                  </a:path>
                </a:pathLst>
              </a:custGeom>
              <a:solidFill>
                <a:srgbClr val="465265"/>
              </a:solidFill>
            </p:spPr>
          </p:sp>
          <p:sp>
            <p:nvSpPr>
              <p:cNvPr id="13" name="TextBox 13"/>
              <p:cNvSpPr txBox="1"/>
              <p:nvPr/>
            </p:nvSpPr>
            <p:spPr>
              <a:xfrm>
                <a:off x="0" y="-47625"/>
                <a:ext cx="17483" cy="278184"/>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3092102"/>
              <a:chOff x="0" y="0"/>
              <a:chExt cx="17107" cy="230559"/>
            </a:xfrm>
          </p:grpSpPr>
          <p:sp>
            <p:nvSpPr>
              <p:cNvPr id="15" name="Freeform 15"/>
              <p:cNvSpPr/>
              <p:nvPr/>
            </p:nvSpPr>
            <p:spPr>
              <a:xfrm>
                <a:off x="0" y="0"/>
                <a:ext cx="17107" cy="230559"/>
              </a:xfrm>
              <a:custGeom>
                <a:avLst/>
                <a:gdLst/>
                <a:ahLst/>
                <a:cxnLst/>
                <a:rect l="l" t="t" r="r" b="b"/>
                <a:pathLst>
                  <a:path w="17107" h="230559">
                    <a:moveTo>
                      <a:pt x="0" y="0"/>
                    </a:moveTo>
                    <a:lnTo>
                      <a:pt x="17107" y="0"/>
                    </a:lnTo>
                    <a:lnTo>
                      <a:pt x="17107" y="230559"/>
                    </a:lnTo>
                    <a:lnTo>
                      <a:pt x="0" y="230559"/>
                    </a:lnTo>
                    <a:close/>
                  </a:path>
                </a:pathLst>
              </a:custGeom>
              <a:solidFill>
                <a:srgbClr val="465265"/>
              </a:solidFill>
            </p:spPr>
          </p:sp>
          <p:sp>
            <p:nvSpPr>
              <p:cNvPr id="16" name="TextBox 16"/>
              <p:cNvSpPr txBox="1"/>
              <p:nvPr/>
            </p:nvSpPr>
            <p:spPr>
              <a:xfrm>
                <a:off x="0" y="-47625"/>
                <a:ext cx="17107" cy="278184"/>
              </a:xfrm>
              <a:prstGeom prst="rect">
                <a:avLst/>
              </a:prstGeom>
            </p:spPr>
            <p:txBody>
              <a:bodyPr lIns="134577" tIns="134577" rIns="134577" bIns="134577" rtlCol="0" anchor="ctr"/>
              <a:lstStyle/>
              <a:p>
                <a:pPr algn="ctr">
                  <a:lnSpc>
                    <a:spcPts val="2660"/>
                  </a:lnSpc>
                </a:pPr>
                <a:endParaRPr/>
              </a:p>
            </p:txBody>
          </p:sp>
        </p:grpSp>
      </p:grpSp>
      <p:sp>
        <p:nvSpPr>
          <p:cNvPr id="17" name="Freeform 17"/>
          <p:cNvSpPr/>
          <p:nvPr/>
        </p:nvSpPr>
        <p:spPr>
          <a:xfrm>
            <a:off x="12676043" y="5732673"/>
            <a:ext cx="1652626" cy="3201213"/>
          </a:xfrm>
          <a:custGeom>
            <a:avLst/>
            <a:gdLst/>
            <a:ahLst/>
            <a:cxnLst/>
            <a:rect l="l" t="t" r="r" b="b"/>
            <a:pathLst>
              <a:path w="1652626" h="3201213">
                <a:moveTo>
                  <a:pt x="0" y="0"/>
                </a:moveTo>
                <a:lnTo>
                  <a:pt x="1652626" y="0"/>
                </a:lnTo>
                <a:lnTo>
                  <a:pt x="1652626" y="3201213"/>
                </a:lnTo>
                <a:lnTo>
                  <a:pt x="0" y="3201213"/>
                </a:lnTo>
                <a:lnTo>
                  <a:pt x="0" y="0"/>
                </a:lnTo>
                <a:close/>
              </a:path>
            </a:pathLst>
          </a:custGeom>
          <a:blipFill>
            <a:blip r:embed="rId5"/>
            <a:stretch>
              <a:fillRect/>
            </a:stretch>
          </a:blipFill>
        </p:spPr>
      </p:sp>
      <p:sp>
        <p:nvSpPr>
          <p:cNvPr id="18" name="Freeform 18"/>
          <p:cNvSpPr/>
          <p:nvPr/>
        </p:nvSpPr>
        <p:spPr>
          <a:xfrm>
            <a:off x="14621876" y="6530195"/>
            <a:ext cx="2637424" cy="2254997"/>
          </a:xfrm>
          <a:custGeom>
            <a:avLst/>
            <a:gdLst/>
            <a:ahLst/>
            <a:cxnLst/>
            <a:rect l="l" t="t" r="r" b="b"/>
            <a:pathLst>
              <a:path w="2637424" h="2254997">
                <a:moveTo>
                  <a:pt x="0" y="0"/>
                </a:moveTo>
                <a:lnTo>
                  <a:pt x="2637424" y="0"/>
                </a:lnTo>
                <a:lnTo>
                  <a:pt x="2637424" y="2254997"/>
                </a:lnTo>
                <a:lnTo>
                  <a:pt x="0" y="22549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TextBox 19"/>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dirty="0">
                <a:solidFill>
                  <a:srgbClr val="FF8461"/>
                </a:solidFill>
                <a:latin typeface="Fredoka"/>
                <a:ea typeface="Fredoka"/>
                <a:cs typeface="Fredoka"/>
                <a:sym typeface="Fredoka"/>
              </a:rPr>
              <a:t>FLAMMABILITY</a:t>
            </a:r>
          </a:p>
        </p:txBody>
      </p:sp>
      <p:sp>
        <p:nvSpPr>
          <p:cNvPr id="20" name="TextBox 20"/>
          <p:cNvSpPr txBox="1"/>
          <p:nvPr/>
        </p:nvSpPr>
        <p:spPr>
          <a:xfrm>
            <a:off x="7682550" y="3326737"/>
            <a:ext cx="9114397" cy="876300"/>
          </a:xfrm>
          <a:prstGeom prst="rect">
            <a:avLst/>
          </a:prstGeom>
        </p:spPr>
        <p:txBody>
          <a:bodyPr lIns="0" tIns="0" rIns="0" bIns="0" rtlCol="0" anchor="t">
            <a:spAutoFit/>
          </a:bodyPr>
          <a:lstStyle/>
          <a:p>
            <a:pPr algn="l">
              <a:lnSpc>
                <a:spcPts val="3480"/>
              </a:lnSpc>
            </a:pPr>
            <a:r>
              <a:rPr lang="en-US" sz="2900" dirty="0">
                <a:solidFill>
                  <a:srgbClr val="689BCB"/>
                </a:solidFill>
                <a:latin typeface="Fredoka"/>
                <a:ea typeface="Fredoka"/>
                <a:cs typeface="Fredoka"/>
                <a:sym typeface="Fredoka"/>
              </a:rPr>
              <a:t>It is a measure of how quickly a specific material is capable of catching fire and burning.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xEl>
                                              <p:pRg st="0" end="0"/>
                                            </p:txEl>
                                          </p:spTgt>
                                        </p:tgtEl>
                                        <p:attrNameLst>
                                          <p:attrName>style.visibility</p:attrName>
                                        </p:attrNameLst>
                                      </p:cBhvr>
                                      <p:to>
                                        <p:strVal val="visible"/>
                                      </p:to>
                                    </p:set>
                                    <p:animEffect transition="in" filter="fade">
                                      <p:cBhvr>
                                        <p:cTn id="17" dur="500"/>
                                        <p:tgtEl>
                                          <p:spTgt spid="2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22633" y="2824423"/>
            <a:ext cx="10136667" cy="5448574"/>
            <a:chOff x="0" y="0"/>
            <a:chExt cx="13515556" cy="7264765"/>
          </a:xfrm>
        </p:grpSpPr>
        <p:grpSp>
          <p:nvGrpSpPr>
            <p:cNvPr id="8" name="Group 8"/>
            <p:cNvGrpSpPr/>
            <p:nvPr/>
          </p:nvGrpSpPr>
          <p:grpSpPr>
            <a:xfrm>
              <a:off x="0" y="0"/>
              <a:ext cx="13515556" cy="7264765"/>
              <a:chOff x="0" y="0"/>
              <a:chExt cx="1277359" cy="686595"/>
            </a:xfrm>
          </p:grpSpPr>
          <p:sp>
            <p:nvSpPr>
              <p:cNvPr id="9" name="Freeform 9"/>
              <p:cNvSpPr/>
              <p:nvPr/>
            </p:nvSpPr>
            <p:spPr>
              <a:xfrm>
                <a:off x="0" y="0"/>
                <a:ext cx="1277360" cy="686595"/>
              </a:xfrm>
              <a:custGeom>
                <a:avLst/>
                <a:gdLst/>
                <a:ahLst/>
                <a:cxnLst/>
                <a:rect l="l" t="t" r="r" b="b"/>
                <a:pathLst>
                  <a:path w="1277360" h="686595">
                    <a:moveTo>
                      <a:pt x="0" y="0"/>
                    </a:moveTo>
                    <a:lnTo>
                      <a:pt x="1277360" y="0"/>
                    </a:lnTo>
                    <a:lnTo>
                      <a:pt x="1277360" y="686595"/>
                    </a:lnTo>
                    <a:lnTo>
                      <a:pt x="0" y="68659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73422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7264765"/>
              <a:chOff x="0" y="0"/>
              <a:chExt cx="17483" cy="541689"/>
            </a:xfrm>
          </p:grpSpPr>
          <p:sp>
            <p:nvSpPr>
              <p:cNvPr id="12" name="Freeform 12"/>
              <p:cNvSpPr/>
              <p:nvPr/>
            </p:nvSpPr>
            <p:spPr>
              <a:xfrm>
                <a:off x="0" y="0"/>
                <a:ext cx="17483" cy="541689"/>
              </a:xfrm>
              <a:custGeom>
                <a:avLst/>
                <a:gdLst/>
                <a:ahLst/>
                <a:cxnLst/>
                <a:rect l="l" t="t" r="r" b="b"/>
                <a:pathLst>
                  <a:path w="17483" h="541689">
                    <a:moveTo>
                      <a:pt x="0" y="0"/>
                    </a:moveTo>
                    <a:lnTo>
                      <a:pt x="17483" y="0"/>
                    </a:lnTo>
                    <a:lnTo>
                      <a:pt x="17483" y="541689"/>
                    </a:lnTo>
                    <a:lnTo>
                      <a:pt x="0" y="541689"/>
                    </a:lnTo>
                    <a:close/>
                  </a:path>
                </a:pathLst>
              </a:custGeom>
              <a:solidFill>
                <a:srgbClr val="465265"/>
              </a:solidFill>
            </p:spPr>
          </p:sp>
          <p:sp>
            <p:nvSpPr>
              <p:cNvPr id="13" name="TextBox 13"/>
              <p:cNvSpPr txBox="1"/>
              <p:nvPr/>
            </p:nvSpPr>
            <p:spPr>
              <a:xfrm>
                <a:off x="0" y="-47625"/>
                <a:ext cx="17483" cy="589314"/>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7264765"/>
              <a:chOff x="0" y="0"/>
              <a:chExt cx="17107" cy="541689"/>
            </a:xfrm>
          </p:grpSpPr>
          <p:sp>
            <p:nvSpPr>
              <p:cNvPr id="15" name="Freeform 15"/>
              <p:cNvSpPr/>
              <p:nvPr/>
            </p:nvSpPr>
            <p:spPr>
              <a:xfrm>
                <a:off x="0" y="0"/>
                <a:ext cx="17107" cy="541689"/>
              </a:xfrm>
              <a:custGeom>
                <a:avLst/>
                <a:gdLst/>
                <a:ahLst/>
                <a:cxnLst/>
                <a:rect l="l" t="t" r="r" b="b"/>
                <a:pathLst>
                  <a:path w="17107" h="541689">
                    <a:moveTo>
                      <a:pt x="0" y="0"/>
                    </a:moveTo>
                    <a:lnTo>
                      <a:pt x="17107" y="0"/>
                    </a:lnTo>
                    <a:lnTo>
                      <a:pt x="17107" y="541689"/>
                    </a:lnTo>
                    <a:lnTo>
                      <a:pt x="0" y="541689"/>
                    </a:lnTo>
                    <a:close/>
                  </a:path>
                </a:pathLst>
              </a:custGeom>
              <a:solidFill>
                <a:srgbClr val="465265"/>
              </a:solidFill>
            </p:spPr>
          </p:sp>
          <p:sp>
            <p:nvSpPr>
              <p:cNvPr id="16" name="TextBox 16"/>
              <p:cNvSpPr txBox="1"/>
              <p:nvPr/>
            </p:nvSpPr>
            <p:spPr>
              <a:xfrm>
                <a:off x="0" y="-47625"/>
                <a:ext cx="17107" cy="589314"/>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dirty="0">
                <a:solidFill>
                  <a:srgbClr val="FF8461"/>
                </a:solidFill>
                <a:latin typeface="Fredoka"/>
                <a:ea typeface="Fredoka"/>
                <a:cs typeface="Fredoka"/>
                <a:sym typeface="Fredoka"/>
              </a:rPr>
              <a:t>WORKED EXAMPLE</a:t>
            </a:r>
          </a:p>
        </p:txBody>
      </p:sp>
      <p:sp>
        <p:nvSpPr>
          <p:cNvPr id="18" name="TextBox 18"/>
          <p:cNvSpPr txBox="1"/>
          <p:nvPr/>
        </p:nvSpPr>
        <p:spPr>
          <a:xfrm>
            <a:off x="7682550" y="3326737"/>
            <a:ext cx="9114397" cy="3943350"/>
          </a:xfrm>
          <a:prstGeom prst="rect">
            <a:avLst/>
          </a:prstGeom>
        </p:spPr>
        <p:txBody>
          <a:bodyPr lIns="0" tIns="0" rIns="0" bIns="0" rtlCol="0" anchor="t">
            <a:spAutoFit/>
          </a:bodyPr>
          <a:lstStyle/>
          <a:p>
            <a:pPr algn="l">
              <a:lnSpc>
                <a:spcPts val="3480"/>
              </a:lnSpc>
            </a:pPr>
            <a:r>
              <a:rPr lang="en-US" sz="2900" dirty="0">
                <a:solidFill>
                  <a:srgbClr val="FA7444"/>
                </a:solidFill>
                <a:latin typeface="Fredoka"/>
                <a:ea typeface="Fredoka"/>
                <a:cs typeface="Fredoka"/>
                <a:sym typeface="Fredoka"/>
              </a:rPr>
              <a:t>Example: A piece of wood from a tree.</a:t>
            </a:r>
          </a:p>
          <a:p>
            <a:pPr algn="l">
              <a:lnSpc>
                <a:spcPts val="3480"/>
              </a:lnSpc>
            </a:pPr>
            <a:endParaRPr lang="en-US" sz="2900" dirty="0">
              <a:solidFill>
                <a:srgbClr val="FA7444"/>
              </a:solidFill>
              <a:latin typeface="Fredoka"/>
              <a:ea typeface="Fredoka"/>
              <a:cs typeface="Fredoka"/>
              <a:sym typeface="Fredoka"/>
            </a:endParaRPr>
          </a:p>
          <a:p>
            <a:pPr marL="626111" lvl="1" indent="-313055" algn="l">
              <a:lnSpc>
                <a:spcPts val="3480"/>
              </a:lnSpc>
              <a:buFont typeface="Arial"/>
              <a:buChar char="•"/>
            </a:pPr>
            <a:r>
              <a:rPr lang="en-US" sz="2900" dirty="0">
                <a:solidFill>
                  <a:srgbClr val="689BCB"/>
                </a:solidFill>
                <a:latin typeface="Fredoka"/>
                <a:ea typeface="Fredoka"/>
                <a:cs typeface="Fredoka"/>
                <a:sym typeface="Fredoka"/>
              </a:rPr>
              <a:t>Wood is a natural material commonly used in construction and furniture-making. Wood is flammable and can easily catch fire when exposed to heat or flame. It burns relatively slowly, producing heat and light. Understanding the flammability of wood is crucial for fire safety in buildings and forests.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8">
                                            <p:txEl>
                                              <p:pRg st="2" end="2"/>
                                            </p:txEl>
                                          </p:spTgt>
                                        </p:tgtEl>
                                        <p:attrNameLst>
                                          <p:attrName>style.visibility</p:attrName>
                                        </p:attrNameLst>
                                      </p:cBhvr>
                                      <p:to>
                                        <p:strVal val="visible"/>
                                      </p:to>
                                    </p:set>
                                    <p:animEffect transition="in" filter="fade">
                                      <p:cBhvr>
                                        <p:cTn id="2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22633" y="2824423"/>
            <a:ext cx="10136667" cy="5448574"/>
            <a:chOff x="0" y="0"/>
            <a:chExt cx="13515556" cy="7264765"/>
          </a:xfrm>
        </p:grpSpPr>
        <p:grpSp>
          <p:nvGrpSpPr>
            <p:cNvPr id="8" name="Group 8"/>
            <p:cNvGrpSpPr/>
            <p:nvPr/>
          </p:nvGrpSpPr>
          <p:grpSpPr>
            <a:xfrm>
              <a:off x="0" y="0"/>
              <a:ext cx="13515556" cy="7264765"/>
              <a:chOff x="0" y="0"/>
              <a:chExt cx="1277359" cy="686595"/>
            </a:xfrm>
          </p:grpSpPr>
          <p:sp>
            <p:nvSpPr>
              <p:cNvPr id="9" name="Freeform 9"/>
              <p:cNvSpPr/>
              <p:nvPr/>
            </p:nvSpPr>
            <p:spPr>
              <a:xfrm>
                <a:off x="0" y="0"/>
                <a:ext cx="1277360" cy="686595"/>
              </a:xfrm>
              <a:custGeom>
                <a:avLst/>
                <a:gdLst/>
                <a:ahLst/>
                <a:cxnLst/>
                <a:rect l="l" t="t" r="r" b="b"/>
                <a:pathLst>
                  <a:path w="1277360" h="686595">
                    <a:moveTo>
                      <a:pt x="0" y="0"/>
                    </a:moveTo>
                    <a:lnTo>
                      <a:pt x="1277360" y="0"/>
                    </a:lnTo>
                    <a:lnTo>
                      <a:pt x="1277360" y="686595"/>
                    </a:lnTo>
                    <a:lnTo>
                      <a:pt x="0" y="68659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73422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7264765"/>
              <a:chOff x="0" y="0"/>
              <a:chExt cx="17483" cy="541689"/>
            </a:xfrm>
          </p:grpSpPr>
          <p:sp>
            <p:nvSpPr>
              <p:cNvPr id="12" name="Freeform 12"/>
              <p:cNvSpPr/>
              <p:nvPr/>
            </p:nvSpPr>
            <p:spPr>
              <a:xfrm>
                <a:off x="0" y="0"/>
                <a:ext cx="17483" cy="541689"/>
              </a:xfrm>
              <a:custGeom>
                <a:avLst/>
                <a:gdLst/>
                <a:ahLst/>
                <a:cxnLst/>
                <a:rect l="l" t="t" r="r" b="b"/>
                <a:pathLst>
                  <a:path w="17483" h="541689">
                    <a:moveTo>
                      <a:pt x="0" y="0"/>
                    </a:moveTo>
                    <a:lnTo>
                      <a:pt x="17483" y="0"/>
                    </a:lnTo>
                    <a:lnTo>
                      <a:pt x="17483" y="541689"/>
                    </a:lnTo>
                    <a:lnTo>
                      <a:pt x="0" y="541689"/>
                    </a:lnTo>
                    <a:close/>
                  </a:path>
                </a:pathLst>
              </a:custGeom>
              <a:solidFill>
                <a:srgbClr val="465265"/>
              </a:solidFill>
            </p:spPr>
          </p:sp>
          <p:sp>
            <p:nvSpPr>
              <p:cNvPr id="13" name="TextBox 13"/>
              <p:cNvSpPr txBox="1"/>
              <p:nvPr/>
            </p:nvSpPr>
            <p:spPr>
              <a:xfrm>
                <a:off x="0" y="-47625"/>
                <a:ext cx="17483" cy="589314"/>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7264765"/>
              <a:chOff x="0" y="0"/>
              <a:chExt cx="17107" cy="541689"/>
            </a:xfrm>
          </p:grpSpPr>
          <p:sp>
            <p:nvSpPr>
              <p:cNvPr id="15" name="Freeform 15"/>
              <p:cNvSpPr/>
              <p:nvPr/>
            </p:nvSpPr>
            <p:spPr>
              <a:xfrm>
                <a:off x="0" y="0"/>
                <a:ext cx="17107" cy="541689"/>
              </a:xfrm>
              <a:custGeom>
                <a:avLst/>
                <a:gdLst/>
                <a:ahLst/>
                <a:cxnLst/>
                <a:rect l="l" t="t" r="r" b="b"/>
                <a:pathLst>
                  <a:path w="17107" h="541689">
                    <a:moveTo>
                      <a:pt x="0" y="0"/>
                    </a:moveTo>
                    <a:lnTo>
                      <a:pt x="17107" y="0"/>
                    </a:lnTo>
                    <a:lnTo>
                      <a:pt x="17107" y="541689"/>
                    </a:lnTo>
                    <a:lnTo>
                      <a:pt x="0" y="541689"/>
                    </a:lnTo>
                    <a:close/>
                  </a:path>
                </a:pathLst>
              </a:custGeom>
              <a:solidFill>
                <a:srgbClr val="465265"/>
              </a:solidFill>
            </p:spPr>
          </p:sp>
          <p:sp>
            <p:nvSpPr>
              <p:cNvPr id="16" name="TextBox 16"/>
              <p:cNvSpPr txBox="1"/>
              <p:nvPr/>
            </p:nvSpPr>
            <p:spPr>
              <a:xfrm>
                <a:off x="0" y="-47625"/>
                <a:ext cx="17107" cy="589314"/>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326737"/>
            <a:ext cx="9114397" cy="4381500"/>
          </a:xfrm>
          <a:prstGeom prst="rect">
            <a:avLst/>
          </a:prstGeom>
        </p:spPr>
        <p:txBody>
          <a:bodyPr lIns="0" tIns="0" rIns="0" bIns="0" rtlCol="0" anchor="t">
            <a:spAutoFit/>
          </a:bodyPr>
          <a:lstStyle/>
          <a:p>
            <a:pPr algn="l">
              <a:lnSpc>
                <a:spcPts val="3480"/>
              </a:lnSpc>
            </a:pPr>
            <a:r>
              <a:rPr lang="en-US" sz="2900" dirty="0">
                <a:solidFill>
                  <a:srgbClr val="FA7444"/>
                </a:solidFill>
                <a:latin typeface="Fredoka"/>
                <a:ea typeface="Fredoka"/>
                <a:cs typeface="Fredoka"/>
                <a:sym typeface="Fredoka"/>
              </a:rPr>
              <a:t>Example: A cotton ball.</a:t>
            </a:r>
          </a:p>
          <a:p>
            <a:pPr algn="l">
              <a:lnSpc>
                <a:spcPts val="3480"/>
              </a:lnSpc>
            </a:pPr>
            <a:endParaRPr lang="en-US" sz="2900" dirty="0">
              <a:solidFill>
                <a:srgbClr val="FA7444"/>
              </a:solidFill>
              <a:latin typeface="Fredoka"/>
              <a:ea typeface="Fredoka"/>
              <a:cs typeface="Fredoka"/>
              <a:sym typeface="Fredoka"/>
            </a:endParaRPr>
          </a:p>
          <a:p>
            <a:pPr marL="626111" lvl="1" indent="-313055" algn="l">
              <a:lnSpc>
                <a:spcPts val="3480"/>
              </a:lnSpc>
              <a:buFont typeface="Arial"/>
              <a:buChar char="•"/>
            </a:pPr>
            <a:r>
              <a:rPr lang="en-US" sz="2900" dirty="0">
                <a:solidFill>
                  <a:srgbClr val="689BCB"/>
                </a:solidFill>
                <a:latin typeface="Fredoka"/>
                <a:ea typeface="Fredoka"/>
                <a:cs typeface="Fredoka"/>
                <a:sym typeface="Fredoka"/>
              </a:rPr>
              <a:t>Cotton is a natural fiber obtained from the cotton plant and is used in textiles, clothing, and medical supplies. Cotton is highly flammable and burns easily when ignited. It burns quickly and can produce a hot flame. Understanding the flammability of cotton is important for safety in clothing manufacturing, bedding materials, and medical applications.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22633" y="2824423"/>
            <a:ext cx="10136667" cy="5448574"/>
            <a:chOff x="0" y="0"/>
            <a:chExt cx="13515556" cy="7264765"/>
          </a:xfrm>
        </p:grpSpPr>
        <p:grpSp>
          <p:nvGrpSpPr>
            <p:cNvPr id="8" name="Group 8"/>
            <p:cNvGrpSpPr/>
            <p:nvPr/>
          </p:nvGrpSpPr>
          <p:grpSpPr>
            <a:xfrm>
              <a:off x="0" y="0"/>
              <a:ext cx="13515556" cy="7264765"/>
              <a:chOff x="0" y="0"/>
              <a:chExt cx="1277359" cy="686595"/>
            </a:xfrm>
          </p:grpSpPr>
          <p:sp>
            <p:nvSpPr>
              <p:cNvPr id="9" name="Freeform 9"/>
              <p:cNvSpPr/>
              <p:nvPr/>
            </p:nvSpPr>
            <p:spPr>
              <a:xfrm>
                <a:off x="0" y="0"/>
                <a:ext cx="1277360" cy="686595"/>
              </a:xfrm>
              <a:custGeom>
                <a:avLst/>
                <a:gdLst/>
                <a:ahLst/>
                <a:cxnLst/>
                <a:rect l="l" t="t" r="r" b="b"/>
                <a:pathLst>
                  <a:path w="1277360" h="686595">
                    <a:moveTo>
                      <a:pt x="0" y="0"/>
                    </a:moveTo>
                    <a:lnTo>
                      <a:pt x="1277360" y="0"/>
                    </a:lnTo>
                    <a:lnTo>
                      <a:pt x="1277360" y="686595"/>
                    </a:lnTo>
                    <a:lnTo>
                      <a:pt x="0" y="68659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73422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7264765"/>
              <a:chOff x="0" y="0"/>
              <a:chExt cx="17483" cy="541689"/>
            </a:xfrm>
          </p:grpSpPr>
          <p:sp>
            <p:nvSpPr>
              <p:cNvPr id="12" name="Freeform 12"/>
              <p:cNvSpPr/>
              <p:nvPr/>
            </p:nvSpPr>
            <p:spPr>
              <a:xfrm>
                <a:off x="0" y="0"/>
                <a:ext cx="17483" cy="541689"/>
              </a:xfrm>
              <a:custGeom>
                <a:avLst/>
                <a:gdLst/>
                <a:ahLst/>
                <a:cxnLst/>
                <a:rect l="l" t="t" r="r" b="b"/>
                <a:pathLst>
                  <a:path w="17483" h="541689">
                    <a:moveTo>
                      <a:pt x="0" y="0"/>
                    </a:moveTo>
                    <a:lnTo>
                      <a:pt x="17483" y="0"/>
                    </a:lnTo>
                    <a:lnTo>
                      <a:pt x="17483" y="541689"/>
                    </a:lnTo>
                    <a:lnTo>
                      <a:pt x="0" y="541689"/>
                    </a:lnTo>
                    <a:close/>
                  </a:path>
                </a:pathLst>
              </a:custGeom>
              <a:solidFill>
                <a:srgbClr val="465265"/>
              </a:solidFill>
            </p:spPr>
          </p:sp>
          <p:sp>
            <p:nvSpPr>
              <p:cNvPr id="13" name="TextBox 13"/>
              <p:cNvSpPr txBox="1"/>
              <p:nvPr/>
            </p:nvSpPr>
            <p:spPr>
              <a:xfrm>
                <a:off x="0" y="-47625"/>
                <a:ext cx="17483" cy="589314"/>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7264765"/>
              <a:chOff x="0" y="0"/>
              <a:chExt cx="17107" cy="541689"/>
            </a:xfrm>
          </p:grpSpPr>
          <p:sp>
            <p:nvSpPr>
              <p:cNvPr id="15" name="Freeform 15"/>
              <p:cNvSpPr/>
              <p:nvPr/>
            </p:nvSpPr>
            <p:spPr>
              <a:xfrm>
                <a:off x="0" y="0"/>
                <a:ext cx="17107" cy="541689"/>
              </a:xfrm>
              <a:custGeom>
                <a:avLst/>
                <a:gdLst/>
                <a:ahLst/>
                <a:cxnLst/>
                <a:rect l="l" t="t" r="r" b="b"/>
                <a:pathLst>
                  <a:path w="17107" h="541689">
                    <a:moveTo>
                      <a:pt x="0" y="0"/>
                    </a:moveTo>
                    <a:lnTo>
                      <a:pt x="17107" y="0"/>
                    </a:lnTo>
                    <a:lnTo>
                      <a:pt x="17107" y="541689"/>
                    </a:lnTo>
                    <a:lnTo>
                      <a:pt x="0" y="541689"/>
                    </a:lnTo>
                    <a:close/>
                  </a:path>
                </a:pathLst>
              </a:custGeom>
              <a:solidFill>
                <a:srgbClr val="465265"/>
              </a:solidFill>
            </p:spPr>
          </p:sp>
          <p:sp>
            <p:nvSpPr>
              <p:cNvPr id="16" name="TextBox 16"/>
              <p:cNvSpPr txBox="1"/>
              <p:nvPr/>
            </p:nvSpPr>
            <p:spPr>
              <a:xfrm>
                <a:off x="0" y="-47625"/>
                <a:ext cx="17107" cy="589314"/>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326737"/>
            <a:ext cx="9114397" cy="3943350"/>
          </a:xfrm>
          <a:prstGeom prst="rect">
            <a:avLst/>
          </a:prstGeom>
        </p:spPr>
        <p:txBody>
          <a:bodyPr lIns="0" tIns="0" rIns="0" bIns="0" rtlCol="0" anchor="t">
            <a:spAutoFit/>
          </a:bodyPr>
          <a:lstStyle/>
          <a:p>
            <a:pPr algn="l">
              <a:lnSpc>
                <a:spcPts val="3480"/>
              </a:lnSpc>
            </a:pPr>
            <a:r>
              <a:rPr lang="en-US" sz="2900" dirty="0">
                <a:solidFill>
                  <a:srgbClr val="FA7444"/>
                </a:solidFill>
                <a:latin typeface="Fredoka"/>
                <a:ea typeface="Fredoka"/>
                <a:cs typeface="Fredoka"/>
                <a:sym typeface="Fredoka"/>
              </a:rPr>
              <a:t>Example: A metal paperclip.</a:t>
            </a:r>
          </a:p>
          <a:p>
            <a:pPr algn="l">
              <a:lnSpc>
                <a:spcPts val="3480"/>
              </a:lnSpc>
            </a:pPr>
            <a:endParaRPr lang="en-US" sz="2900" dirty="0">
              <a:solidFill>
                <a:srgbClr val="FA7444"/>
              </a:solidFill>
              <a:latin typeface="Fredoka"/>
              <a:ea typeface="Fredoka"/>
              <a:cs typeface="Fredoka"/>
              <a:sym typeface="Fredoka"/>
            </a:endParaRPr>
          </a:p>
          <a:p>
            <a:pPr marL="626111" lvl="1" indent="-313055" algn="l">
              <a:lnSpc>
                <a:spcPts val="3480"/>
              </a:lnSpc>
              <a:buFont typeface="Arial"/>
              <a:buChar char="•"/>
            </a:pPr>
            <a:r>
              <a:rPr lang="en-US" sz="2900" dirty="0">
                <a:solidFill>
                  <a:srgbClr val="689BCB"/>
                </a:solidFill>
                <a:latin typeface="Fredoka"/>
                <a:ea typeface="Fredoka"/>
                <a:cs typeface="Fredoka"/>
                <a:sym typeface="Fredoka"/>
              </a:rPr>
              <a:t>A metal paperclip. Metals are solid materials characterized by their shiny appearance, conductivity, and strength. They include iron, aluminum, copper, and gold. Most metals are non-flammable and do not catch fire </a:t>
            </a:r>
            <a:r>
              <a:rPr lang="en-US" sz="2900" dirty="0" err="1">
                <a:solidFill>
                  <a:srgbClr val="689BCB"/>
                </a:solidFill>
                <a:latin typeface="Fredoka"/>
                <a:ea typeface="Fredoka"/>
                <a:cs typeface="Fredoka"/>
                <a:sym typeface="Fredoka"/>
              </a:rPr>
              <a:t>undernormal</a:t>
            </a:r>
            <a:r>
              <a:rPr lang="en-US" sz="2900" dirty="0">
                <a:solidFill>
                  <a:srgbClr val="689BCB"/>
                </a:solidFill>
                <a:latin typeface="Fredoka"/>
                <a:ea typeface="Fredoka"/>
                <a:cs typeface="Fredoka"/>
                <a:sym typeface="Fredoka"/>
              </a:rPr>
              <a:t> conditions. They have high melting points and are not easily oxidized.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22633" y="2824423"/>
            <a:ext cx="10136667" cy="5448574"/>
            <a:chOff x="0" y="0"/>
            <a:chExt cx="13515556" cy="7264765"/>
          </a:xfrm>
        </p:grpSpPr>
        <p:grpSp>
          <p:nvGrpSpPr>
            <p:cNvPr id="8" name="Group 8"/>
            <p:cNvGrpSpPr/>
            <p:nvPr/>
          </p:nvGrpSpPr>
          <p:grpSpPr>
            <a:xfrm>
              <a:off x="0" y="0"/>
              <a:ext cx="13515556" cy="7264765"/>
              <a:chOff x="0" y="0"/>
              <a:chExt cx="1277359" cy="686595"/>
            </a:xfrm>
          </p:grpSpPr>
          <p:sp>
            <p:nvSpPr>
              <p:cNvPr id="9" name="Freeform 9"/>
              <p:cNvSpPr/>
              <p:nvPr/>
            </p:nvSpPr>
            <p:spPr>
              <a:xfrm>
                <a:off x="0" y="0"/>
                <a:ext cx="1277360" cy="686595"/>
              </a:xfrm>
              <a:custGeom>
                <a:avLst/>
                <a:gdLst/>
                <a:ahLst/>
                <a:cxnLst/>
                <a:rect l="l" t="t" r="r" b="b"/>
                <a:pathLst>
                  <a:path w="1277360" h="686595">
                    <a:moveTo>
                      <a:pt x="0" y="0"/>
                    </a:moveTo>
                    <a:lnTo>
                      <a:pt x="1277360" y="0"/>
                    </a:lnTo>
                    <a:lnTo>
                      <a:pt x="1277360" y="686595"/>
                    </a:lnTo>
                    <a:lnTo>
                      <a:pt x="0" y="68659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73422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7264765"/>
              <a:chOff x="0" y="0"/>
              <a:chExt cx="17483" cy="541689"/>
            </a:xfrm>
          </p:grpSpPr>
          <p:sp>
            <p:nvSpPr>
              <p:cNvPr id="12" name="Freeform 12"/>
              <p:cNvSpPr/>
              <p:nvPr/>
            </p:nvSpPr>
            <p:spPr>
              <a:xfrm>
                <a:off x="0" y="0"/>
                <a:ext cx="17483" cy="541689"/>
              </a:xfrm>
              <a:custGeom>
                <a:avLst/>
                <a:gdLst/>
                <a:ahLst/>
                <a:cxnLst/>
                <a:rect l="l" t="t" r="r" b="b"/>
                <a:pathLst>
                  <a:path w="17483" h="541689">
                    <a:moveTo>
                      <a:pt x="0" y="0"/>
                    </a:moveTo>
                    <a:lnTo>
                      <a:pt x="17483" y="0"/>
                    </a:lnTo>
                    <a:lnTo>
                      <a:pt x="17483" y="541689"/>
                    </a:lnTo>
                    <a:lnTo>
                      <a:pt x="0" y="541689"/>
                    </a:lnTo>
                    <a:close/>
                  </a:path>
                </a:pathLst>
              </a:custGeom>
              <a:solidFill>
                <a:srgbClr val="465265"/>
              </a:solidFill>
            </p:spPr>
          </p:sp>
          <p:sp>
            <p:nvSpPr>
              <p:cNvPr id="13" name="TextBox 13"/>
              <p:cNvSpPr txBox="1"/>
              <p:nvPr/>
            </p:nvSpPr>
            <p:spPr>
              <a:xfrm>
                <a:off x="0" y="-47625"/>
                <a:ext cx="17483" cy="589314"/>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7264765"/>
              <a:chOff x="0" y="0"/>
              <a:chExt cx="17107" cy="541689"/>
            </a:xfrm>
          </p:grpSpPr>
          <p:sp>
            <p:nvSpPr>
              <p:cNvPr id="15" name="Freeform 15"/>
              <p:cNvSpPr/>
              <p:nvPr/>
            </p:nvSpPr>
            <p:spPr>
              <a:xfrm>
                <a:off x="0" y="0"/>
                <a:ext cx="17107" cy="541689"/>
              </a:xfrm>
              <a:custGeom>
                <a:avLst/>
                <a:gdLst/>
                <a:ahLst/>
                <a:cxnLst/>
                <a:rect l="l" t="t" r="r" b="b"/>
                <a:pathLst>
                  <a:path w="17107" h="541689">
                    <a:moveTo>
                      <a:pt x="0" y="0"/>
                    </a:moveTo>
                    <a:lnTo>
                      <a:pt x="17107" y="0"/>
                    </a:lnTo>
                    <a:lnTo>
                      <a:pt x="17107" y="541689"/>
                    </a:lnTo>
                    <a:lnTo>
                      <a:pt x="0" y="541689"/>
                    </a:lnTo>
                    <a:close/>
                  </a:path>
                </a:pathLst>
              </a:custGeom>
              <a:solidFill>
                <a:srgbClr val="465265"/>
              </a:solidFill>
            </p:spPr>
          </p:sp>
          <p:sp>
            <p:nvSpPr>
              <p:cNvPr id="16" name="TextBox 16"/>
              <p:cNvSpPr txBox="1"/>
              <p:nvPr/>
            </p:nvSpPr>
            <p:spPr>
              <a:xfrm>
                <a:off x="0" y="-47625"/>
                <a:ext cx="17107" cy="589314"/>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326737"/>
            <a:ext cx="9114397" cy="2190750"/>
          </a:xfrm>
          <a:prstGeom prst="rect">
            <a:avLst/>
          </a:prstGeom>
        </p:spPr>
        <p:txBody>
          <a:bodyPr lIns="0" tIns="0" rIns="0" bIns="0" rtlCol="0" anchor="t">
            <a:spAutoFit/>
          </a:bodyPr>
          <a:lstStyle/>
          <a:p>
            <a:pPr algn="l">
              <a:lnSpc>
                <a:spcPts val="3480"/>
              </a:lnSpc>
            </a:pPr>
            <a:r>
              <a:rPr lang="en-US" sz="2900" dirty="0">
                <a:solidFill>
                  <a:srgbClr val="FA7444"/>
                </a:solidFill>
                <a:latin typeface="Fredoka"/>
                <a:ea typeface="Fredoka"/>
                <a:cs typeface="Fredoka"/>
                <a:sym typeface="Fredoka"/>
              </a:rPr>
              <a:t>Example: A metal paperclip.</a:t>
            </a:r>
          </a:p>
          <a:p>
            <a:pPr algn="l">
              <a:lnSpc>
                <a:spcPts val="3480"/>
              </a:lnSpc>
            </a:pPr>
            <a:endParaRPr lang="en-US" sz="2900" dirty="0">
              <a:solidFill>
                <a:srgbClr val="FA7444"/>
              </a:solidFill>
              <a:latin typeface="Fredoka"/>
              <a:ea typeface="Fredoka"/>
              <a:cs typeface="Fredoka"/>
              <a:sym typeface="Fredoka"/>
            </a:endParaRPr>
          </a:p>
          <a:p>
            <a:pPr marL="626111" lvl="1" indent="-313055" algn="l">
              <a:lnSpc>
                <a:spcPts val="3480"/>
              </a:lnSpc>
              <a:buFont typeface="Arial"/>
              <a:buChar char="•"/>
            </a:pPr>
            <a:r>
              <a:rPr lang="en-US" sz="2900" dirty="0">
                <a:solidFill>
                  <a:srgbClr val="689BCB"/>
                </a:solidFill>
                <a:latin typeface="Fredoka"/>
                <a:ea typeface="Fredoka"/>
                <a:cs typeface="Fredoka"/>
                <a:sym typeface="Fredoka"/>
              </a:rPr>
              <a:t>Recognizing the non-flammability of metals is important for fire-</a:t>
            </a:r>
            <a:r>
              <a:rPr lang="en-US" sz="2900" dirty="0" err="1">
                <a:solidFill>
                  <a:srgbClr val="689BCB"/>
                </a:solidFill>
                <a:latin typeface="Fredoka"/>
                <a:ea typeface="Fredoka"/>
                <a:cs typeface="Fredoka"/>
                <a:sym typeface="Fredoka"/>
              </a:rPr>
              <a:t>resistantbuilding</a:t>
            </a:r>
            <a:r>
              <a:rPr lang="en-US" sz="2900" dirty="0">
                <a:solidFill>
                  <a:srgbClr val="689BCB"/>
                </a:solidFill>
                <a:latin typeface="Fredoka"/>
                <a:ea typeface="Fredoka"/>
                <a:cs typeface="Fredoka"/>
                <a:sym typeface="Fredoka"/>
              </a:rPr>
              <a:t> materials, electrical wiring, and industrial applications.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3940624" y="2785287"/>
            <a:ext cx="10286138" cy="4344772"/>
            <a:chOff x="0" y="0"/>
            <a:chExt cx="2709106" cy="1144302"/>
          </a:xfrm>
        </p:grpSpPr>
        <p:sp>
          <p:nvSpPr>
            <p:cNvPr id="4" name="Freeform 4"/>
            <p:cNvSpPr/>
            <p:nvPr/>
          </p:nvSpPr>
          <p:spPr>
            <a:xfrm>
              <a:off x="0" y="0"/>
              <a:ext cx="2709106" cy="1144302"/>
            </a:xfrm>
            <a:custGeom>
              <a:avLst/>
              <a:gdLst/>
              <a:ahLst/>
              <a:cxnLst/>
              <a:rect l="l" t="t" r="r" b="b"/>
              <a:pathLst>
                <a:path w="2709106" h="1144302">
                  <a:moveTo>
                    <a:pt x="0" y="0"/>
                  </a:moveTo>
                  <a:lnTo>
                    <a:pt x="2709106" y="0"/>
                  </a:lnTo>
                  <a:lnTo>
                    <a:pt x="2709106" y="1144302"/>
                  </a:lnTo>
                  <a:lnTo>
                    <a:pt x="0" y="1144302"/>
                  </a:lnTo>
                  <a:close/>
                </a:path>
              </a:pathLst>
            </a:custGeom>
            <a:solidFill>
              <a:srgbClr val="59687F"/>
            </a:solidFill>
          </p:spPr>
        </p:sp>
        <p:sp>
          <p:nvSpPr>
            <p:cNvPr id="5" name="TextBox 5"/>
            <p:cNvSpPr txBox="1"/>
            <p:nvPr/>
          </p:nvSpPr>
          <p:spPr>
            <a:xfrm>
              <a:off x="0" y="-47625"/>
              <a:ext cx="2709106" cy="119192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4310128" y="3178914"/>
            <a:ext cx="9417722" cy="3524601"/>
            <a:chOff x="0" y="0"/>
            <a:chExt cx="2480388" cy="928290"/>
          </a:xfrm>
        </p:grpSpPr>
        <p:sp>
          <p:nvSpPr>
            <p:cNvPr id="7" name="Freeform 7"/>
            <p:cNvSpPr/>
            <p:nvPr/>
          </p:nvSpPr>
          <p:spPr>
            <a:xfrm>
              <a:off x="0" y="0"/>
              <a:ext cx="2480388" cy="928290"/>
            </a:xfrm>
            <a:custGeom>
              <a:avLst/>
              <a:gdLst/>
              <a:ahLst/>
              <a:cxnLst/>
              <a:rect l="l" t="t" r="r" b="b"/>
              <a:pathLst>
                <a:path w="2480388" h="928290">
                  <a:moveTo>
                    <a:pt x="0" y="0"/>
                  </a:moveTo>
                  <a:lnTo>
                    <a:pt x="2480388" y="0"/>
                  </a:lnTo>
                  <a:lnTo>
                    <a:pt x="2480388" y="928290"/>
                  </a:lnTo>
                  <a:lnTo>
                    <a:pt x="0" y="928290"/>
                  </a:lnTo>
                  <a:close/>
                </a:path>
              </a:pathLst>
            </a:custGeom>
            <a:solidFill>
              <a:srgbClr val="E8EEFD"/>
            </a:solidFill>
          </p:spPr>
        </p:sp>
        <p:sp>
          <p:nvSpPr>
            <p:cNvPr id="8" name="TextBox 8"/>
            <p:cNvSpPr txBox="1"/>
            <p:nvPr/>
          </p:nvSpPr>
          <p:spPr>
            <a:xfrm>
              <a:off x="0" y="-47625"/>
              <a:ext cx="2480388" cy="97591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940624" y="2768829"/>
            <a:ext cx="217104" cy="4344772"/>
            <a:chOff x="0" y="0"/>
            <a:chExt cx="57180" cy="1144302"/>
          </a:xfrm>
        </p:grpSpPr>
        <p:sp>
          <p:nvSpPr>
            <p:cNvPr id="10" name="Freeform 10"/>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1" name="TextBox 11"/>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4009658" y="2785287"/>
            <a:ext cx="217104" cy="4344772"/>
            <a:chOff x="0" y="0"/>
            <a:chExt cx="57180" cy="1144302"/>
          </a:xfrm>
        </p:grpSpPr>
        <p:sp>
          <p:nvSpPr>
            <p:cNvPr id="13" name="Freeform 13"/>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4" name="TextBox 14"/>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0" y="2111925"/>
            <a:ext cx="4882379" cy="9624761"/>
          </a:xfrm>
          <a:custGeom>
            <a:avLst/>
            <a:gdLst/>
            <a:ahLst/>
            <a:cxnLst/>
            <a:rect l="l" t="t" r="r" b="b"/>
            <a:pathLst>
              <a:path w="4882379" h="9624761">
                <a:moveTo>
                  <a:pt x="0" y="0"/>
                </a:moveTo>
                <a:lnTo>
                  <a:pt x="4882379" y="0"/>
                </a:lnTo>
                <a:lnTo>
                  <a:pt x="4882379" y="9624760"/>
                </a:lnTo>
                <a:lnTo>
                  <a:pt x="0" y="96247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10615157" y="4941215"/>
            <a:ext cx="14586339" cy="6454455"/>
          </a:xfrm>
          <a:custGeom>
            <a:avLst/>
            <a:gdLst/>
            <a:ahLst/>
            <a:cxnLst/>
            <a:rect l="l" t="t" r="r" b="b"/>
            <a:pathLst>
              <a:path w="14586339" h="6454455">
                <a:moveTo>
                  <a:pt x="0" y="0"/>
                </a:moveTo>
                <a:lnTo>
                  <a:pt x="14586339" y="0"/>
                </a:lnTo>
                <a:lnTo>
                  <a:pt x="14586339" y="6454455"/>
                </a:lnTo>
                <a:lnTo>
                  <a:pt x="0" y="6454455"/>
                </a:lnTo>
                <a:lnTo>
                  <a:pt x="0" y="0"/>
                </a:lnTo>
                <a:close/>
              </a:path>
            </a:pathLst>
          </a:custGeom>
          <a:blipFill>
            <a:blip r:embed="rId5"/>
            <a:stretch>
              <a:fillRect/>
            </a:stretch>
          </a:blipFill>
        </p:spPr>
      </p:sp>
      <p:grpSp>
        <p:nvGrpSpPr>
          <p:cNvPr id="17" name="Group 17"/>
          <p:cNvGrpSpPr/>
          <p:nvPr/>
        </p:nvGrpSpPr>
        <p:grpSpPr>
          <a:xfrm>
            <a:off x="-566209" y="9642589"/>
            <a:ext cx="18854209" cy="763941"/>
            <a:chOff x="0" y="0"/>
            <a:chExt cx="4965718" cy="201203"/>
          </a:xfrm>
        </p:grpSpPr>
        <p:sp>
          <p:nvSpPr>
            <p:cNvPr id="18" name="Freeform 18"/>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9" name="TextBox 19"/>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4958186" y="3766465"/>
            <a:ext cx="8140657" cy="1749425"/>
          </a:xfrm>
          <a:prstGeom prst="rect">
            <a:avLst/>
          </a:prstGeom>
        </p:spPr>
        <p:txBody>
          <a:bodyPr lIns="0" tIns="0" rIns="0" bIns="0" rtlCol="0" anchor="t">
            <a:spAutoFit/>
          </a:bodyPr>
          <a:lstStyle/>
          <a:p>
            <a:pPr algn="ctr">
              <a:lnSpc>
                <a:spcPts val="7000"/>
              </a:lnSpc>
            </a:pPr>
            <a:r>
              <a:rPr lang="en-US" sz="5000" dirty="0">
                <a:solidFill>
                  <a:srgbClr val="FA7444"/>
                </a:solidFill>
                <a:latin typeface="Fredoka"/>
                <a:ea typeface="Fredoka"/>
                <a:cs typeface="Fredoka"/>
                <a:sym typeface="Fredoka"/>
              </a:rPr>
              <a:t>How Materials React with Other Materials</a:t>
            </a:r>
          </a:p>
        </p:txBody>
      </p:sp>
      <p:sp>
        <p:nvSpPr>
          <p:cNvPr id="21" name="TextBox 21"/>
          <p:cNvSpPr txBox="1"/>
          <p:nvPr/>
        </p:nvSpPr>
        <p:spPr>
          <a:xfrm>
            <a:off x="4310128" y="1397550"/>
            <a:ext cx="3381213" cy="1285875"/>
          </a:xfrm>
          <a:prstGeom prst="rect">
            <a:avLst/>
          </a:prstGeom>
        </p:spPr>
        <p:txBody>
          <a:bodyPr lIns="0" tIns="0" rIns="0" bIns="0" rtlCol="0" anchor="t">
            <a:spAutoFit/>
          </a:bodyPr>
          <a:lstStyle/>
          <a:p>
            <a:pPr algn="ctr">
              <a:lnSpc>
                <a:spcPts val="10500"/>
              </a:lnSpc>
            </a:pPr>
            <a:r>
              <a:rPr lang="en-US" sz="7500" dirty="0">
                <a:solidFill>
                  <a:srgbClr val="264899"/>
                </a:solidFill>
                <a:latin typeface="Fredoka"/>
                <a:ea typeface="Fredoka"/>
                <a:cs typeface="Fredoka"/>
                <a:sym typeface="Fredoka"/>
              </a:rPr>
              <a:t>DAY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1247775"/>
          </a:xfrm>
          <a:prstGeom prst="rect">
            <a:avLst/>
          </a:prstGeom>
        </p:spPr>
        <p:txBody>
          <a:bodyPr lIns="0" tIns="0" rIns="0" bIns="0" rtlCol="0" anchor="t">
            <a:spAutoFit/>
          </a:bodyPr>
          <a:lstStyle/>
          <a:p>
            <a:pPr algn="ctr">
              <a:lnSpc>
                <a:spcPts val="4920"/>
              </a:lnSpc>
            </a:pPr>
            <a:r>
              <a:rPr lang="en-US" sz="4100" dirty="0">
                <a:solidFill>
                  <a:srgbClr val="FF8461"/>
                </a:solidFill>
                <a:latin typeface="Fredoka"/>
                <a:ea typeface="Fredoka"/>
                <a:cs typeface="Fredoka"/>
                <a:sym typeface="Fredoka"/>
              </a:rPr>
              <a:t>HOW MATERIALS REACT WITH EACH OTHER</a:t>
            </a:r>
          </a:p>
        </p:txBody>
      </p:sp>
      <p:sp>
        <p:nvSpPr>
          <p:cNvPr id="18" name="TextBox 18"/>
          <p:cNvSpPr txBox="1"/>
          <p:nvPr/>
        </p:nvSpPr>
        <p:spPr>
          <a:xfrm>
            <a:off x="7692075" y="3370949"/>
            <a:ext cx="9114397" cy="3067050"/>
          </a:xfrm>
          <a:prstGeom prst="rect">
            <a:avLst/>
          </a:prstGeom>
        </p:spPr>
        <p:txBody>
          <a:bodyPr lIns="0" tIns="0" rIns="0" bIns="0" rtlCol="0" anchor="t">
            <a:spAutoFit/>
          </a:bodyPr>
          <a:lstStyle/>
          <a:p>
            <a:pPr marL="626109" lvl="1" indent="-313054" algn="l">
              <a:lnSpc>
                <a:spcPts val="3479"/>
              </a:lnSpc>
              <a:buFont typeface="Arial"/>
              <a:buChar char="•"/>
            </a:pPr>
            <a:r>
              <a:rPr lang="en-US" sz="2899" dirty="0">
                <a:solidFill>
                  <a:srgbClr val="689BCB"/>
                </a:solidFill>
                <a:latin typeface="Fredoka"/>
                <a:ea typeface="Fredoka"/>
                <a:cs typeface="Fredoka"/>
                <a:sym typeface="Fredoka"/>
              </a:rPr>
              <a:t>When two or more materials come into contact, they may react and change in form, color, or composition. This happens because the substances combine or interact at a chemical level. Some reactions can cause heat, gas, or new substances to form. These changes are called chemical reactions.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92075" y="3370949"/>
            <a:ext cx="9114397" cy="52578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Rusting of iron.</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 Iron is a metal commonly used in construction and manufacturing. When iron comes into contact with oxygen and moisture in the air, it undergoes a chemical reaction known as oxidation. This results in the formation of iron oxide, also known as rust. Understanding the reaction between iron and oxygen is crucial for preventing corrosion in metal structures and equipment. Protective coatings and proper maintenance can help mitigate rusting.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370949"/>
            <a:ext cx="9114397" cy="48196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Foam production in a hydrogen peroxide and yeast experiment.</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 Hydrogen peroxide is a chemical compound often used as a disinfectant, while yeast is a microorganism used in baking and brewing. When hydrogen peroxide is mixed with yeast, the enzyme catalase in yeast catalyzes hydrogen peroxide's decomposition into water and oxygen gas. This reaction produces foam as a result of the release of oxygen gas bubbles.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370949"/>
            <a:ext cx="9114397" cy="30670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Foam production in a hydrogen peroxide and yeast experiment.</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 Understanding the reaction between hydrogen peroxide and yeast demonstrates the role of enzymes in catalyzing chemical reactions and is commonly used in educational experiments.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3028049"/>
            <a:ext cx="10136667" cy="5934925"/>
            <a:chOff x="0" y="0"/>
            <a:chExt cx="13515556" cy="7913233"/>
          </a:xfrm>
        </p:grpSpPr>
        <p:grpSp>
          <p:nvGrpSpPr>
            <p:cNvPr id="8" name="Group 8"/>
            <p:cNvGrpSpPr/>
            <p:nvPr/>
          </p:nvGrpSpPr>
          <p:grpSpPr>
            <a:xfrm>
              <a:off x="0" y="0"/>
              <a:ext cx="13515556" cy="7913233"/>
              <a:chOff x="0" y="0"/>
              <a:chExt cx="1277359" cy="747882"/>
            </a:xfrm>
          </p:grpSpPr>
          <p:sp>
            <p:nvSpPr>
              <p:cNvPr id="9" name="Freeform 9"/>
              <p:cNvSpPr/>
              <p:nvPr/>
            </p:nvSpPr>
            <p:spPr>
              <a:xfrm>
                <a:off x="0" y="0"/>
                <a:ext cx="1277360" cy="747882"/>
              </a:xfrm>
              <a:custGeom>
                <a:avLst/>
                <a:gdLst/>
                <a:ahLst/>
                <a:cxnLst/>
                <a:rect l="l" t="t" r="r" b="b"/>
                <a:pathLst>
                  <a:path w="1277360" h="747882">
                    <a:moveTo>
                      <a:pt x="0" y="0"/>
                    </a:moveTo>
                    <a:lnTo>
                      <a:pt x="1277360" y="0"/>
                    </a:lnTo>
                    <a:lnTo>
                      <a:pt x="1277360" y="747882"/>
                    </a:lnTo>
                    <a:lnTo>
                      <a:pt x="0" y="747882"/>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795507"/>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7913233"/>
              <a:chOff x="0" y="0"/>
              <a:chExt cx="17483" cy="590041"/>
            </a:xfrm>
          </p:grpSpPr>
          <p:sp>
            <p:nvSpPr>
              <p:cNvPr id="12" name="Freeform 12"/>
              <p:cNvSpPr/>
              <p:nvPr/>
            </p:nvSpPr>
            <p:spPr>
              <a:xfrm>
                <a:off x="0" y="0"/>
                <a:ext cx="17483" cy="590041"/>
              </a:xfrm>
              <a:custGeom>
                <a:avLst/>
                <a:gdLst/>
                <a:ahLst/>
                <a:cxnLst/>
                <a:rect l="l" t="t" r="r" b="b"/>
                <a:pathLst>
                  <a:path w="17483" h="590041">
                    <a:moveTo>
                      <a:pt x="0" y="0"/>
                    </a:moveTo>
                    <a:lnTo>
                      <a:pt x="17483" y="0"/>
                    </a:lnTo>
                    <a:lnTo>
                      <a:pt x="17483" y="590041"/>
                    </a:lnTo>
                    <a:lnTo>
                      <a:pt x="0" y="590041"/>
                    </a:lnTo>
                    <a:close/>
                  </a:path>
                </a:pathLst>
              </a:custGeom>
              <a:solidFill>
                <a:srgbClr val="465265"/>
              </a:solidFill>
            </p:spPr>
          </p:sp>
          <p:sp>
            <p:nvSpPr>
              <p:cNvPr id="13" name="TextBox 13"/>
              <p:cNvSpPr txBox="1"/>
              <p:nvPr/>
            </p:nvSpPr>
            <p:spPr>
              <a:xfrm>
                <a:off x="0" y="-47625"/>
                <a:ext cx="17483" cy="637666"/>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7913233"/>
              <a:chOff x="0" y="0"/>
              <a:chExt cx="17107" cy="590041"/>
            </a:xfrm>
          </p:grpSpPr>
          <p:sp>
            <p:nvSpPr>
              <p:cNvPr id="15" name="Freeform 15"/>
              <p:cNvSpPr/>
              <p:nvPr/>
            </p:nvSpPr>
            <p:spPr>
              <a:xfrm>
                <a:off x="0" y="0"/>
                <a:ext cx="17107" cy="590041"/>
              </a:xfrm>
              <a:custGeom>
                <a:avLst/>
                <a:gdLst/>
                <a:ahLst/>
                <a:cxnLst/>
                <a:rect l="l" t="t" r="r" b="b"/>
                <a:pathLst>
                  <a:path w="17107" h="590041">
                    <a:moveTo>
                      <a:pt x="0" y="0"/>
                    </a:moveTo>
                    <a:lnTo>
                      <a:pt x="17107" y="0"/>
                    </a:lnTo>
                    <a:lnTo>
                      <a:pt x="17107" y="590041"/>
                    </a:lnTo>
                    <a:lnTo>
                      <a:pt x="0" y="590041"/>
                    </a:lnTo>
                    <a:close/>
                  </a:path>
                </a:pathLst>
              </a:custGeom>
              <a:solidFill>
                <a:srgbClr val="465265"/>
              </a:solidFill>
            </p:spPr>
          </p:sp>
          <p:sp>
            <p:nvSpPr>
              <p:cNvPr id="16" name="TextBox 16"/>
              <p:cNvSpPr txBox="1"/>
              <p:nvPr/>
            </p:nvSpPr>
            <p:spPr>
              <a:xfrm>
                <a:off x="0" y="-47625"/>
                <a:ext cx="17107" cy="637666"/>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599141"/>
            <a:ext cx="9114397" cy="48196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Aluminum foil reacting with air.</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Aluminum is a lightweight metal commonly used in packaging, construction, and transportation. When aluminum comes into contact with oxygen in the air, it forms a thin layer of aluminum oxide on its surface. This layer acts </a:t>
            </a:r>
            <a:r>
              <a:rPr lang="en-US" sz="2899" dirty="0" err="1">
                <a:solidFill>
                  <a:srgbClr val="689BCB"/>
                </a:solidFill>
                <a:latin typeface="Fredoka"/>
                <a:ea typeface="Fredoka"/>
                <a:cs typeface="Fredoka"/>
                <a:sym typeface="Fredoka"/>
              </a:rPr>
              <a:t>asa</a:t>
            </a:r>
            <a:r>
              <a:rPr lang="en-US" sz="2899" dirty="0">
                <a:solidFill>
                  <a:srgbClr val="689BCB"/>
                </a:solidFill>
                <a:latin typeface="Fredoka"/>
                <a:ea typeface="Fredoka"/>
                <a:cs typeface="Fredoka"/>
                <a:sym typeface="Fredoka"/>
              </a:rPr>
              <a:t>  protective barrier, preventing further oxidation. Understanding the reaction between aluminum and oxygen helps prevent corrosion and volcano.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3028049"/>
            <a:ext cx="10136667" cy="5771930"/>
            <a:chOff x="0" y="0"/>
            <a:chExt cx="13515556" cy="7695907"/>
          </a:xfrm>
        </p:grpSpPr>
        <p:grpSp>
          <p:nvGrpSpPr>
            <p:cNvPr id="8" name="Group 8"/>
            <p:cNvGrpSpPr/>
            <p:nvPr/>
          </p:nvGrpSpPr>
          <p:grpSpPr>
            <a:xfrm>
              <a:off x="0" y="0"/>
              <a:ext cx="13515556" cy="7695907"/>
              <a:chOff x="0" y="0"/>
              <a:chExt cx="1277359" cy="727343"/>
            </a:xfrm>
          </p:grpSpPr>
          <p:sp>
            <p:nvSpPr>
              <p:cNvPr id="9" name="Freeform 9"/>
              <p:cNvSpPr/>
              <p:nvPr/>
            </p:nvSpPr>
            <p:spPr>
              <a:xfrm>
                <a:off x="0" y="0"/>
                <a:ext cx="1277360" cy="727343"/>
              </a:xfrm>
              <a:custGeom>
                <a:avLst/>
                <a:gdLst/>
                <a:ahLst/>
                <a:cxnLst/>
                <a:rect l="l" t="t" r="r" b="b"/>
                <a:pathLst>
                  <a:path w="1277360" h="727343">
                    <a:moveTo>
                      <a:pt x="0" y="0"/>
                    </a:moveTo>
                    <a:lnTo>
                      <a:pt x="1277360" y="0"/>
                    </a:lnTo>
                    <a:lnTo>
                      <a:pt x="1277360" y="727343"/>
                    </a:lnTo>
                    <a:lnTo>
                      <a:pt x="0" y="727343"/>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774968"/>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7695907"/>
              <a:chOff x="0" y="0"/>
              <a:chExt cx="17483" cy="573836"/>
            </a:xfrm>
          </p:grpSpPr>
          <p:sp>
            <p:nvSpPr>
              <p:cNvPr id="12" name="Freeform 12"/>
              <p:cNvSpPr/>
              <p:nvPr/>
            </p:nvSpPr>
            <p:spPr>
              <a:xfrm>
                <a:off x="0" y="0"/>
                <a:ext cx="17483" cy="573836"/>
              </a:xfrm>
              <a:custGeom>
                <a:avLst/>
                <a:gdLst/>
                <a:ahLst/>
                <a:cxnLst/>
                <a:rect l="l" t="t" r="r" b="b"/>
                <a:pathLst>
                  <a:path w="17483" h="573836">
                    <a:moveTo>
                      <a:pt x="0" y="0"/>
                    </a:moveTo>
                    <a:lnTo>
                      <a:pt x="17483" y="0"/>
                    </a:lnTo>
                    <a:lnTo>
                      <a:pt x="17483" y="573836"/>
                    </a:lnTo>
                    <a:lnTo>
                      <a:pt x="0" y="573836"/>
                    </a:lnTo>
                    <a:close/>
                  </a:path>
                </a:pathLst>
              </a:custGeom>
              <a:solidFill>
                <a:srgbClr val="465265"/>
              </a:solidFill>
            </p:spPr>
          </p:sp>
          <p:sp>
            <p:nvSpPr>
              <p:cNvPr id="13" name="TextBox 13"/>
              <p:cNvSpPr txBox="1"/>
              <p:nvPr/>
            </p:nvSpPr>
            <p:spPr>
              <a:xfrm>
                <a:off x="0" y="-47625"/>
                <a:ext cx="17483" cy="62146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7695907"/>
              <a:chOff x="0" y="0"/>
              <a:chExt cx="17107" cy="573836"/>
            </a:xfrm>
          </p:grpSpPr>
          <p:sp>
            <p:nvSpPr>
              <p:cNvPr id="15" name="Freeform 15"/>
              <p:cNvSpPr/>
              <p:nvPr/>
            </p:nvSpPr>
            <p:spPr>
              <a:xfrm>
                <a:off x="0" y="0"/>
                <a:ext cx="17107" cy="573836"/>
              </a:xfrm>
              <a:custGeom>
                <a:avLst/>
                <a:gdLst/>
                <a:ahLst/>
                <a:cxnLst/>
                <a:rect l="l" t="t" r="r" b="b"/>
                <a:pathLst>
                  <a:path w="17107" h="573836">
                    <a:moveTo>
                      <a:pt x="0" y="0"/>
                    </a:moveTo>
                    <a:lnTo>
                      <a:pt x="17107" y="0"/>
                    </a:lnTo>
                    <a:lnTo>
                      <a:pt x="17107" y="573836"/>
                    </a:lnTo>
                    <a:lnTo>
                      <a:pt x="0" y="573836"/>
                    </a:lnTo>
                    <a:close/>
                  </a:path>
                </a:pathLst>
              </a:custGeom>
              <a:solidFill>
                <a:srgbClr val="465265"/>
              </a:solidFill>
            </p:spPr>
          </p:sp>
          <p:sp>
            <p:nvSpPr>
              <p:cNvPr id="16" name="TextBox 16"/>
              <p:cNvSpPr txBox="1"/>
              <p:nvPr/>
            </p:nvSpPr>
            <p:spPr>
              <a:xfrm>
                <a:off x="0" y="-47625"/>
                <a:ext cx="17107" cy="62146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599141"/>
            <a:ext cx="9114397" cy="30670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Aluminum foil reacting with air.</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Understanding the reaction between aluminum and oxygen helps prevent corrosion and maintain the integrity of aluminum-based products, such as aluminum foil and aluminum alloys used in aircraft construction.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685149"/>
            <a:ext cx="10136667" cy="6343023"/>
            <a:chOff x="0" y="0"/>
            <a:chExt cx="13515556" cy="8457364"/>
          </a:xfrm>
        </p:grpSpPr>
        <p:grpSp>
          <p:nvGrpSpPr>
            <p:cNvPr id="8" name="Group 8"/>
            <p:cNvGrpSpPr/>
            <p:nvPr/>
          </p:nvGrpSpPr>
          <p:grpSpPr>
            <a:xfrm>
              <a:off x="0" y="0"/>
              <a:ext cx="13515556" cy="8457364"/>
              <a:chOff x="0" y="0"/>
              <a:chExt cx="1277359" cy="799308"/>
            </a:xfrm>
          </p:grpSpPr>
          <p:sp>
            <p:nvSpPr>
              <p:cNvPr id="9" name="Freeform 9"/>
              <p:cNvSpPr/>
              <p:nvPr/>
            </p:nvSpPr>
            <p:spPr>
              <a:xfrm>
                <a:off x="0" y="0"/>
                <a:ext cx="1277360" cy="799308"/>
              </a:xfrm>
              <a:custGeom>
                <a:avLst/>
                <a:gdLst/>
                <a:ahLst/>
                <a:cxnLst/>
                <a:rect l="l" t="t" r="r" b="b"/>
                <a:pathLst>
                  <a:path w="1277360" h="799308">
                    <a:moveTo>
                      <a:pt x="0" y="0"/>
                    </a:moveTo>
                    <a:lnTo>
                      <a:pt x="1277360" y="0"/>
                    </a:lnTo>
                    <a:lnTo>
                      <a:pt x="1277360" y="799308"/>
                    </a:lnTo>
                    <a:lnTo>
                      <a:pt x="0" y="799308"/>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46933"/>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457364"/>
              <a:chOff x="0" y="0"/>
              <a:chExt cx="17483" cy="630613"/>
            </a:xfrm>
          </p:grpSpPr>
          <p:sp>
            <p:nvSpPr>
              <p:cNvPr id="12" name="Freeform 12"/>
              <p:cNvSpPr/>
              <p:nvPr/>
            </p:nvSpPr>
            <p:spPr>
              <a:xfrm>
                <a:off x="0" y="0"/>
                <a:ext cx="17483" cy="630613"/>
              </a:xfrm>
              <a:custGeom>
                <a:avLst/>
                <a:gdLst/>
                <a:ahLst/>
                <a:cxnLst/>
                <a:rect l="l" t="t" r="r" b="b"/>
                <a:pathLst>
                  <a:path w="17483" h="630613">
                    <a:moveTo>
                      <a:pt x="0" y="0"/>
                    </a:moveTo>
                    <a:lnTo>
                      <a:pt x="17483" y="0"/>
                    </a:lnTo>
                    <a:lnTo>
                      <a:pt x="17483" y="630613"/>
                    </a:lnTo>
                    <a:lnTo>
                      <a:pt x="0" y="630613"/>
                    </a:lnTo>
                    <a:close/>
                  </a:path>
                </a:pathLst>
              </a:custGeom>
              <a:solidFill>
                <a:srgbClr val="465265"/>
              </a:solidFill>
            </p:spPr>
          </p:sp>
          <p:sp>
            <p:nvSpPr>
              <p:cNvPr id="13" name="TextBox 13"/>
              <p:cNvSpPr txBox="1"/>
              <p:nvPr/>
            </p:nvSpPr>
            <p:spPr>
              <a:xfrm>
                <a:off x="0" y="-47625"/>
                <a:ext cx="17483" cy="678238"/>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457364"/>
              <a:chOff x="0" y="0"/>
              <a:chExt cx="17107" cy="630613"/>
            </a:xfrm>
          </p:grpSpPr>
          <p:sp>
            <p:nvSpPr>
              <p:cNvPr id="15" name="Freeform 15"/>
              <p:cNvSpPr/>
              <p:nvPr/>
            </p:nvSpPr>
            <p:spPr>
              <a:xfrm>
                <a:off x="0" y="0"/>
                <a:ext cx="17107" cy="630613"/>
              </a:xfrm>
              <a:custGeom>
                <a:avLst/>
                <a:gdLst/>
                <a:ahLst/>
                <a:cxnLst/>
                <a:rect l="l" t="t" r="r" b="b"/>
                <a:pathLst>
                  <a:path w="17107" h="630613">
                    <a:moveTo>
                      <a:pt x="0" y="0"/>
                    </a:moveTo>
                    <a:lnTo>
                      <a:pt x="17107" y="0"/>
                    </a:lnTo>
                    <a:lnTo>
                      <a:pt x="17107" y="630613"/>
                    </a:lnTo>
                    <a:lnTo>
                      <a:pt x="0" y="630613"/>
                    </a:lnTo>
                    <a:close/>
                  </a:path>
                </a:pathLst>
              </a:custGeom>
              <a:solidFill>
                <a:srgbClr val="465265"/>
              </a:solidFill>
            </p:spPr>
          </p:sp>
          <p:sp>
            <p:nvSpPr>
              <p:cNvPr id="16" name="TextBox 16"/>
              <p:cNvSpPr txBox="1"/>
              <p:nvPr/>
            </p:nvSpPr>
            <p:spPr>
              <a:xfrm>
                <a:off x="0" y="-47625"/>
                <a:ext cx="17107" cy="678238"/>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136330"/>
            <a:ext cx="9114397" cy="52578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Weathering of limestone by acid rain.</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Limestone is a sedimentary rock composed primarily of calcium carbonate. When limestone is exposed to acid rain, which contains sulfuric and nitric acids, it undergoes a chemical reaction called acid erosion. The acid reacts with the calcium carbonate in limestone, dissolving it and causing the rock to deteriorate over time. Understanding the reaction between acid rain and limestone highlights the environmental impact of air pollution 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685149"/>
            <a:ext cx="10136667" cy="6310424"/>
            <a:chOff x="0" y="0"/>
            <a:chExt cx="13515556" cy="8413899"/>
          </a:xfrm>
        </p:grpSpPr>
        <p:grpSp>
          <p:nvGrpSpPr>
            <p:cNvPr id="8" name="Group 8"/>
            <p:cNvGrpSpPr/>
            <p:nvPr/>
          </p:nvGrpSpPr>
          <p:grpSpPr>
            <a:xfrm>
              <a:off x="0" y="0"/>
              <a:ext cx="13515556" cy="8413899"/>
              <a:chOff x="0" y="0"/>
              <a:chExt cx="1277359" cy="795200"/>
            </a:xfrm>
          </p:grpSpPr>
          <p:sp>
            <p:nvSpPr>
              <p:cNvPr id="9" name="Freeform 9"/>
              <p:cNvSpPr/>
              <p:nvPr/>
            </p:nvSpPr>
            <p:spPr>
              <a:xfrm>
                <a:off x="0" y="0"/>
                <a:ext cx="1277360" cy="795200"/>
              </a:xfrm>
              <a:custGeom>
                <a:avLst/>
                <a:gdLst/>
                <a:ahLst/>
                <a:cxnLst/>
                <a:rect l="l" t="t" r="r" b="b"/>
                <a:pathLst>
                  <a:path w="1277360" h="795200">
                    <a:moveTo>
                      <a:pt x="0" y="0"/>
                    </a:moveTo>
                    <a:lnTo>
                      <a:pt x="1277360" y="0"/>
                    </a:lnTo>
                    <a:lnTo>
                      <a:pt x="1277360" y="795200"/>
                    </a:lnTo>
                    <a:lnTo>
                      <a:pt x="0" y="795200"/>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42825"/>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413899"/>
              <a:chOff x="0" y="0"/>
              <a:chExt cx="17483" cy="627372"/>
            </a:xfrm>
          </p:grpSpPr>
          <p:sp>
            <p:nvSpPr>
              <p:cNvPr id="12" name="Freeform 12"/>
              <p:cNvSpPr/>
              <p:nvPr/>
            </p:nvSpPr>
            <p:spPr>
              <a:xfrm>
                <a:off x="0" y="0"/>
                <a:ext cx="17483" cy="627372"/>
              </a:xfrm>
              <a:custGeom>
                <a:avLst/>
                <a:gdLst/>
                <a:ahLst/>
                <a:cxnLst/>
                <a:rect l="l" t="t" r="r" b="b"/>
                <a:pathLst>
                  <a:path w="17483" h="627372">
                    <a:moveTo>
                      <a:pt x="0" y="0"/>
                    </a:moveTo>
                    <a:lnTo>
                      <a:pt x="17483" y="0"/>
                    </a:lnTo>
                    <a:lnTo>
                      <a:pt x="17483" y="627372"/>
                    </a:lnTo>
                    <a:lnTo>
                      <a:pt x="0" y="627372"/>
                    </a:lnTo>
                    <a:close/>
                  </a:path>
                </a:pathLst>
              </a:custGeom>
              <a:solidFill>
                <a:srgbClr val="465265"/>
              </a:solidFill>
            </p:spPr>
          </p:sp>
          <p:sp>
            <p:nvSpPr>
              <p:cNvPr id="13" name="TextBox 13"/>
              <p:cNvSpPr txBox="1"/>
              <p:nvPr/>
            </p:nvSpPr>
            <p:spPr>
              <a:xfrm>
                <a:off x="0" y="-47625"/>
                <a:ext cx="17483" cy="674997"/>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413899"/>
              <a:chOff x="0" y="0"/>
              <a:chExt cx="17107" cy="627372"/>
            </a:xfrm>
          </p:grpSpPr>
          <p:sp>
            <p:nvSpPr>
              <p:cNvPr id="15" name="Freeform 15"/>
              <p:cNvSpPr/>
              <p:nvPr/>
            </p:nvSpPr>
            <p:spPr>
              <a:xfrm>
                <a:off x="0" y="0"/>
                <a:ext cx="17107" cy="627372"/>
              </a:xfrm>
              <a:custGeom>
                <a:avLst/>
                <a:gdLst/>
                <a:ahLst/>
                <a:cxnLst/>
                <a:rect l="l" t="t" r="r" b="b"/>
                <a:pathLst>
                  <a:path w="17107" h="627372">
                    <a:moveTo>
                      <a:pt x="0" y="0"/>
                    </a:moveTo>
                    <a:lnTo>
                      <a:pt x="17107" y="0"/>
                    </a:lnTo>
                    <a:lnTo>
                      <a:pt x="17107" y="627372"/>
                    </a:lnTo>
                    <a:lnTo>
                      <a:pt x="0" y="627372"/>
                    </a:lnTo>
                    <a:close/>
                  </a:path>
                </a:pathLst>
              </a:custGeom>
              <a:solidFill>
                <a:srgbClr val="465265"/>
              </a:solidFill>
            </p:spPr>
          </p:sp>
          <p:sp>
            <p:nvSpPr>
              <p:cNvPr id="16" name="TextBox 16"/>
              <p:cNvSpPr txBox="1"/>
              <p:nvPr/>
            </p:nvSpPr>
            <p:spPr>
              <a:xfrm>
                <a:off x="0" y="-47625"/>
                <a:ext cx="17107" cy="674997"/>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136330"/>
            <a:ext cx="9114397" cy="48196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Weathering of limestone by acid rain.</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natural rock formations, historical monuments, and building materials. The reaction between acid rain and limestone highlights the environmental impact of air pollution on natural landscapes and architectural heritage. It contributes to the degradation of limestone buildings, statues, and monuments, such as the limestone facades of historic buildings and sculptures in urban environments.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685149"/>
            <a:ext cx="10136667" cy="6277825"/>
            <a:chOff x="0" y="0"/>
            <a:chExt cx="13515556" cy="8370433"/>
          </a:xfrm>
        </p:grpSpPr>
        <p:grpSp>
          <p:nvGrpSpPr>
            <p:cNvPr id="8" name="Group 8"/>
            <p:cNvGrpSpPr/>
            <p:nvPr/>
          </p:nvGrpSpPr>
          <p:grpSpPr>
            <a:xfrm>
              <a:off x="0" y="0"/>
              <a:ext cx="13515556" cy="8370433"/>
              <a:chOff x="0" y="0"/>
              <a:chExt cx="1277359" cy="791092"/>
            </a:xfrm>
          </p:grpSpPr>
          <p:sp>
            <p:nvSpPr>
              <p:cNvPr id="9" name="Freeform 9"/>
              <p:cNvSpPr/>
              <p:nvPr/>
            </p:nvSpPr>
            <p:spPr>
              <a:xfrm>
                <a:off x="0" y="0"/>
                <a:ext cx="1277360" cy="791092"/>
              </a:xfrm>
              <a:custGeom>
                <a:avLst/>
                <a:gdLst/>
                <a:ahLst/>
                <a:cxnLst/>
                <a:rect l="l" t="t" r="r" b="b"/>
                <a:pathLst>
                  <a:path w="1277360" h="791092">
                    <a:moveTo>
                      <a:pt x="0" y="0"/>
                    </a:moveTo>
                    <a:lnTo>
                      <a:pt x="1277360" y="0"/>
                    </a:lnTo>
                    <a:lnTo>
                      <a:pt x="1277360" y="791092"/>
                    </a:lnTo>
                    <a:lnTo>
                      <a:pt x="0" y="791092"/>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38717"/>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370433"/>
              <a:chOff x="0" y="0"/>
              <a:chExt cx="17483" cy="624131"/>
            </a:xfrm>
          </p:grpSpPr>
          <p:sp>
            <p:nvSpPr>
              <p:cNvPr id="12" name="Freeform 12"/>
              <p:cNvSpPr/>
              <p:nvPr/>
            </p:nvSpPr>
            <p:spPr>
              <a:xfrm>
                <a:off x="0" y="0"/>
                <a:ext cx="17483" cy="624131"/>
              </a:xfrm>
              <a:custGeom>
                <a:avLst/>
                <a:gdLst/>
                <a:ahLst/>
                <a:cxnLst/>
                <a:rect l="l" t="t" r="r" b="b"/>
                <a:pathLst>
                  <a:path w="17483" h="624131">
                    <a:moveTo>
                      <a:pt x="0" y="0"/>
                    </a:moveTo>
                    <a:lnTo>
                      <a:pt x="17483" y="0"/>
                    </a:lnTo>
                    <a:lnTo>
                      <a:pt x="17483" y="624131"/>
                    </a:lnTo>
                    <a:lnTo>
                      <a:pt x="0" y="624131"/>
                    </a:lnTo>
                    <a:close/>
                  </a:path>
                </a:pathLst>
              </a:custGeom>
              <a:solidFill>
                <a:srgbClr val="465265"/>
              </a:solidFill>
            </p:spPr>
          </p:sp>
          <p:sp>
            <p:nvSpPr>
              <p:cNvPr id="13" name="TextBox 13"/>
              <p:cNvSpPr txBox="1"/>
              <p:nvPr/>
            </p:nvSpPr>
            <p:spPr>
              <a:xfrm>
                <a:off x="0" y="-47625"/>
                <a:ext cx="17483" cy="671756"/>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370433"/>
              <a:chOff x="0" y="0"/>
              <a:chExt cx="17107" cy="624131"/>
            </a:xfrm>
          </p:grpSpPr>
          <p:sp>
            <p:nvSpPr>
              <p:cNvPr id="15" name="Freeform 15"/>
              <p:cNvSpPr/>
              <p:nvPr/>
            </p:nvSpPr>
            <p:spPr>
              <a:xfrm>
                <a:off x="0" y="0"/>
                <a:ext cx="17107" cy="624131"/>
              </a:xfrm>
              <a:custGeom>
                <a:avLst/>
                <a:gdLst/>
                <a:ahLst/>
                <a:cxnLst/>
                <a:rect l="l" t="t" r="r" b="b"/>
                <a:pathLst>
                  <a:path w="17107" h="624131">
                    <a:moveTo>
                      <a:pt x="0" y="0"/>
                    </a:moveTo>
                    <a:lnTo>
                      <a:pt x="17107" y="0"/>
                    </a:lnTo>
                    <a:lnTo>
                      <a:pt x="17107" y="624131"/>
                    </a:lnTo>
                    <a:lnTo>
                      <a:pt x="0" y="624131"/>
                    </a:lnTo>
                    <a:close/>
                  </a:path>
                </a:pathLst>
              </a:custGeom>
              <a:solidFill>
                <a:srgbClr val="465265"/>
              </a:solidFill>
            </p:spPr>
          </p:sp>
          <p:sp>
            <p:nvSpPr>
              <p:cNvPr id="16" name="TextBox 16"/>
              <p:cNvSpPr txBox="1"/>
              <p:nvPr/>
            </p:nvSpPr>
            <p:spPr>
              <a:xfrm>
                <a:off x="0" y="-47625"/>
                <a:ext cx="17107" cy="671756"/>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l">
              <a:lnSpc>
                <a:spcPts val="5400"/>
              </a:lnSpc>
            </a:pPr>
            <a:r>
              <a:rPr lang="en-US" sz="4500">
                <a:solidFill>
                  <a:srgbClr val="FF8461"/>
                </a:solidFill>
                <a:latin typeface="Fredoka"/>
                <a:ea typeface="Fredoka"/>
                <a:cs typeface="Fredoka"/>
                <a:sym typeface="Fredoka"/>
              </a:rPr>
              <a:t>WORKED EXAMPLE</a:t>
            </a:r>
          </a:p>
        </p:txBody>
      </p:sp>
      <p:sp>
        <p:nvSpPr>
          <p:cNvPr id="18" name="TextBox 18"/>
          <p:cNvSpPr txBox="1"/>
          <p:nvPr/>
        </p:nvSpPr>
        <p:spPr>
          <a:xfrm>
            <a:off x="7682550" y="3136330"/>
            <a:ext cx="9114397" cy="43815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Tarnishing of silver jewelry.</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 When silver comes into contact with sulfur compounds present in the air, water, or certain materials, it undergoes a chemical reaction called tarnishing. Understanding the reaction between silver and sulfur compounds helps explain the tarnishing process and guides the proper care and maintenance of silver objects and jewelry.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3940624" y="2785287"/>
            <a:ext cx="10286138" cy="4344772"/>
            <a:chOff x="0" y="0"/>
            <a:chExt cx="2709106" cy="1144302"/>
          </a:xfrm>
        </p:grpSpPr>
        <p:sp>
          <p:nvSpPr>
            <p:cNvPr id="4" name="Freeform 4"/>
            <p:cNvSpPr/>
            <p:nvPr/>
          </p:nvSpPr>
          <p:spPr>
            <a:xfrm>
              <a:off x="0" y="0"/>
              <a:ext cx="2709106" cy="1144302"/>
            </a:xfrm>
            <a:custGeom>
              <a:avLst/>
              <a:gdLst/>
              <a:ahLst/>
              <a:cxnLst/>
              <a:rect l="l" t="t" r="r" b="b"/>
              <a:pathLst>
                <a:path w="2709106" h="1144302">
                  <a:moveTo>
                    <a:pt x="0" y="0"/>
                  </a:moveTo>
                  <a:lnTo>
                    <a:pt x="2709106" y="0"/>
                  </a:lnTo>
                  <a:lnTo>
                    <a:pt x="2709106" y="1144302"/>
                  </a:lnTo>
                  <a:lnTo>
                    <a:pt x="0" y="1144302"/>
                  </a:lnTo>
                  <a:close/>
                </a:path>
              </a:pathLst>
            </a:custGeom>
            <a:solidFill>
              <a:srgbClr val="59687F"/>
            </a:solidFill>
          </p:spPr>
        </p:sp>
        <p:sp>
          <p:nvSpPr>
            <p:cNvPr id="5" name="TextBox 5"/>
            <p:cNvSpPr txBox="1"/>
            <p:nvPr/>
          </p:nvSpPr>
          <p:spPr>
            <a:xfrm>
              <a:off x="0" y="-47625"/>
              <a:ext cx="2709106" cy="119192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4310128" y="3178914"/>
            <a:ext cx="9417722" cy="3524601"/>
            <a:chOff x="0" y="0"/>
            <a:chExt cx="2480388" cy="928290"/>
          </a:xfrm>
        </p:grpSpPr>
        <p:sp>
          <p:nvSpPr>
            <p:cNvPr id="7" name="Freeform 7"/>
            <p:cNvSpPr/>
            <p:nvPr/>
          </p:nvSpPr>
          <p:spPr>
            <a:xfrm>
              <a:off x="0" y="0"/>
              <a:ext cx="2480388" cy="928290"/>
            </a:xfrm>
            <a:custGeom>
              <a:avLst/>
              <a:gdLst/>
              <a:ahLst/>
              <a:cxnLst/>
              <a:rect l="l" t="t" r="r" b="b"/>
              <a:pathLst>
                <a:path w="2480388" h="928290">
                  <a:moveTo>
                    <a:pt x="0" y="0"/>
                  </a:moveTo>
                  <a:lnTo>
                    <a:pt x="2480388" y="0"/>
                  </a:lnTo>
                  <a:lnTo>
                    <a:pt x="2480388" y="928290"/>
                  </a:lnTo>
                  <a:lnTo>
                    <a:pt x="0" y="928290"/>
                  </a:lnTo>
                  <a:close/>
                </a:path>
              </a:pathLst>
            </a:custGeom>
            <a:solidFill>
              <a:srgbClr val="E8EEFD"/>
            </a:solidFill>
          </p:spPr>
        </p:sp>
        <p:sp>
          <p:nvSpPr>
            <p:cNvPr id="8" name="TextBox 8"/>
            <p:cNvSpPr txBox="1"/>
            <p:nvPr/>
          </p:nvSpPr>
          <p:spPr>
            <a:xfrm>
              <a:off x="0" y="-47625"/>
              <a:ext cx="2480388" cy="97591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940624" y="2768829"/>
            <a:ext cx="217104" cy="4344772"/>
            <a:chOff x="0" y="0"/>
            <a:chExt cx="57180" cy="1144302"/>
          </a:xfrm>
        </p:grpSpPr>
        <p:sp>
          <p:nvSpPr>
            <p:cNvPr id="10" name="Freeform 10"/>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1" name="TextBox 11"/>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4009658" y="2785287"/>
            <a:ext cx="217104" cy="4344772"/>
            <a:chOff x="0" y="0"/>
            <a:chExt cx="57180" cy="1144302"/>
          </a:xfrm>
        </p:grpSpPr>
        <p:sp>
          <p:nvSpPr>
            <p:cNvPr id="13" name="Freeform 13"/>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4" name="TextBox 14"/>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0" y="2111925"/>
            <a:ext cx="4882379" cy="9624761"/>
          </a:xfrm>
          <a:custGeom>
            <a:avLst/>
            <a:gdLst/>
            <a:ahLst/>
            <a:cxnLst/>
            <a:rect l="l" t="t" r="r" b="b"/>
            <a:pathLst>
              <a:path w="4882379" h="9624761">
                <a:moveTo>
                  <a:pt x="0" y="0"/>
                </a:moveTo>
                <a:lnTo>
                  <a:pt x="4882379" y="0"/>
                </a:lnTo>
                <a:lnTo>
                  <a:pt x="4882379" y="9624760"/>
                </a:lnTo>
                <a:lnTo>
                  <a:pt x="0" y="96247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10615157" y="4941215"/>
            <a:ext cx="14586339" cy="6454455"/>
          </a:xfrm>
          <a:custGeom>
            <a:avLst/>
            <a:gdLst/>
            <a:ahLst/>
            <a:cxnLst/>
            <a:rect l="l" t="t" r="r" b="b"/>
            <a:pathLst>
              <a:path w="14586339" h="6454455">
                <a:moveTo>
                  <a:pt x="0" y="0"/>
                </a:moveTo>
                <a:lnTo>
                  <a:pt x="14586339" y="0"/>
                </a:lnTo>
                <a:lnTo>
                  <a:pt x="14586339" y="6454455"/>
                </a:lnTo>
                <a:lnTo>
                  <a:pt x="0" y="6454455"/>
                </a:lnTo>
                <a:lnTo>
                  <a:pt x="0" y="0"/>
                </a:lnTo>
                <a:close/>
              </a:path>
            </a:pathLst>
          </a:custGeom>
          <a:blipFill>
            <a:blip r:embed="rId5"/>
            <a:stretch>
              <a:fillRect/>
            </a:stretch>
          </a:blipFill>
        </p:spPr>
      </p:sp>
      <p:grpSp>
        <p:nvGrpSpPr>
          <p:cNvPr id="17" name="Group 17"/>
          <p:cNvGrpSpPr/>
          <p:nvPr/>
        </p:nvGrpSpPr>
        <p:grpSpPr>
          <a:xfrm>
            <a:off x="-566209" y="9642589"/>
            <a:ext cx="18854209" cy="763941"/>
            <a:chOff x="0" y="0"/>
            <a:chExt cx="4965718" cy="201203"/>
          </a:xfrm>
        </p:grpSpPr>
        <p:sp>
          <p:nvSpPr>
            <p:cNvPr id="18" name="Freeform 18"/>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9" name="TextBox 19"/>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4958186" y="3766465"/>
            <a:ext cx="8140657" cy="1749425"/>
          </a:xfrm>
          <a:prstGeom prst="rect">
            <a:avLst/>
          </a:prstGeom>
        </p:spPr>
        <p:txBody>
          <a:bodyPr lIns="0" tIns="0" rIns="0" bIns="0" rtlCol="0" anchor="t">
            <a:spAutoFit/>
          </a:bodyPr>
          <a:lstStyle/>
          <a:p>
            <a:pPr algn="ctr">
              <a:lnSpc>
                <a:spcPts val="7000"/>
              </a:lnSpc>
            </a:pPr>
            <a:r>
              <a:rPr lang="en-US" sz="5000" dirty="0">
                <a:solidFill>
                  <a:srgbClr val="FA7444"/>
                </a:solidFill>
                <a:latin typeface="Fredoka"/>
                <a:ea typeface="Fredoka"/>
                <a:cs typeface="Fredoka"/>
                <a:sym typeface="Fredoka"/>
              </a:rPr>
              <a:t>Degradable or Biodegradable</a:t>
            </a:r>
          </a:p>
        </p:txBody>
      </p:sp>
      <p:sp>
        <p:nvSpPr>
          <p:cNvPr id="21" name="TextBox 21"/>
          <p:cNvSpPr txBox="1"/>
          <p:nvPr/>
        </p:nvSpPr>
        <p:spPr>
          <a:xfrm>
            <a:off x="4310128" y="1397550"/>
            <a:ext cx="3381213" cy="1285875"/>
          </a:xfrm>
          <a:prstGeom prst="rect">
            <a:avLst/>
          </a:prstGeom>
        </p:spPr>
        <p:txBody>
          <a:bodyPr lIns="0" tIns="0" rIns="0" bIns="0" rtlCol="0" anchor="t">
            <a:spAutoFit/>
          </a:bodyPr>
          <a:lstStyle/>
          <a:p>
            <a:pPr algn="ctr">
              <a:lnSpc>
                <a:spcPts val="10500"/>
              </a:lnSpc>
            </a:pPr>
            <a:r>
              <a:rPr lang="en-US" sz="7500" dirty="0">
                <a:solidFill>
                  <a:srgbClr val="264899"/>
                </a:solidFill>
                <a:latin typeface="Fredoka"/>
                <a:ea typeface="Fredoka"/>
                <a:cs typeface="Fredoka"/>
                <a:sym typeface="Fredoka"/>
              </a:rPr>
              <a:t>DAY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ctr">
              <a:lnSpc>
                <a:spcPts val="5400"/>
              </a:lnSpc>
            </a:pPr>
            <a:r>
              <a:rPr lang="en-US" sz="4500" dirty="0">
                <a:solidFill>
                  <a:srgbClr val="FF8461"/>
                </a:solidFill>
                <a:latin typeface="Fredoka"/>
                <a:ea typeface="Fredoka"/>
                <a:cs typeface="Fredoka"/>
                <a:sym typeface="Fredoka"/>
              </a:rPr>
              <a:t>DEGRADABLE</a:t>
            </a:r>
          </a:p>
        </p:txBody>
      </p:sp>
      <p:sp>
        <p:nvSpPr>
          <p:cNvPr id="18" name="TextBox 18"/>
          <p:cNvSpPr txBox="1"/>
          <p:nvPr/>
        </p:nvSpPr>
        <p:spPr>
          <a:xfrm>
            <a:off x="7682550" y="3370949"/>
            <a:ext cx="9114397" cy="3067050"/>
          </a:xfrm>
          <a:prstGeom prst="rect">
            <a:avLst/>
          </a:prstGeom>
        </p:spPr>
        <p:txBody>
          <a:bodyPr lIns="0" tIns="0" rIns="0" bIns="0" rtlCol="0" anchor="t">
            <a:spAutoFit/>
          </a:bodyPr>
          <a:lstStyle/>
          <a:p>
            <a:pPr marL="626109" lvl="1" indent="-313054" algn="l">
              <a:lnSpc>
                <a:spcPts val="3479"/>
              </a:lnSpc>
              <a:buFont typeface="Arial"/>
              <a:buChar char="•"/>
            </a:pPr>
            <a:r>
              <a:rPr lang="en-US" sz="2899" dirty="0">
                <a:solidFill>
                  <a:srgbClr val="FF8461"/>
                </a:solidFill>
                <a:latin typeface="Fredoka"/>
                <a:ea typeface="Fredoka"/>
                <a:cs typeface="Fredoka"/>
                <a:sym typeface="Fredoka"/>
              </a:rPr>
              <a:t>Degradable materials</a:t>
            </a:r>
            <a:r>
              <a:rPr lang="en-US" sz="2899" dirty="0">
                <a:solidFill>
                  <a:srgbClr val="689BCB"/>
                </a:solidFill>
                <a:latin typeface="Fredoka"/>
                <a:ea typeface="Fredoka"/>
                <a:cs typeface="Fredoka"/>
                <a:sym typeface="Fredoka"/>
              </a:rPr>
              <a:t> are substances that can break down into smaller parts over time through chemical or physical processes such as exposure to sunlight, heat, or moisture. These materials may take a long time to decompose and may still leave harmful residues in the environment even after breaking down.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1381125"/>
          </a:xfrm>
          <a:prstGeom prst="rect">
            <a:avLst/>
          </a:prstGeom>
        </p:spPr>
        <p:txBody>
          <a:bodyPr lIns="0" tIns="0" rIns="0" bIns="0" rtlCol="0" anchor="t">
            <a:spAutoFit/>
          </a:bodyPr>
          <a:lstStyle/>
          <a:p>
            <a:pPr algn="ctr">
              <a:lnSpc>
                <a:spcPts val="5400"/>
              </a:lnSpc>
            </a:pPr>
            <a:r>
              <a:rPr lang="en-US" sz="4500" dirty="0">
                <a:solidFill>
                  <a:srgbClr val="FF8461"/>
                </a:solidFill>
                <a:latin typeface="Fredoka"/>
                <a:ea typeface="Fredoka"/>
                <a:cs typeface="Fredoka"/>
                <a:sym typeface="Fredoka"/>
              </a:rPr>
              <a:t>WORKED EXAMPLE</a:t>
            </a:r>
          </a:p>
          <a:p>
            <a:pPr algn="ctr">
              <a:lnSpc>
                <a:spcPts val="5400"/>
              </a:lnSpc>
            </a:pPr>
            <a:r>
              <a:rPr lang="en-US" sz="4500" dirty="0">
                <a:solidFill>
                  <a:srgbClr val="FF8461"/>
                </a:solidFill>
                <a:latin typeface="Fredoka"/>
                <a:ea typeface="Fredoka"/>
                <a:cs typeface="Fredoka"/>
                <a:sym typeface="Fredoka"/>
              </a:rPr>
              <a:t>DEGRADABLE</a:t>
            </a:r>
          </a:p>
        </p:txBody>
      </p:sp>
      <p:sp>
        <p:nvSpPr>
          <p:cNvPr id="18" name="TextBox 18"/>
          <p:cNvSpPr txBox="1"/>
          <p:nvPr/>
        </p:nvSpPr>
        <p:spPr>
          <a:xfrm>
            <a:off x="7682550" y="3370949"/>
            <a:ext cx="9114397" cy="43815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1: Plastic Straw</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 A plastic straw is a cylindrical tube made from plastic polymers, commonly used for drinking beverages. The plastic straw is degradable, meaning it can break down into smaller pieces over time when exposed to environmental factors such as sunlight, heat, and moisture. However, it does not break down into simpler substances through biological processes.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fade">
                                      <p:cBhvr>
                                        <p:cTn id="10" dur="500"/>
                                        <p:tgtEl>
                                          <p:spTgt spid="1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xEl>
                                              <p:pRg st="0" end="0"/>
                                            </p:txEl>
                                          </p:spTgt>
                                        </p:tgtEl>
                                        <p:attrNameLst>
                                          <p:attrName>style.visibility</p:attrName>
                                        </p:attrNameLst>
                                      </p:cBhvr>
                                      <p:to>
                                        <p:strVal val="visible"/>
                                      </p:to>
                                    </p:set>
                                    <p:animEffect transition="in" filter="fade">
                                      <p:cBhvr>
                                        <p:cTn id="20" dur="500"/>
                                        <p:tgtEl>
                                          <p:spTgt spid="18">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8">
                                            <p:txEl>
                                              <p:pRg st="2" end="2"/>
                                            </p:txEl>
                                          </p:spTgt>
                                        </p:tgtEl>
                                        <p:attrNameLst>
                                          <p:attrName>style.visibility</p:attrName>
                                        </p:attrNameLst>
                                      </p:cBhvr>
                                      <p:to>
                                        <p:strVal val="visible"/>
                                      </p:to>
                                    </p:set>
                                    <p:animEffect transition="in" filter="fade">
                                      <p:cBhvr>
                                        <p:cTn id="23"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20669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DEGRADABLE</a:t>
            </a:r>
          </a:p>
          <a:p>
            <a:pPr algn="ctr">
              <a:lnSpc>
                <a:spcPts val="5400"/>
              </a:lnSpc>
            </a:pPr>
            <a:endParaRPr lang="en-US" sz="4500">
              <a:solidFill>
                <a:srgbClr val="FF8461"/>
              </a:solidFill>
              <a:latin typeface="Fredoka"/>
              <a:ea typeface="Fredoka"/>
              <a:cs typeface="Fredoka"/>
              <a:sym typeface="Fredoka"/>
            </a:endParaRPr>
          </a:p>
        </p:txBody>
      </p:sp>
      <p:sp>
        <p:nvSpPr>
          <p:cNvPr id="18" name="TextBox 18"/>
          <p:cNvSpPr txBox="1"/>
          <p:nvPr/>
        </p:nvSpPr>
        <p:spPr>
          <a:xfrm>
            <a:off x="7682550" y="3370949"/>
            <a:ext cx="9114397" cy="39433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1: Plastic Straw</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 Over time, exposure to sunlight (UV radiation) and environmental stressors can cause the plastic straw to degrade physically, resulting in fragmentation into smaller plastic particles known as microplastics. These microplastics can persist in the environment for extended periods, posing risks to wildlife and ecosystems.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20669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DEGRADABLE</a:t>
            </a:r>
          </a:p>
          <a:p>
            <a:pPr algn="ctr">
              <a:lnSpc>
                <a:spcPts val="5400"/>
              </a:lnSpc>
            </a:pPr>
            <a:endParaRPr lang="en-US" sz="4500">
              <a:solidFill>
                <a:srgbClr val="FF8461"/>
              </a:solidFill>
              <a:latin typeface="Fredoka"/>
              <a:ea typeface="Fredoka"/>
              <a:cs typeface="Fredoka"/>
              <a:sym typeface="Fredoka"/>
            </a:endParaRPr>
          </a:p>
        </p:txBody>
      </p:sp>
      <p:sp>
        <p:nvSpPr>
          <p:cNvPr id="18" name="TextBox 18"/>
          <p:cNvSpPr txBox="1"/>
          <p:nvPr/>
        </p:nvSpPr>
        <p:spPr>
          <a:xfrm>
            <a:off x="7682550" y="3370949"/>
            <a:ext cx="9114397" cy="30670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1: Plastic Straw</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Understanding the degradability of plastic straws highlights the environmental challenges associated with plastic pollution and the importance of reducing single-use plastic consumption.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20669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DEGRADABLE</a:t>
            </a:r>
          </a:p>
          <a:p>
            <a:pPr algn="ctr">
              <a:lnSpc>
                <a:spcPts val="5400"/>
              </a:lnSpc>
            </a:pPr>
            <a:endParaRPr lang="en-US" sz="4500">
              <a:solidFill>
                <a:srgbClr val="FF8461"/>
              </a:solidFill>
              <a:latin typeface="Fredoka"/>
              <a:ea typeface="Fredoka"/>
              <a:cs typeface="Fredoka"/>
              <a:sym typeface="Fredoka"/>
            </a:endParaRPr>
          </a:p>
        </p:txBody>
      </p:sp>
      <p:sp>
        <p:nvSpPr>
          <p:cNvPr id="18" name="TextBox 18"/>
          <p:cNvSpPr txBox="1"/>
          <p:nvPr/>
        </p:nvSpPr>
        <p:spPr>
          <a:xfrm>
            <a:off x="7682550" y="3370949"/>
            <a:ext cx="9114397" cy="52578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2: Polystyrene Foam (Styrofoam)</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Polystyrene foam is a lightweight plastic material commonly used for packaging and food containers. Polystyrene foam is degradable, meaning it can break down into smaller pieces over time when exposed to environmental factors such as sunlight, heat, and mechanical stress. Exposure to sunlight (UV radiation) and physical abrasion can cause polystyrene foam to </a:t>
            </a:r>
            <a:r>
              <a:rPr lang="en-US" sz="2899" dirty="0" err="1">
                <a:solidFill>
                  <a:srgbClr val="689BCB"/>
                </a:solidFill>
                <a:latin typeface="Fredoka"/>
                <a:ea typeface="Fredoka"/>
                <a:cs typeface="Fredoka"/>
                <a:sym typeface="Fredoka"/>
              </a:rPr>
              <a:t>degradeinto</a:t>
            </a:r>
            <a:r>
              <a:rPr lang="en-US" sz="2899" dirty="0">
                <a:solidFill>
                  <a:srgbClr val="689BCB"/>
                </a:solidFill>
                <a:latin typeface="Fredoka"/>
                <a:ea typeface="Fredoka"/>
                <a:cs typeface="Fredoka"/>
                <a:sym typeface="Fredoka"/>
              </a:rPr>
              <a:t> smaller particles known as microplastics.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20669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DEGRADABLE</a:t>
            </a:r>
          </a:p>
          <a:p>
            <a:pPr algn="ctr">
              <a:lnSpc>
                <a:spcPts val="5400"/>
              </a:lnSpc>
            </a:pPr>
            <a:endParaRPr lang="en-US" sz="4500">
              <a:solidFill>
                <a:srgbClr val="FF8461"/>
              </a:solidFill>
              <a:latin typeface="Fredoka"/>
              <a:ea typeface="Fredoka"/>
              <a:cs typeface="Fredoka"/>
              <a:sym typeface="Fredoka"/>
            </a:endParaRPr>
          </a:p>
        </p:txBody>
      </p:sp>
      <p:sp>
        <p:nvSpPr>
          <p:cNvPr id="18" name="TextBox 18"/>
          <p:cNvSpPr txBox="1"/>
          <p:nvPr/>
        </p:nvSpPr>
        <p:spPr>
          <a:xfrm>
            <a:off x="7682550" y="3370949"/>
            <a:ext cx="9114397" cy="39433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2: Polystyrene Foam (Styrofoam)</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These microplastics can persist in the environment and pose risks to wildlife and ecosystems. Understanding the degradability of polystyrene foam highlights the environmental challenges associated with plastic pollution and the importance of reducing single-use plastic consumption.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20669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DEGRADABLE</a:t>
            </a:r>
          </a:p>
          <a:p>
            <a:pPr algn="ctr">
              <a:lnSpc>
                <a:spcPts val="5400"/>
              </a:lnSpc>
            </a:pPr>
            <a:endParaRPr lang="en-US" sz="4500">
              <a:solidFill>
                <a:srgbClr val="FF8461"/>
              </a:solidFill>
              <a:latin typeface="Fredoka"/>
              <a:ea typeface="Fredoka"/>
              <a:cs typeface="Fredoka"/>
              <a:sym typeface="Fredoka"/>
            </a:endParaRPr>
          </a:p>
        </p:txBody>
      </p:sp>
      <p:sp>
        <p:nvSpPr>
          <p:cNvPr id="18" name="TextBox 18"/>
          <p:cNvSpPr txBox="1"/>
          <p:nvPr/>
        </p:nvSpPr>
        <p:spPr>
          <a:xfrm>
            <a:off x="7682550" y="3370949"/>
            <a:ext cx="9114397" cy="43815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3: Nylon Fishing Line</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Nylon fishing line is a synthetic polymer material used for fishing and other recreational activities. Nylon fishing line is degradable, meaning it can break down into smaller pieces over time under environmental conditions. Exposure to sunlight (UV radiation) and mechanical stress can cause nylon fishing lines to degrade into smaller fragments.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20669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DEGRADABLE</a:t>
            </a:r>
          </a:p>
          <a:p>
            <a:pPr algn="ctr">
              <a:lnSpc>
                <a:spcPts val="5400"/>
              </a:lnSpc>
            </a:pPr>
            <a:endParaRPr lang="en-US" sz="4500">
              <a:solidFill>
                <a:srgbClr val="FF8461"/>
              </a:solidFill>
              <a:latin typeface="Fredoka"/>
              <a:ea typeface="Fredoka"/>
              <a:cs typeface="Fredoka"/>
              <a:sym typeface="Fredoka"/>
            </a:endParaRPr>
          </a:p>
        </p:txBody>
      </p:sp>
      <p:sp>
        <p:nvSpPr>
          <p:cNvPr id="18" name="TextBox 18"/>
          <p:cNvSpPr txBox="1"/>
          <p:nvPr/>
        </p:nvSpPr>
        <p:spPr>
          <a:xfrm>
            <a:off x="7682550" y="3370949"/>
            <a:ext cx="9114397" cy="39433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3: Nylon Fishing Line</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These fragments can persist in the environment and pose risks to aquatic life, such as entanglement and ingestion. Recognizing the degradability of nylon fishing lines underscores the importance of proper disposal practices and the use of eco-friendly alternatives to reduce environmental harm.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695325"/>
          </a:xfrm>
          <a:prstGeom prst="rect">
            <a:avLst/>
          </a:prstGeom>
        </p:spPr>
        <p:txBody>
          <a:bodyPr lIns="0" tIns="0" rIns="0" bIns="0" rtlCol="0" anchor="t">
            <a:spAutoFit/>
          </a:bodyPr>
          <a:lstStyle/>
          <a:p>
            <a:pPr algn="ctr">
              <a:lnSpc>
                <a:spcPts val="5400"/>
              </a:lnSpc>
            </a:pPr>
            <a:r>
              <a:rPr lang="en-US" sz="4500" dirty="0">
                <a:solidFill>
                  <a:srgbClr val="FF8461"/>
                </a:solidFill>
                <a:latin typeface="Fredoka"/>
                <a:ea typeface="Fredoka"/>
                <a:cs typeface="Fredoka"/>
                <a:sym typeface="Fredoka"/>
              </a:rPr>
              <a:t>BIODEGRADABLE</a:t>
            </a:r>
          </a:p>
        </p:txBody>
      </p:sp>
      <p:sp>
        <p:nvSpPr>
          <p:cNvPr id="18" name="TextBox 18"/>
          <p:cNvSpPr txBox="1"/>
          <p:nvPr/>
        </p:nvSpPr>
        <p:spPr>
          <a:xfrm>
            <a:off x="7682550" y="3370949"/>
            <a:ext cx="9114397" cy="2628900"/>
          </a:xfrm>
          <a:prstGeom prst="rect">
            <a:avLst/>
          </a:prstGeom>
        </p:spPr>
        <p:txBody>
          <a:bodyPr lIns="0" tIns="0" rIns="0" bIns="0" rtlCol="0" anchor="t">
            <a:spAutoFit/>
          </a:bodyPr>
          <a:lstStyle/>
          <a:p>
            <a:pPr marL="626109" lvl="1" indent="-313054" algn="l">
              <a:lnSpc>
                <a:spcPts val="3479"/>
              </a:lnSpc>
              <a:buFont typeface="Arial"/>
              <a:buChar char="•"/>
            </a:pPr>
            <a:r>
              <a:rPr lang="en-US" sz="2899" dirty="0">
                <a:solidFill>
                  <a:srgbClr val="FF8461"/>
                </a:solidFill>
                <a:latin typeface="Fredoka"/>
                <a:ea typeface="Fredoka"/>
                <a:cs typeface="Fredoka"/>
                <a:sym typeface="Fredoka"/>
              </a:rPr>
              <a:t>Biodegradable materials</a:t>
            </a:r>
            <a:r>
              <a:rPr lang="en-US" sz="2899" dirty="0">
                <a:solidFill>
                  <a:srgbClr val="689BCB"/>
                </a:solidFill>
                <a:latin typeface="Fredoka"/>
                <a:ea typeface="Fredoka"/>
                <a:cs typeface="Fredoka"/>
                <a:sym typeface="Fredoka"/>
              </a:rPr>
              <a:t> are those that can naturally decompose through the action of living organisms like bacteria and fungi. They return to the environment as natural elements without causing harm, helping maintain ecological balance and reducing waste buildup.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1381125"/>
          </a:xfrm>
          <a:prstGeom prst="rect">
            <a:avLst/>
          </a:prstGeom>
        </p:spPr>
        <p:txBody>
          <a:bodyPr lIns="0" tIns="0" rIns="0" bIns="0" rtlCol="0" anchor="t">
            <a:spAutoFit/>
          </a:bodyPr>
          <a:lstStyle/>
          <a:p>
            <a:pPr algn="ctr">
              <a:lnSpc>
                <a:spcPts val="5400"/>
              </a:lnSpc>
            </a:pPr>
            <a:r>
              <a:rPr lang="en-US" sz="4500" dirty="0">
                <a:solidFill>
                  <a:srgbClr val="FF8461"/>
                </a:solidFill>
                <a:latin typeface="Fredoka"/>
                <a:ea typeface="Fredoka"/>
                <a:cs typeface="Fredoka"/>
                <a:sym typeface="Fredoka"/>
              </a:rPr>
              <a:t>WORKED EXAMPLE</a:t>
            </a:r>
          </a:p>
          <a:p>
            <a:pPr algn="ctr">
              <a:lnSpc>
                <a:spcPts val="5400"/>
              </a:lnSpc>
            </a:pPr>
            <a:r>
              <a:rPr lang="en-US" sz="4500" dirty="0">
                <a:solidFill>
                  <a:srgbClr val="FF8461"/>
                </a:solidFill>
                <a:latin typeface="Fredoka"/>
                <a:ea typeface="Fredoka"/>
                <a:cs typeface="Fredoka"/>
                <a:sym typeface="Fredoka"/>
              </a:rPr>
              <a:t>BIODEGRADABLE</a:t>
            </a:r>
          </a:p>
        </p:txBody>
      </p:sp>
      <p:sp>
        <p:nvSpPr>
          <p:cNvPr id="18" name="TextBox 18"/>
          <p:cNvSpPr txBox="1"/>
          <p:nvPr/>
        </p:nvSpPr>
        <p:spPr>
          <a:xfrm>
            <a:off x="7682550" y="3370949"/>
            <a:ext cx="9114397" cy="48196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1: Paper Towel</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 A paper towel is an absorbent sheet made from paper pulp, commonly used for cleaning and wiping surfaces. The paper towel is biodegradable, meaning it can be broken down by microorganisms into simpler organic compounds over time. When discarded in a compost pile or natural environment, microorganisms, such as bacteria and fungi, feed on the paper towel's cellulose fibers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fade">
                                      <p:cBhvr>
                                        <p:cTn id="10" dur="500"/>
                                        <p:tgtEl>
                                          <p:spTgt spid="1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xEl>
                                              <p:pRg st="0" end="0"/>
                                            </p:txEl>
                                          </p:spTgt>
                                        </p:tgtEl>
                                        <p:attrNameLst>
                                          <p:attrName>style.visibility</p:attrName>
                                        </p:attrNameLst>
                                      </p:cBhvr>
                                      <p:to>
                                        <p:strVal val="visible"/>
                                      </p:to>
                                    </p:set>
                                    <p:animEffect transition="in" filter="fade">
                                      <p:cBhvr>
                                        <p:cTn id="20" dur="500"/>
                                        <p:tgtEl>
                                          <p:spTgt spid="18">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8">
                                            <p:txEl>
                                              <p:pRg st="2" end="2"/>
                                            </p:txEl>
                                          </p:spTgt>
                                        </p:tgtEl>
                                        <p:attrNameLst>
                                          <p:attrName>style.visibility</p:attrName>
                                        </p:attrNameLst>
                                      </p:cBhvr>
                                      <p:to>
                                        <p:strVal val="visible"/>
                                      </p:to>
                                    </p:set>
                                    <p:animEffect transition="in" filter="fade">
                                      <p:cBhvr>
                                        <p:cTn id="23"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13811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BIODEGRADABLE</a:t>
            </a:r>
          </a:p>
        </p:txBody>
      </p:sp>
      <p:sp>
        <p:nvSpPr>
          <p:cNvPr id="18" name="TextBox 18"/>
          <p:cNvSpPr txBox="1"/>
          <p:nvPr/>
        </p:nvSpPr>
        <p:spPr>
          <a:xfrm>
            <a:off x="7682550" y="3370949"/>
            <a:ext cx="9114397" cy="43815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1: Paper Towel</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through the process of microbial decomposition. This process converts the paper towel into humus, a nutrient-rich organic material that enriches soil fertility. Biodegradable materials like paper towels can be composted, diverting organic waste from landfills and contributing to soil health and sustainable waste management practices.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13811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BIODEGRADABLE</a:t>
            </a:r>
          </a:p>
        </p:txBody>
      </p:sp>
      <p:sp>
        <p:nvSpPr>
          <p:cNvPr id="18" name="TextBox 18"/>
          <p:cNvSpPr txBox="1"/>
          <p:nvPr/>
        </p:nvSpPr>
        <p:spPr>
          <a:xfrm>
            <a:off x="7682550" y="3370949"/>
            <a:ext cx="9114397" cy="394335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2: Banana Peel</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A banana peel is the outer protective covering of a banana fruit. It is biodegradable, meaning microorganisms can break down the peel into simpler organic compounds over time. When discarded in a natural environment, microbes in the soil decompose the peel through microbial degradation.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13811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BIODEGRADABLE</a:t>
            </a:r>
          </a:p>
        </p:txBody>
      </p:sp>
      <p:sp>
        <p:nvSpPr>
          <p:cNvPr id="18" name="TextBox 18"/>
          <p:cNvSpPr txBox="1"/>
          <p:nvPr/>
        </p:nvSpPr>
        <p:spPr>
          <a:xfrm>
            <a:off x="7682550" y="3370949"/>
            <a:ext cx="9114397" cy="35052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2: Banana Peel</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The organic matter in the banana peel provides nutrients for soil organisms, contributing to soil health and fertility. Biodegradable materials like banana peels can be composted, returning nutrients to the soil and reducing waste sent to landfills.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13811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BIODEGRADABLE</a:t>
            </a:r>
          </a:p>
        </p:txBody>
      </p:sp>
      <p:sp>
        <p:nvSpPr>
          <p:cNvPr id="18" name="TextBox 18"/>
          <p:cNvSpPr txBox="1"/>
          <p:nvPr/>
        </p:nvSpPr>
        <p:spPr>
          <a:xfrm>
            <a:off x="7682550" y="3370949"/>
            <a:ext cx="9114397" cy="43815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3: Cotton Fabric</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Cotton fabric is a natural textile material made from the fibers of the cotton plant. Cotton fabric is biodegradable, meaning it can be broken down by microorganisms into simpler organic compounds over time. When discarded in a natural environment, microbes in the soil decompose the cotton fabric through microbial degradation.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sp>
        <p:nvSpPr>
          <p:cNvPr id="3" name="Freeform 3"/>
          <p:cNvSpPr/>
          <p:nvPr/>
        </p:nvSpPr>
        <p:spPr>
          <a:xfrm>
            <a:off x="-796840" y="4342499"/>
            <a:ext cx="7650774" cy="9831603"/>
          </a:xfrm>
          <a:custGeom>
            <a:avLst/>
            <a:gdLst/>
            <a:ahLst/>
            <a:cxnLst/>
            <a:rect l="l" t="t" r="r" b="b"/>
            <a:pathLst>
              <a:path w="7650774" h="9831603">
                <a:moveTo>
                  <a:pt x="0" y="0"/>
                </a:moveTo>
                <a:lnTo>
                  <a:pt x="7650774" y="0"/>
                </a:lnTo>
                <a:lnTo>
                  <a:pt x="7650774" y="9831602"/>
                </a:lnTo>
                <a:lnTo>
                  <a:pt x="0" y="9831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66209" y="9523059"/>
            <a:ext cx="18854209" cy="763941"/>
            <a:chOff x="0" y="0"/>
            <a:chExt cx="4965718" cy="201203"/>
          </a:xfrm>
        </p:grpSpPr>
        <p:sp>
          <p:nvSpPr>
            <p:cNvPr id="5" name="Freeform 5"/>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6" name="TextBox 6"/>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171415" y="2890838"/>
            <a:ext cx="10136667" cy="6082232"/>
            <a:chOff x="0" y="0"/>
            <a:chExt cx="13515556" cy="8109642"/>
          </a:xfrm>
        </p:grpSpPr>
        <p:grpSp>
          <p:nvGrpSpPr>
            <p:cNvPr id="8" name="Group 8"/>
            <p:cNvGrpSpPr/>
            <p:nvPr/>
          </p:nvGrpSpPr>
          <p:grpSpPr>
            <a:xfrm>
              <a:off x="0" y="0"/>
              <a:ext cx="13515556" cy="8109642"/>
              <a:chOff x="0" y="0"/>
              <a:chExt cx="1277359" cy="766445"/>
            </a:xfrm>
          </p:grpSpPr>
          <p:sp>
            <p:nvSpPr>
              <p:cNvPr id="9" name="Freeform 9"/>
              <p:cNvSpPr/>
              <p:nvPr/>
            </p:nvSpPr>
            <p:spPr>
              <a:xfrm>
                <a:off x="0" y="0"/>
                <a:ext cx="1277360" cy="766445"/>
              </a:xfrm>
              <a:custGeom>
                <a:avLst/>
                <a:gdLst/>
                <a:ahLst/>
                <a:cxnLst/>
                <a:rect l="l" t="t" r="r" b="b"/>
                <a:pathLst>
                  <a:path w="1277360" h="766445">
                    <a:moveTo>
                      <a:pt x="0" y="0"/>
                    </a:moveTo>
                    <a:lnTo>
                      <a:pt x="1277360" y="0"/>
                    </a:lnTo>
                    <a:lnTo>
                      <a:pt x="1277360" y="766445"/>
                    </a:lnTo>
                    <a:lnTo>
                      <a:pt x="0" y="766445"/>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277359" cy="814070"/>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234467" cy="8109642"/>
              <a:chOff x="0" y="0"/>
              <a:chExt cx="17483" cy="604686"/>
            </a:xfrm>
          </p:grpSpPr>
          <p:sp>
            <p:nvSpPr>
              <p:cNvPr id="12" name="Freeform 12"/>
              <p:cNvSpPr/>
              <p:nvPr/>
            </p:nvSpPr>
            <p:spPr>
              <a:xfrm>
                <a:off x="0" y="0"/>
                <a:ext cx="17483" cy="604686"/>
              </a:xfrm>
              <a:custGeom>
                <a:avLst/>
                <a:gdLst/>
                <a:ahLst/>
                <a:cxnLst/>
                <a:rect l="l" t="t" r="r" b="b"/>
                <a:pathLst>
                  <a:path w="17483" h="604686">
                    <a:moveTo>
                      <a:pt x="0" y="0"/>
                    </a:moveTo>
                    <a:lnTo>
                      <a:pt x="17483" y="0"/>
                    </a:lnTo>
                    <a:lnTo>
                      <a:pt x="17483" y="604686"/>
                    </a:lnTo>
                    <a:lnTo>
                      <a:pt x="0" y="604686"/>
                    </a:lnTo>
                    <a:close/>
                  </a:path>
                </a:pathLst>
              </a:custGeom>
              <a:solidFill>
                <a:srgbClr val="465265"/>
              </a:solidFill>
            </p:spPr>
          </p:sp>
          <p:sp>
            <p:nvSpPr>
              <p:cNvPr id="13" name="TextBox 13"/>
              <p:cNvSpPr txBox="1"/>
              <p:nvPr/>
            </p:nvSpPr>
            <p:spPr>
              <a:xfrm>
                <a:off x="0" y="-47625"/>
                <a:ext cx="17483" cy="65231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3286127" y="0"/>
              <a:ext cx="229429" cy="8109642"/>
              <a:chOff x="0" y="0"/>
              <a:chExt cx="17107" cy="604686"/>
            </a:xfrm>
          </p:grpSpPr>
          <p:sp>
            <p:nvSpPr>
              <p:cNvPr id="15" name="Freeform 15"/>
              <p:cNvSpPr/>
              <p:nvPr/>
            </p:nvSpPr>
            <p:spPr>
              <a:xfrm>
                <a:off x="0" y="0"/>
                <a:ext cx="17107" cy="604686"/>
              </a:xfrm>
              <a:custGeom>
                <a:avLst/>
                <a:gdLst/>
                <a:ahLst/>
                <a:cxnLst/>
                <a:rect l="l" t="t" r="r" b="b"/>
                <a:pathLst>
                  <a:path w="17107" h="604686">
                    <a:moveTo>
                      <a:pt x="0" y="0"/>
                    </a:moveTo>
                    <a:lnTo>
                      <a:pt x="17107" y="0"/>
                    </a:lnTo>
                    <a:lnTo>
                      <a:pt x="17107" y="604686"/>
                    </a:lnTo>
                    <a:lnTo>
                      <a:pt x="0" y="604686"/>
                    </a:lnTo>
                    <a:close/>
                  </a:path>
                </a:pathLst>
              </a:custGeom>
              <a:solidFill>
                <a:srgbClr val="465265"/>
              </a:solidFill>
            </p:spPr>
          </p:sp>
          <p:sp>
            <p:nvSpPr>
              <p:cNvPr id="16" name="TextBox 16"/>
              <p:cNvSpPr txBox="1"/>
              <p:nvPr/>
            </p:nvSpPr>
            <p:spPr>
              <a:xfrm>
                <a:off x="0" y="-47625"/>
                <a:ext cx="17107" cy="65231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374397" y="2675624"/>
            <a:ext cx="6475487" cy="1381125"/>
          </a:xfrm>
          <a:prstGeom prst="rect">
            <a:avLst/>
          </a:prstGeom>
        </p:spPr>
        <p:txBody>
          <a:bodyPr lIns="0" tIns="0" rIns="0" bIns="0" rtlCol="0" anchor="t">
            <a:spAutoFit/>
          </a:bodyPr>
          <a:lstStyle/>
          <a:p>
            <a:pPr algn="ctr">
              <a:lnSpc>
                <a:spcPts val="5400"/>
              </a:lnSpc>
            </a:pPr>
            <a:r>
              <a:rPr lang="en-US" sz="4500">
                <a:solidFill>
                  <a:srgbClr val="FF8461"/>
                </a:solidFill>
                <a:latin typeface="Fredoka"/>
                <a:ea typeface="Fredoka"/>
                <a:cs typeface="Fredoka"/>
                <a:sym typeface="Fredoka"/>
              </a:rPr>
              <a:t>WORKED EXAMPLE</a:t>
            </a:r>
          </a:p>
          <a:p>
            <a:pPr algn="ctr">
              <a:lnSpc>
                <a:spcPts val="5400"/>
              </a:lnSpc>
            </a:pPr>
            <a:r>
              <a:rPr lang="en-US" sz="4500">
                <a:solidFill>
                  <a:srgbClr val="FF8461"/>
                </a:solidFill>
                <a:latin typeface="Fredoka"/>
                <a:ea typeface="Fredoka"/>
                <a:cs typeface="Fredoka"/>
                <a:sym typeface="Fredoka"/>
              </a:rPr>
              <a:t>BIODEGRADABLE</a:t>
            </a:r>
          </a:p>
        </p:txBody>
      </p:sp>
      <p:sp>
        <p:nvSpPr>
          <p:cNvPr id="18" name="TextBox 18"/>
          <p:cNvSpPr txBox="1"/>
          <p:nvPr/>
        </p:nvSpPr>
        <p:spPr>
          <a:xfrm>
            <a:off x="7682550" y="3370949"/>
            <a:ext cx="9114397" cy="4381500"/>
          </a:xfrm>
          <a:prstGeom prst="rect">
            <a:avLst/>
          </a:prstGeom>
        </p:spPr>
        <p:txBody>
          <a:bodyPr lIns="0" tIns="0" rIns="0" bIns="0" rtlCol="0" anchor="t">
            <a:spAutoFit/>
          </a:bodyPr>
          <a:lstStyle/>
          <a:p>
            <a:pPr algn="l">
              <a:lnSpc>
                <a:spcPts val="3479"/>
              </a:lnSpc>
            </a:pPr>
            <a:r>
              <a:rPr lang="en-US" sz="2899" dirty="0">
                <a:solidFill>
                  <a:srgbClr val="FA7444"/>
                </a:solidFill>
                <a:latin typeface="Fredoka"/>
                <a:ea typeface="Fredoka"/>
                <a:cs typeface="Fredoka"/>
                <a:sym typeface="Fredoka"/>
              </a:rPr>
              <a:t>Example 3: Cotton Fabric</a:t>
            </a:r>
          </a:p>
          <a:p>
            <a:pPr algn="l">
              <a:lnSpc>
                <a:spcPts val="3479"/>
              </a:lnSpc>
            </a:pPr>
            <a:endParaRPr lang="en-US" sz="2899" dirty="0">
              <a:solidFill>
                <a:srgbClr val="FA7444"/>
              </a:solidFill>
              <a:latin typeface="Fredoka"/>
              <a:ea typeface="Fredoka"/>
              <a:cs typeface="Fredoka"/>
              <a:sym typeface="Fredoka"/>
            </a:endParaRPr>
          </a:p>
          <a:p>
            <a:pPr marL="626109" lvl="1" indent="-313054" algn="l">
              <a:lnSpc>
                <a:spcPts val="3479"/>
              </a:lnSpc>
              <a:buFont typeface="Arial"/>
              <a:buChar char="•"/>
            </a:pPr>
            <a:r>
              <a:rPr lang="en-US" sz="2899" dirty="0">
                <a:solidFill>
                  <a:srgbClr val="689BCB"/>
                </a:solidFill>
                <a:latin typeface="Fredoka"/>
                <a:ea typeface="Fredoka"/>
                <a:cs typeface="Fredoka"/>
                <a:sym typeface="Fredoka"/>
              </a:rPr>
              <a:t>The organic matter in the cotton fabric provides nutrients for soil organisms, contributing to soil health and fertility. Biodegradable materials like cotton fabric can be composted or naturally degraded, minimizing environmental impact and promoting sustainable waste management practices.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3940624" y="2785287"/>
            <a:ext cx="10286138" cy="4344772"/>
            <a:chOff x="0" y="0"/>
            <a:chExt cx="2709106" cy="1144302"/>
          </a:xfrm>
        </p:grpSpPr>
        <p:sp>
          <p:nvSpPr>
            <p:cNvPr id="4" name="Freeform 4"/>
            <p:cNvSpPr/>
            <p:nvPr/>
          </p:nvSpPr>
          <p:spPr>
            <a:xfrm>
              <a:off x="0" y="0"/>
              <a:ext cx="2709106" cy="1144302"/>
            </a:xfrm>
            <a:custGeom>
              <a:avLst/>
              <a:gdLst/>
              <a:ahLst/>
              <a:cxnLst/>
              <a:rect l="l" t="t" r="r" b="b"/>
              <a:pathLst>
                <a:path w="2709106" h="1144302">
                  <a:moveTo>
                    <a:pt x="0" y="0"/>
                  </a:moveTo>
                  <a:lnTo>
                    <a:pt x="2709106" y="0"/>
                  </a:lnTo>
                  <a:lnTo>
                    <a:pt x="2709106" y="1144302"/>
                  </a:lnTo>
                  <a:lnTo>
                    <a:pt x="0" y="1144302"/>
                  </a:lnTo>
                  <a:close/>
                </a:path>
              </a:pathLst>
            </a:custGeom>
            <a:solidFill>
              <a:srgbClr val="59687F"/>
            </a:solidFill>
          </p:spPr>
        </p:sp>
        <p:sp>
          <p:nvSpPr>
            <p:cNvPr id="5" name="TextBox 5"/>
            <p:cNvSpPr txBox="1"/>
            <p:nvPr/>
          </p:nvSpPr>
          <p:spPr>
            <a:xfrm>
              <a:off x="0" y="-47625"/>
              <a:ext cx="2709106" cy="119192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4310128" y="3178914"/>
            <a:ext cx="9417722" cy="3524601"/>
            <a:chOff x="0" y="0"/>
            <a:chExt cx="2480388" cy="928290"/>
          </a:xfrm>
        </p:grpSpPr>
        <p:sp>
          <p:nvSpPr>
            <p:cNvPr id="7" name="Freeform 7"/>
            <p:cNvSpPr/>
            <p:nvPr/>
          </p:nvSpPr>
          <p:spPr>
            <a:xfrm>
              <a:off x="0" y="0"/>
              <a:ext cx="2480388" cy="928290"/>
            </a:xfrm>
            <a:custGeom>
              <a:avLst/>
              <a:gdLst/>
              <a:ahLst/>
              <a:cxnLst/>
              <a:rect l="l" t="t" r="r" b="b"/>
              <a:pathLst>
                <a:path w="2480388" h="928290">
                  <a:moveTo>
                    <a:pt x="0" y="0"/>
                  </a:moveTo>
                  <a:lnTo>
                    <a:pt x="2480388" y="0"/>
                  </a:lnTo>
                  <a:lnTo>
                    <a:pt x="2480388" y="928290"/>
                  </a:lnTo>
                  <a:lnTo>
                    <a:pt x="0" y="928290"/>
                  </a:lnTo>
                  <a:close/>
                </a:path>
              </a:pathLst>
            </a:custGeom>
            <a:solidFill>
              <a:srgbClr val="E8EEFD"/>
            </a:solidFill>
          </p:spPr>
        </p:sp>
        <p:sp>
          <p:nvSpPr>
            <p:cNvPr id="8" name="TextBox 8"/>
            <p:cNvSpPr txBox="1"/>
            <p:nvPr/>
          </p:nvSpPr>
          <p:spPr>
            <a:xfrm>
              <a:off x="0" y="-47625"/>
              <a:ext cx="2480388" cy="97591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940624" y="2768829"/>
            <a:ext cx="217104" cy="4344772"/>
            <a:chOff x="0" y="0"/>
            <a:chExt cx="57180" cy="1144302"/>
          </a:xfrm>
        </p:grpSpPr>
        <p:sp>
          <p:nvSpPr>
            <p:cNvPr id="10" name="Freeform 10"/>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1" name="TextBox 11"/>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4009658" y="2785287"/>
            <a:ext cx="217104" cy="4344772"/>
            <a:chOff x="0" y="0"/>
            <a:chExt cx="57180" cy="1144302"/>
          </a:xfrm>
        </p:grpSpPr>
        <p:sp>
          <p:nvSpPr>
            <p:cNvPr id="13" name="Freeform 13"/>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4" name="TextBox 14"/>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0" y="2111925"/>
            <a:ext cx="4882379" cy="9624761"/>
          </a:xfrm>
          <a:custGeom>
            <a:avLst/>
            <a:gdLst/>
            <a:ahLst/>
            <a:cxnLst/>
            <a:rect l="l" t="t" r="r" b="b"/>
            <a:pathLst>
              <a:path w="4882379" h="9624761">
                <a:moveTo>
                  <a:pt x="0" y="0"/>
                </a:moveTo>
                <a:lnTo>
                  <a:pt x="4882379" y="0"/>
                </a:lnTo>
                <a:lnTo>
                  <a:pt x="4882379" y="9624760"/>
                </a:lnTo>
                <a:lnTo>
                  <a:pt x="0" y="96247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10615157" y="4941215"/>
            <a:ext cx="14586339" cy="6454455"/>
          </a:xfrm>
          <a:custGeom>
            <a:avLst/>
            <a:gdLst/>
            <a:ahLst/>
            <a:cxnLst/>
            <a:rect l="l" t="t" r="r" b="b"/>
            <a:pathLst>
              <a:path w="14586339" h="6454455">
                <a:moveTo>
                  <a:pt x="0" y="0"/>
                </a:moveTo>
                <a:lnTo>
                  <a:pt x="14586339" y="0"/>
                </a:lnTo>
                <a:lnTo>
                  <a:pt x="14586339" y="6454455"/>
                </a:lnTo>
                <a:lnTo>
                  <a:pt x="0" y="6454455"/>
                </a:lnTo>
                <a:lnTo>
                  <a:pt x="0" y="0"/>
                </a:lnTo>
                <a:close/>
              </a:path>
            </a:pathLst>
          </a:custGeom>
          <a:blipFill>
            <a:blip r:embed="rId5"/>
            <a:stretch>
              <a:fillRect/>
            </a:stretch>
          </a:blipFill>
        </p:spPr>
      </p:sp>
      <p:grpSp>
        <p:nvGrpSpPr>
          <p:cNvPr id="17" name="Group 17"/>
          <p:cNvGrpSpPr/>
          <p:nvPr/>
        </p:nvGrpSpPr>
        <p:grpSpPr>
          <a:xfrm>
            <a:off x="-566209" y="9642589"/>
            <a:ext cx="18854209" cy="763941"/>
            <a:chOff x="0" y="0"/>
            <a:chExt cx="4965718" cy="201203"/>
          </a:xfrm>
        </p:grpSpPr>
        <p:sp>
          <p:nvSpPr>
            <p:cNvPr id="18" name="Freeform 18"/>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9" name="TextBox 19"/>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4958186" y="3766465"/>
            <a:ext cx="8140657" cy="1749425"/>
          </a:xfrm>
          <a:prstGeom prst="rect">
            <a:avLst/>
          </a:prstGeom>
        </p:spPr>
        <p:txBody>
          <a:bodyPr lIns="0" tIns="0" rIns="0" bIns="0" rtlCol="0" anchor="t">
            <a:spAutoFit/>
          </a:bodyPr>
          <a:lstStyle/>
          <a:p>
            <a:pPr algn="ctr">
              <a:lnSpc>
                <a:spcPts val="7000"/>
              </a:lnSpc>
            </a:pPr>
            <a:r>
              <a:rPr lang="en-US" sz="5000" dirty="0">
                <a:solidFill>
                  <a:srgbClr val="FA7444"/>
                </a:solidFill>
                <a:latin typeface="Fredoka"/>
                <a:ea typeface="Fredoka"/>
                <a:cs typeface="Fredoka"/>
                <a:sym typeface="Fredoka"/>
              </a:rPr>
              <a:t>MAKING GENERALIZATIONS</a:t>
            </a:r>
          </a:p>
        </p:txBody>
      </p:sp>
      <p:sp>
        <p:nvSpPr>
          <p:cNvPr id="21" name="TextBox 21"/>
          <p:cNvSpPr txBox="1"/>
          <p:nvPr/>
        </p:nvSpPr>
        <p:spPr>
          <a:xfrm>
            <a:off x="4310128" y="1397550"/>
            <a:ext cx="3381213" cy="1285875"/>
          </a:xfrm>
          <a:prstGeom prst="rect">
            <a:avLst/>
          </a:prstGeom>
        </p:spPr>
        <p:txBody>
          <a:bodyPr lIns="0" tIns="0" rIns="0" bIns="0" rtlCol="0" anchor="t">
            <a:spAutoFit/>
          </a:bodyPr>
          <a:lstStyle/>
          <a:p>
            <a:pPr algn="ctr">
              <a:lnSpc>
                <a:spcPts val="10500"/>
              </a:lnSpc>
            </a:pPr>
            <a:r>
              <a:rPr lang="en-US" sz="7500" dirty="0">
                <a:solidFill>
                  <a:srgbClr val="264899"/>
                </a:solidFill>
                <a:latin typeface="Fredoka"/>
                <a:ea typeface="Fredoka"/>
                <a:cs typeface="Fredoka"/>
                <a:sym typeface="Fredoka"/>
              </a:rPr>
              <a:t>DAY 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426970" y="2290640"/>
            <a:ext cx="7391084" cy="8828327"/>
            <a:chOff x="0" y="0"/>
            <a:chExt cx="9854778" cy="11771102"/>
          </a:xfrm>
        </p:grpSpPr>
        <p:sp>
          <p:nvSpPr>
            <p:cNvPr id="4" name="Freeform 4"/>
            <p:cNvSpPr/>
            <p:nvPr/>
          </p:nvSpPr>
          <p:spPr>
            <a:xfrm>
              <a:off x="0" y="0"/>
              <a:ext cx="9844922" cy="11771102"/>
            </a:xfrm>
            <a:custGeom>
              <a:avLst/>
              <a:gdLst/>
              <a:ahLst/>
              <a:cxnLst/>
              <a:rect l="l" t="t" r="r" b="b"/>
              <a:pathLst>
                <a:path w="9844922" h="11771102">
                  <a:moveTo>
                    <a:pt x="0" y="0"/>
                  </a:moveTo>
                  <a:lnTo>
                    <a:pt x="9844922" y="0"/>
                  </a:lnTo>
                  <a:lnTo>
                    <a:pt x="9844922" y="11771102"/>
                  </a:lnTo>
                  <a:lnTo>
                    <a:pt x="0" y="11771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49250">
              <a:off x="3558494" y="1136996"/>
              <a:ext cx="2417339" cy="1012261"/>
            </a:xfrm>
            <a:custGeom>
              <a:avLst/>
              <a:gdLst/>
              <a:ahLst/>
              <a:cxnLst/>
              <a:rect l="l" t="t" r="r" b="b"/>
              <a:pathLst>
                <a:path w="2417339" h="1012261">
                  <a:moveTo>
                    <a:pt x="0" y="0"/>
                  </a:moveTo>
                  <a:lnTo>
                    <a:pt x="2417339" y="0"/>
                  </a:lnTo>
                  <a:lnTo>
                    <a:pt x="2417339" y="1012261"/>
                  </a:lnTo>
                  <a:lnTo>
                    <a:pt x="0" y="10122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9857" y="3044413"/>
              <a:ext cx="2129695" cy="2418878"/>
            </a:xfrm>
            <a:custGeom>
              <a:avLst/>
              <a:gdLst/>
              <a:ahLst/>
              <a:cxnLst/>
              <a:rect l="l" t="t" r="r" b="b"/>
              <a:pathLst>
                <a:path w="2129695" h="2418878">
                  <a:moveTo>
                    <a:pt x="0" y="0"/>
                  </a:moveTo>
                  <a:lnTo>
                    <a:pt x="2129695" y="0"/>
                  </a:lnTo>
                  <a:lnTo>
                    <a:pt x="2129695" y="2418878"/>
                  </a:lnTo>
                  <a:lnTo>
                    <a:pt x="0" y="2418878"/>
                  </a:lnTo>
                  <a:lnTo>
                    <a:pt x="0" y="0"/>
                  </a:lnTo>
                  <a:close/>
                </a:path>
              </a:pathLst>
            </a:custGeom>
            <a:blipFill>
              <a:blip r:embed="rId7">
                <a:extLst>
                  <a:ext uri="{96DAC541-7B7A-43D3-8B79-37D633B846F1}">
                    <asvg:svgBlip xmlns:asvg="http://schemas.microsoft.com/office/drawing/2016/SVG/main" r:embed="rId8"/>
                  </a:ext>
                </a:extLst>
              </a:blip>
              <a:stretch>
                <a:fillRect l="-462" t="-125860" r="-361806" b="-260774"/>
              </a:stretch>
            </a:blipFill>
          </p:spPr>
        </p:sp>
        <p:sp>
          <p:nvSpPr>
            <p:cNvPr id="7" name="Freeform 7"/>
            <p:cNvSpPr/>
            <p:nvPr/>
          </p:nvSpPr>
          <p:spPr>
            <a:xfrm>
              <a:off x="7266975" y="2291843"/>
              <a:ext cx="2587804" cy="1221857"/>
            </a:xfrm>
            <a:custGeom>
              <a:avLst/>
              <a:gdLst/>
              <a:ahLst/>
              <a:cxnLst/>
              <a:rect l="l" t="t" r="r" b="b"/>
              <a:pathLst>
                <a:path w="2587804" h="1221857">
                  <a:moveTo>
                    <a:pt x="0" y="0"/>
                  </a:moveTo>
                  <a:lnTo>
                    <a:pt x="2587803" y="0"/>
                  </a:lnTo>
                  <a:lnTo>
                    <a:pt x="2587803" y="1221856"/>
                  </a:lnTo>
                  <a:lnTo>
                    <a:pt x="0" y="1221856"/>
                  </a:lnTo>
                  <a:lnTo>
                    <a:pt x="0" y="0"/>
                  </a:lnTo>
                  <a:close/>
                </a:path>
              </a:pathLst>
            </a:custGeom>
            <a:blipFill>
              <a:blip r:embed="rId9">
                <a:extLst>
                  <a:ext uri="{96DAC541-7B7A-43D3-8B79-37D633B846F1}">
                    <asvg:svgBlip xmlns:asvg="http://schemas.microsoft.com/office/drawing/2016/SVG/main" r:embed="rId10"/>
                  </a:ext>
                </a:extLst>
              </a:blip>
              <a:stretch>
                <a:fillRect l="-280435" t="-187570" b="-675807"/>
              </a:stretch>
            </a:blipFill>
          </p:spPr>
        </p:sp>
      </p:grpSp>
      <p:grpSp>
        <p:nvGrpSpPr>
          <p:cNvPr id="8" name="Group 8"/>
          <p:cNvGrpSpPr/>
          <p:nvPr/>
        </p:nvGrpSpPr>
        <p:grpSpPr>
          <a:xfrm>
            <a:off x="-566209" y="9642589"/>
            <a:ext cx="18854209" cy="763941"/>
            <a:chOff x="0" y="0"/>
            <a:chExt cx="4965718" cy="201203"/>
          </a:xfrm>
        </p:grpSpPr>
        <p:sp>
          <p:nvSpPr>
            <p:cNvPr id="9" name="Freeform 9"/>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0" name="TextBox 10"/>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613838" y="4283004"/>
            <a:ext cx="8617648" cy="2421799"/>
            <a:chOff x="0" y="0"/>
            <a:chExt cx="11490198" cy="3229066"/>
          </a:xfrm>
        </p:grpSpPr>
        <p:grpSp>
          <p:nvGrpSpPr>
            <p:cNvPr id="12" name="Group 12"/>
            <p:cNvGrpSpPr/>
            <p:nvPr/>
          </p:nvGrpSpPr>
          <p:grpSpPr>
            <a:xfrm>
              <a:off x="0" y="0"/>
              <a:ext cx="11490198" cy="3229066"/>
              <a:chOff x="0" y="0"/>
              <a:chExt cx="1085942" cy="305180"/>
            </a:xfrm>
          </p:grpSpPr>
          <p:sp>
            <p:nvSpPr>
              <p:cNvPr id="13" name="Freeform 13"/>
              <p:cNvSpPr/>
              <p:nvPr/>
            </p:nvSpPr>
            <p:spPr>
              <a:xfrm>
                <a:off x="0" y="0"/>
                <a:ext cx="1085942" cy="305180"/>
              </a:xfrm>
              <a:custGeom>
                <a:avLst/>
                <a:gdLst/>
                <a:ahLst/>
                <a:cxnLst/>
                <a:rect l="l" t="t" r="r" b="b"/>
                <a:pathLst>
                  <a:path w="1085942" h="305180">
                    <a:moveTo>
                      <a:pt x="0" y="0"/>
                    </a:moveTo>
                    <a:lnTo>
                      <a:pt x="1085942" y="0"/>
                    </a:lnTo>
                    <a:lnTo>
                      <a:pt x="1085942" y="305180"/>
                    </a:lnTo>
                    <a:lnTo>
                      <a:pt x="0" y="305180"/>
                    </a:lnTo>
                    <a:close/>
                  </a:path>
                </a:pathLst>
              </a:custGeom>
              <a:solidFill>
                <a:srgbClr val="E8EEFD"/>
              </a:solidFill>
              <a:ln w="219075" cap="sq">
                <a:solidFill>
                  <a:srgbClr val="59687F"/>
                </a:solidFill>
                <a:prstDash val="solid"/>
                <a:miter/>
              </a:ln>
            </p:spPr>
          </p:sp>
          <p:sp>
            <p:nvSpPr>
              <p:cNvPr id="14" name="TextBox 14"/>
              <p:cNvSpPr txBox="1"/>
              <p:nvPr/>
            </p:nvSpPr>
            <p:spPr>
              <a:xfrm>
                <a:off x="0" y="-47625"/>
                <a:ext cx="1085942" cy="352805"/>
              </a:xfrm>
              <a:prstGeom prst="rect">
                <a:avLst/>
              </a:prstGeom>
            </p:spPr>
            <p:txBody>
              <a:bodyPr lIns="134577" tIns="134577" rIns="134577" bIns="134577" rtlCol="0" anchor="ctr"/>
              <a:lstStyle/>
              <a:p>
                <a:pPr algn="ctr">
                  <a:lnSpc>
                    <a:spcPts val="2660"/>
                  </a:lnSpc>
                </a:pPr>
                <a:endParaRPr/>
              </a:p>
            </p:txBody>
          </p:sp>
        </p:grpSp>
        <p:grpSp>
          <p:nvGrpSpPr>
            <p:cNvPr id="15" name="Group 15"/>
            <p:cNvGrpSpPr/>
            <p:nvPr/>
          </p:nvGrpSpPr>
          <p:grpSpPr>
            <a:xfrm>
              <a:off x="0" y="0"/>
              <a:ext cx="199331" cy="3229066"/>
              <a:chOff x="0" y="0"/>
              <a:chExt cx="14863" cy="240771"/>
            </a:xfrm>
          </p:grpSpPr>
          <p:sp>
            <p:nvSpPr>
              <p:cNvPr id="16" name="Freeform 16"/>
              <p:cNvSpPr/>
              <p:nvPr/>
            </p:nvSpPr>
            <p:spPr>
              <a:xfrm>
                <a:off x="0" y="0"/>
                <a:ext cx="14863" cy="240771"/>
              </a:xfrm>
              <a:custGeom>
                <a:avLst/>
                <a:gdLst/>
                <a:ahLst/>
                <a:cxnLst/>
                <a:rect l="l" t="t" r="r" b="b"/>
                <a:pathLst>
                  <a:path w="14863" h="240771">
                    <a:moveTo>
                      <a:pt x="0" y="0"/>
                    </a:moveTo>
                    <a:lnTo>
                      <a:pt x="14863" y="0"/>
                    </a:lnTo>
                    <a:lnTo>
                      <a:pt x="14863" y="240771"/>
                    </a:lnTo>
                    <a:lnTo>
                      <a:pt x="0" y="240771"/>
                    </a:lnTo>
                    <a:close/>
                  </a:path>
                </a:pathLst>
              </a:custGeom>
              <a:solidFill>
                <a:srgbClr val="465265"/>
              </a:solidFill>
            </p:spPr>
          </p:sp>
          <p:sp>
            <p:nvSpPr>
              <p:cNvPr id="17" name="TextBox 17"/>
              <p:cNvSpPr txBox="1"/>
              <p:nvPr/>
            </p:nvSpPr>
            <p:spPr>
              <a:xfrm>
                <a:off x="0" y="-47625"/>
                <a:ext cx="14863" cy="288396"/>
              </a:xfrm>
              <a:prstGeom prst="rect">
                <a:avLst/>
              </a:prstGeom>
            </p:spPr>
            <p:txBody>
              <a:bodyPr lIns="134577" tIns="134577" rIns="134577" bIns="134577" rtlCol="0" anchor="ctr"/>
              <a:lstStyle/>
              <a:p>
                <a:pPr algn="ctr">
                  <a:lnSpc>
                    <a:spcPts val="2660"/>
                  </a:lnSpc>
                </a:pPr>
                <a:endParaRPr/>
              </a:p>
            </p:txBody>
          </p:sp>
        </p:grpSp>
        <p:grpSp>
          <p:nvGrpSpPr>
            <p:cNvPr id="18" name="Group 18"/>
            <p:cNvGrpSpPr/>
            <p:nvPr/>
          </p:nvGrpSpPr>
          <p:grpSpPr>
            <a:xfrm>
              <a:off x="11295149" y="0"/>
              <a:ext cx="195048" cy="3229066"/>
              <a:chOff x="0" y="0"/>
              <a:chExt cx="14544" cy="240771"/>
            </a:xfrm>
          </p:grpSpPr>
          <p:sp>
            <p:nvSpPr>
              <p:cNvPr id="19" name="Freeform 19"/>
              <p:cNvSpPr/>
              <p:nvPr/>
            </p:nvSpPr>
            <p:spPr>
              <a:xfrm>
                <a:off x="0" y="0"/>
                <a:ext cx="14544" cy="240771"/>
              </a:xfrm>
              <a:custGeom>
                <a:avLst/>
                <a:gdLst/>
                <a:ahLst/>
                <a:cxnLst/>
                <a:rect l="l" t="t" r="r" b="b"/>
                <a:pathLst>
                  <a:path w="14544" h="240771">
                    <a:moveTo>
                      <a:pt x="0" y="0"/>
                    </a:moveTo>
                    <a:lnTo>
                      <a:pt x="14544" y="0"/>
                    </a:lnTo>
                    <a:lnTo>
                      <a:pt x="14544" y="240771"/>
                    </a:lnTo>
                    <a:lnTo>
                      <a:pt x="0" y="240771"/>
                    </a:lnTo>
                    <a:close/>
                  </a:path>
                </a:pathLst>
              </a:custGeom>
              <a:solidFill>
                <a:srgbClr val="465265"/>
              </a:solidFill>
            </p:spPr>
          </p:sp>
          <p:sp>
            <p:nvSpPr>
              <p:cNvPr id="20" name="TextBox 20"/>
              <p:cNvSpPr txBox="1"/>
              <p:nvPr/>
            </p:nvSpPr>
            <p:spPr>
              <a:xfrm>
                <a:off x="0" y="-47625"/>
                <a:ext cx="14544" cy="288396"/>
              </a:xfrm>
              <a:prstGeom prst="rect">
                <a:avLst/>
              </a:prstGeom>
            </p:spPr>
            <p:txBody>
              <a:bodyPr lIns="134577" tIns="134577" rIns="134577" bIns="134577" rtlCol="0" anchor="ctr"/>
              <a:lstStyle/>
              <a:p>
                <a:pPr algn="ctr">
                  <a:lnSpc>
                    <a:spcPts val="2660"/>
                  </a:lnSpc>
                </a:pPr>
                <a:endParaRPr/>
              </a:p>
            </p:txBody>
          </p:sp>
        </p:grpSp>
      </p:grpSp>
      <p:sp>
        <p:nvSpPr>
          <p:cNvPr id="21" name="TextBox 21"/>
          <p:cNvSpPr txBox="1"/>
          <p:nvPr/>
        </p:nvSpPr>
        <p:spPr>
          <a:xfrm>
            <a:off x="8101952" y="5001779"/>
            <a:ext cx="7641419" cy="565150"/>
          </a:xfrm>
          <a:prstGeom prst="rect">
            <a:avLst/>
          </a:prstGeom>
        </p:spPr>
        <p:txBody>
          <a:bodyPr lIns="0" tIns="0" rIns="0" bIns="0" rtlCol="0" anchor="t">
            <a:spAutoFit/>
          </a:bodyPr>
          <a:lstStyle/>
          <a:p>
            <a:pPr algn="ctr">
              <a:lnSpc>
                <a:spcPts val="4399"/>
              </a:lnSpc>
            </a:pPr>
            <a:r>
              <a:rPr lang="en-US" sz="3999" dirty="0">
                <a:solidFill>
                  <a:srgbClr val="689BCB"/>
                </a:solidFill>
                <a:latin typeface="Fredoka"/>
                <a:ea typeface="Fredoka"/>
                <a:cs typeface="Fredoka"/>
                <a:sym typeface="Fredoka"/>
              </a:rPr>
              <a:t>Learners’ Takeaways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1160742"/>
            <a:ext cx="14019402" cy="7862031"/>
            <a:chOff x="0" y="0"/>
            <a:chExt cx="18692536" cy="10482708"/>
          </a:xfrm>
        </p:grpSpPr>
        <p:grpSp>
          <p:nvGrpSpPr>
            <p:cNvPr id="8" name="Group 8"/>
            <p:cNvGrpSpPr/>
            <p:nvPr/>
          </p:nvGrpSpPr>
          <p:grpSpPr>
            <a:xfrm>
              <a:off x="0" y="0"/>
              <a:ext cx="18692536" cy="10482708"/>
              <a:chOff x="0" y="0"/>
              <a:chExt cx="1766638" cy="990724"/>
            </a:xfrm>
          </p:grpSpPr>
          <p:sp>
            <p:nvSpPr>
              <p:cNvPr id="9" name="Freeform 9"/>
              <p:cNvSpPr/>
              <p:nvPr/>
            </p:nvSpPr>
            <p:spPr>
              <a:xfrm>
                <a:off x="0" y="0"/>
                <a:ext cx="1766638" cy="990724"/>
              </a:xfrm>
              <a:custGeom>
                <a:avLst/>
                <a:gdLst/>
                <a:ahLst/>
                <a:cxnLst/>
                <a:rect l="l" t="t" r="r" b="b"/>
                <a:pathLst>
                  <a:path w="1766638" h="990724">
                    <a:moveTo>
                      <a:pt x="0" y="0"/>
                    </a:moveTo>
                    <a:lnTo>
                      <a:pt x="1766638" y="0"/>
                    </a:lnTo>
                    <a:lnTo>
                      <a:pt x="1766638" y="990724"/>
                    </a:lnTo>
                    <a:lnTo>
                      <a:pt x="0" y="990724"/>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1038349"/>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10482708"/>
              <a:chOff x="0" y="0"/>
              <a:chExt cx="24179" cy="781631"/>
            </a:xfrm>
          </p:grpSpPr>
          <p:sp>
            <p:nvSpPr>
              <p:cNvPr id="12" name="Freeform 12"/>
              <p:cNvSpPr/>
              <p:nvPr/>
            </p:nvSpPr>
            <p:spPr>
              <a:xfrm>
                <a:off x="0" y="0"/>
                <a:ext cx="24179" cy="781631"/>
              </a:xfrm>
              <a:custGeom>
                <a:avLst/>
                <a:gdLst/>
                <a:ahLst/>
                <a:cxnLst/>
                <a:rect l="l" t="t" r="r" b="b"/>
                <a:pathLst>
                  <a:path w="24179" h="781631">
                    <a:moveTo>
                      <a:pt x="0" y="0"/>
                    </a:moveTo>
                    <a:lnTo>
                      <a:pt x="24179" y="0"/>
                    </a:lnTo>
                    <a:lnTo>
                      <a:pt x="24179" y="781631"/>
                    </a:lnTo>
                    <a:lnTo>
                      <a:pt x="0" y="781631"/>
                    </a:lnTo>
                    <a:close/>
                  </a:path>
                </a:pathLst>
              </a:custGeom>
              <a:solidFill>
                <a:srgbClr val="465265"/>
              </a:solidFill>
            </p:spPr>
          </p:sp>
          <p:sp>
            <p:nvSpPr>
              <p:cNvPr id="13" name="TextBox 13"/>
              <p:cNvSpPr txBox="1"/>
              <p:nvPr/>
            </p:nvSpPr>
            <p:spPr>
              <a:xfrm>
                <a:off x="0" y="-47625"/>
                <a:ext cx="24179" cy="829256"/>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10482708"/>
              <a:chOff x="0" y="0"/>
              <a:chExt cx="23660" cy="781631"/>
            </a:xfrm>
          </p:grpSpPr>
          <p:sp>
            <p:nvSpPr>
              <p:cNvPr id="15" name="Freeform 15"/>
              <p:cNvSpPr/>
              <p:nvPr/>
            </p:nvSpPr>
            <p:spPr>
              <a:xfrm>
                <a:off x="0" y="0"/>
                <a:ext cx="23660" cy="781631"/>
              </a:xfrm>
              <a:custGeom>
                <a:avLst/>
                <a:gdLst/>
                <a:ahLst/>
                <a:cxnLst/>
                <a:rect l="l" t="t" r="r" b="b"/>
                <a:pathLst>
                  <a:path w="23660" h="781631">
                    <a:moveTo>
                      <a:pt x="0" y="0"/>
                    </a:moveTo>
                    <a:lnTo>
                      <a:pt x="23660" y="0"/>
                    </a:lnTo>
                    <a:lnTo>
                      <a:pt x="23660" y="781631"/>
                    </a:lnTo>
                    <a:lnTo>
                      <a:pt x="0" y="781631"/>
                    </a:lnTo>
                    <a:close/>
                  </a:path>
                </a:pathLst>
              </a:custGeom>
              <a:solidFill>
                <a:srgbClr val="465265"/>
              </a:solidFill>
            </p:spPr>
          </p:sp>
          <p:sp>
            <p:nvSpPr>
              <p:cNvPr id="16" name="TextBox 16"/>
              <p:cNvSpPr txBox="1"/>
              <p:nvPr/>
            </p:nvSpPr>
            <p:spPr>
              <a:xfrm>
                <a:off x="0" y="-47625"/>
                <a:ext cx="23660" cy="829256"/>
              </a:xfrm>
              <a:prstGeom prst="rect">
                <a:avLst/>
              </a:prstGeom>
            </p:spPr>
            <p:txBody>
              <a:bodyPr lIns="134577" tIns="134577" rIns="134577" bIns="134577" rtlCol="0" anchor="ctr"/>
              <a:lstStyle/>
              <a:p>
                <a:pPr algn="ctr">
                  <a:lnSpc>
                    <a:spcPts val="2660"/>
                  </a:lnSpc>
                </a:pPr>
                <a:endParaRPr/>
              </a:p>
            </p:txBody>
          </p:sp>
        </p:grpSp>
      </p:grpSp>
      <p:sp>
        <p:nvSpPr>
          <p:cNvPr id="17" name="Freeform 17"/>
          <p:cNvSpPr/>
          <p:nvPr/>
        </p:nvSpPr>
        <p:spPr>
          <a:xfrm>
            <a:off x="2130708" y="3262957"/>
            <a:ext cx="10409384" cy="3657600"/>
          </a:xfrm>
          <a:custGeom>
            <a:avLst/>
            <a:gdLst/>
            <a:ahLst/>
            <a:cxnLst/>
            <a:rect l="l" t="t" r="r" b="b"/>
            <a:pathLst>
              <a:path w="10409384" h="3657600">
                <a:moveTo>
                  <a:pt x="0" y="0"/>
                </a:moveTo>
                <a:lnTo>
                  <a:pt x="10409383" y="0"/>
                </a:lnTo>
                <a:lnTo>
                  <a:pt x="10409383" y="3657600"/>
                </a:lnTo>
                <a:lnTo>
                  <a:pt x="0" y="3657600"/>
                </a:lnTo>
                <a:lnTo>
                  <a:pt x="0" y="0"/>
                </a:lnTo>
                <a:close/>
              </a:path>
            </a:pathLst>
          </a:custGeom>
          <a:blipFill>
            <a:blip r:embed="rId5"/>
            <a:stretch>
              <a:fillRect l="-6889" t="-3489" r="-7829"/>
            </a:stretch>
          </a:blipFill>
        </p:spPr>
      </p:sp>
      <p:sp>
        <p:nvSpPr>
          <p:cNvPr id="18" name="TextBox 18"/>
          <p:cNvSpPr txBox="1"/>
          <p:nvPr/>
        </p:nvSpPr>
        <p:spPr>
          <a:xfrm>
            <a:off x="1028700" y="1656696"/>
            <a:ext cx="12613399" cy="981075"/>
          </a:xfrm>
          <a:prstGeom prst="rect">
            <a:avLst/>
          </a:prstGeom>
        </p:spPr>
        <p:txBody>
          <a:bodyPr lIns="0" tIns="0" rIns="0" bIns="0" rtlCol="0" anchor="t">
            <a:spAutoFit/>
          </a:bodyPr>
          <a:lstStyle/>
          <a:p>
            <a:pPr algn="l">
              <a:lnSpc>
                <a:spcPts val="3900"/>
              </a:lnSpc>
            </a:pPr>
            <a:r>
              <a:rPr lang="en-US" sz="3000" dirty="0">
                <a:solidFill>
                  <a:srgbClr val="689BCB"/>
                </a:solidFill>
                <a:latin typeface="Fredoka"/>
                <a:ea typeface="Fredoka"/>
                <a:cs typeface="Fredoka"/>
                <a:sym typeface="Fredoka"/>
              </a:rPr>
              <a:t>Outline in the concept map what they have learned in the lesson. Utilize the given concept map below: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5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426970" y="2290640"/>
            <a:ext cx="7391084" cy="8828327"/>
            <a:chOff x="0" y="0"/>
            <a:chExt cx="9854778" cy="11771102"/>
          </a:xfrm>
        </p:grpSpPr>
        <p:sp>
          <p:nvSpPr>
            <p:cNvPr id="4" name="Freeform 4"/>
            <p:cNvSpPr/>
            <p:nvPr/>
          </p:nvSpPr>
          <p:spPr>
            <a:xfrm>
              <a:off x="0" y="0"/>
              <a:ext cx="9844922" cy="11771102"/>
            </a:xfrm>
            <a:custGeom>
              <a:avLst/>
              <a:gdLst/>
              <a:ahLst/>
              <a:cxnLst/>
              <a:rect l="l" t="t" r="r" b="b"/>
              <a:pathLst>
                <a:path w="9844922" h="11771102">
                  <a:moveTo>
                    <a:pt x="0" y="0"/>
                  </a:moveTo>
                  <a:lnTo>
                    <a:pt x="9844922" y="0"/>
                  </a:lnTo>
                  <a:lnTo>
                    <a:pt x="9844922" y="11771102"/>
                  </a:lnTo>
                  <a:lnTo>
                    <a:pt x="0" y="11771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49250">
              <a:off x="3558494" y="1136996"/>
              <a:ext cx="2417339" cy="1012261"/>
            </a:xfrm>
            <a:custGeom>
              <a:avLst/>
              <a:gdLst/>
              <a:ahLst/>
              <a:cxnLst/>
              <a:rect l="l" t="t" r="r" b="b"/>
              <a:pathLst>
                <a:path w="2417339" h="1012261">
                  <a:moveTo>
                    <a:pt x="0" y="0"/>
                  </a:moveTo>
                  <a:lnTo>
                    <a:pt x="2417339" y="0"/>
                  </a:lnTo>
                  <a:lnTo>
                    <a:pt x="2417339" y="1012261"/>
                  </a:lnTo>
                  <a:lnTo>
                    <a:pt x="0" y="10122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9857" y="3044413"/>
              <a:ext cx="2129695" cy="2418878"/>
            </a:xfrm>
            <a:custGeom>
              <a:avLst/>
              <a:gdLst/>
              <a:ahLst/>
              <a:cxnLst/>
              <a:rect l="l" t="t" r="r" b="b"/>
              <a:pathLst>
                <a:path w="2129695" h="2418878">
                  <a:moveTo>
                    <a:pt x="0" y="0"/>
                  </a:moveTo>
                  <a:lnTo>
                    <a:pt x="2129695" y="0"/>
                  </a:lnTo>
                  <a:lnTo>
                    <a:pt x="2129695" y="2418878"/>
                  </a:lnTo>
                  <a:lnTo>
                    <a:pt x="0" y="2418878"/>
                  </a:lnTo>
                  <a:lnTo>
                    <a:pt x="0" y="0"/>
                  </a:lnTo>
                  <a:close/>
                </a:path>
              </a:pathLst>
            </a:custGeom>
            <a:blipFill>
              <a:blip r:embed="rId7">
                <a:extLst>
                  <a:ext uri="{96DAC541-7B7A-43D3-8B79-37D633B846F1}">
                    <asvg:svgBlip xmlns:asvg="http://schemas.microsoft.com/office/drawing/2016/SVG/main" r:embed="rId8"/>
                  </a:ext>
                </a:extLst>
              </a:blip>
              <a:stretch>
                <a:fillRect l="-462" t="-125860" r="-361806" b="-260774"/>
              </a:stretch>
            </a:blipFill>
          </p:spPr>
        </p:sp>
        <p:sp>
          <p:nvSpPr>
            <p:cNvPr id="7" name="Freeform 7"/>
            <p:cNvSpPr/>
            <p:nvPr/>
          </p:nvSpPr>
          <p:spPr>
            <a:xfrm>
              <a:off x="7266975" y="2291843"/>
              <a:ext cx="2587804" cy="1221857"/>
            </a:xfrm>
            <a:custGeom>
              <a:avLst/>
              <a:gdLst/>
              <a:ahLst/>
              <a:cxnLst/>
              <a:rect l="l" t="t" r="r" b="b"/>
              <a:pathLst>
                <a:path w="2587804" h="1221857">
                  <a:moveTo>
                    <a:pt x="0" y="0"/>
                  </a:moveTo>
                  <a:lnTo>
                    <a:pt x="2587803" y="0"/>
                  </a:lnTo>
                  <a:lnTo>
                    <a:pt x="2587803" y="1221856"/>
                  </a:lnTo>
                  <a:lnTo>
                    <a:pt x="0" y="1221856"/>
                  </a:lnTo>
                  <a:lnTo>
                    <a:pt x="0" y="0"/>
                  </a:lnTo>
                  <a:close/>
                </a:path>
              </a:pathLst>
            </a:custGeom>
            <a:blipFill>
              <a:blip r:embed="rId9">
                <a:extLst>
                  <a:ext uri="{96DAC541-7B7A-43D3-8B79-37D633B846F1}">
                    <asvg:svgBlip xmlns:asvg="http://schemas.microsoft.com/office/drawing/2016/SVG/main" r:embed="rId10"/>
                  </a:ext>
                </a:extLst>
              </a:blip>
              <a:stretch>
                <a:fillRect l="-280435" t="-187570" b="-675807"/>
              </a:stretch>
            </a:blipFill>
          </p:spPr>
        </p:sp>
      </p:grpSp>
      <p:grpSp>
        <p:nvGrpSpPr>
          <p:cNvPr id="8" name="Group 8"/>
          <p:cNvGrpSpPr/>
          <p:nvPr/>
        </p:nvGrpSpPr>
        <p:grpSpPr>
          <a:xfrm>
            <a:off x="-566209" y="9642589"/>
            <a:ext cx="18854209" cy="763941"/>
            <a:chOff x="0" y="0"/>
            <a:chExt cx="4965718" cy="201203"/>
          </a:xfrm>
        </p:grpSpPr>
        <p:sp>
          <p:nvSpPr>
            <p:cNvPr id="9" name="Freeform 9"/>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0" name="TextBox 10"/>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613838" y="4283004"/>
            <a:ext cx="8617648" cy="2421799"/>
            <a:chOff x="0" y="0"/>
            <a:chExt cx="11490198" cy="3229066"/>
          </a:xfrm>
        </p:grpSpPr>
        <p:grpSp>
          <p:nvGrpSpPr>
            <p:cNvPr id="12" name="Group 12"/>
            <p:cNvGrpSpPr/>
            <p:nvPr/>
          </p:nvGrpSpPr>
          <p:grpSpPr>
            <a:xfrm>
              <a:off x="0" y="0"/>
              <a:ext cx="11490198" cy="3229066"/>
              <a:chOff x="0" y="0"/>
              <a:chExt cx="1085942" cy="305180"/>
            </a:xfrm>
          </p:grpSpPr>
          <p:sp>
            <p:nvSpPr>
              <p:cNvPr id="13" name="Freeform 13"/>
              <p:cNvSpPr/>
              <p:nvPr/>
            </p:nvSpPr>
            <p:spPr>
              <a:xfrm>
                <a:off x="0" y="0"/>
                <a:ext cx="1085942" cy="305180"/>
              </a:xfrm>
              <a:custGeom>
                <a:avLst/>
                <a:gdLst/>
                <a:ahLst/>
                <a:cxnLst/>
                <a:rect l="l" t="t" r="r" b="b"/>
                <a:pathLst>
                  <a:path w="1085942" h="305180">
                    <a:moveTo>
                      <a:pt x="0" y="0"/>
                    </a:moveTo>
                    <a:lnTo>
                      <a:pt x="1085942" y="0"/>
                    </a:lnTo>
                    <a:lnTo>
                      <a:pt x="1085942" y="305180"/>
                    </a:lnTo>
                    <a:lnTo>
                      <a:pt x="0" y="305180"/>
                    </a:lnTo>
                    <a:close/>
                  </a:path>
                </a:pathLst>
              </a:custGeom>
              <a:solidFill>
                <a:srgbClr val="E8EEFD"/>
              </a:solidFill>
              <a:ln w="219075" cap="sq">
                <a:solidFill>
                  <a:srgbClr val="59687F"/>
                </a:solidFill>
                <a:prstDash val="solid"/>
                <a:miter/>
              </a:ln>
            </p:spPr>
          </p:sp>
          <p:sp>
            <p:nvSpPr>
              <p:cNvPr id="14" name="TextBox 14"/>
              <p:cNvSpPr txBox="1"/>
              <p:nvPr/>
            </p:nvSpPr>
            <p:spPr>
              <a:xfrm>
                <a:off x="0" y="-47625"/>
                <a:ext cx="1085942" cy="352805"/>
              </a:xfrm>
              <a:prstGeom prst="rect">
                <a:avLst/>
              </a:prstGeom>
            </p:spPr>
            <p:txBody>
              <a:bodyPr lIns="134577" tIns="134577" rIns="134577" bIns="134577" rtlCol="0" anchor="ctr"/>
              <a:lstStyle/>
              <a:p>
                <a:pPr algn="ctr">
                  <a:lnSpc>
                    <a:spcPts val="2660"/>
                  </a:lnSpc>
                </a:pPr>
                <a:endParaRPr/>
              </a:p>
            </p:txBody>
          </p:sp>
        </p:grpSp>
        <p:grpSp>
          <p:nvGrpSpPr>
            <p:cNvPr id="15" name="Group 15"/>
            <p:cNvGrpSpPr/>
            <p:nvPr/>
          </p:nvGrpSpPr>
          <p:grpSpPr>
            <a:xfrm>
              <a:off x="0" y="0"/>
              <a:ext cx="199331" cy="3229066"/>
              <a:chOff x="0" y="0"/>
              <a:chExt cx="14863" cy="240771"/>
            </a:xfrm>
          </p:grpSpPr>
          <p:sp>
            <p:nvSpPr>
              <p:cNvPr id="16" name="Freeform 16"/>
              <p:cNvSpPr/>
              <p:nvPr/>
            </p:nvSpPr>
            <p:spPr>
              <a:xfrm>
                <a:off x="0" y="0"/>
                <a:ext cx="14863" cy="240771"/>
              </a:xfrm>
              <a:custGeom>
                <a:avLst/>
                <a:gdLst/>
                <a:ahLst/>
                <a:cxnLst/>
                <a:rect l="l" t="t" r="r" b="b"/>
                <a:pathLst>
                  <a:path w="14863" h="240771">
                    <a:moveTo>
                      <a:pt x="0" y="0"/>
                    </a:moveTo>
                    <a:lnTo>
                      <a:pt x="14863" y="0"/>
                    </a:lnTo>
                    <a:lnTo>
                      <a:pt x="14863" y="240771"/>
                    </a:lnTo>
                    <a:lnTo>
                      <a:pt x="0" y="240771"/>
                    </a:lnTo>
                    <a:close/>
                  </a:path>
                </a:pathLst>
              </a:custGeom>
              <a:solidFill>
                <a:srgbClr val="465265"/>
              </a:solidFill>
            </p:spPr>
          </p:sp>
          <p:sp>
            <p:nvSpPr>
              <p:cNvPr id="17" name="TextBox 17"/>
              <p:cNvSpPr txBox="1"/>
              <p:nvPr/>
            </p:nvSpPr>
            <p:spPr>
              <a:xfrm>
                <a:off x="0" y="-47625"/>
                <a:ext cx="14863" cy="288396"/>
              </a:xfrm>
              <a:prstGeom prst="rect">
                <a:avLst/>
              </a:prstGeom>
            </p:spPr>
            <p:txBody>
              <a:bodyPr lIns="134577" tIns="134577" rIns="134577" bIns="134577" rtlCol="0" anchor="ctr"/>
              <a:lstStyle/>
              <a:p>
                <a:pPr algn="ctr">
                  <a:lnSpc>
                    <a:spcPts val="2660"/>
                  </a:lnSpc>
                </a:pPr>
                <a:endParaRPr/>
              </a:p>
            </p:txBody>
          </p:sp>
        </p:grpSp>
        <p:grpSp>
          <p:nvGrpSpPr>
            <p:cNvPr id="18" name="Group 18"/>
            <p:cNvGrpSpPr/>
            <p:nvPr/>
          </p:nvGrpSpPr>
          <p:grpSpPr>
            <a:xfrm>
              <a:off x="11295149" y="0"/>
              <a:ext cx="195048" cy="3229066"/>
              <a:chOff x="0" y="0"/>
              <a:chExt cx="14544" cy="240771"/>
            </a:xfrm>
          </p:grpSpPr>
          <p:sp>
            <p:nvSpPr>
              <p:cNvPr id="19" name="Freeform 19"/>
              <p:cNvSpPr/>
              <p:nvPr/>
            </p:nvSpPr>
            <p:spPr>
              <a:xfrm>
                <a:off x="0" y="0"/>
                <a:ext cx="14544" cy="240771"/>
              </a:xfrm>
              <a:custGeom>
                <a:avLst/>
                <a:gdLst/>
                <a:ahLst/>
                <a:cxnLst/>
                <a:rect l="l" t="t" r="r" b="b"/>
                <a:pathLst>
                  <a:path w="14544" h="240771">
                    <a:moveTo>
                      <a:pt x="0" y="0"/>
                    </a:moveTo>
                    <a:lnTo>
                      <a:pt x="14544" y="0"/>
                    </a:lnTo>
                    <a:lnTo>
                      <a:pt x="14544" y="240771"/>
                    </a:lnTo>
                    <a:lnTo>
                      <a:pt x="0" y="240771"/>
                    </a:lnTo>
                    <a:close/>
                  </a:path>
                </a:pathLst>
              </a:custGeom>
              <a:solidFill>
                <a:srgbClr val="465265"/>
              </a:solidFill>
            </p:spPr>
          </p:sp>
          <p:sp>
            <p:nvSpPr>
              <p:cNvPr id="20" name="TextBox 20"/>
              <p:cNvSpPr txBox="1"/>
              <p:nvPr/>
            </p:nvSpPr>
            <p:spPr>
              <a:xfrm>
                <a:off x="0" y="-47625"/>
                <a:ext cx="14544" cy="288396"/>
              </a:xfrm>
              <a:prstGeom prst="rect">
                <a:avLst/>
              </a:prstGeom>
            </p:spPr>
            <p:txBody>
              <a:bodyPr lIns="134577" tIns="134577" rIns="134577" bIns="134577" rtlCol="0" anchor="ctr"/>
              <a:lstStyle/>
              <a:p>
                <a:pPr algn="ctr">
                  <a:lnSpc>
                    <a:spcPts val="2660"/>
                  </a:lnSpc>
                </a:pPr>
                <a:endParaRPr/>
              </a:p>
            </p:txBody>
          </p:sp>
        </p:grpSp>
      </p:grpSp>
      <p:sp>
        <p:nvSpPr>
          <p:cNvPr id="21" name="TextBox 21"/>
          <p:cNvSpPr txBox="1"/>
          <p:nvPr/>
        </p:nvSpPr>
        <p:spPr>
          <a:xfrm>
            <a:off x="8111477" y="4973204"/>
            <a:ext cx="7641419" cy="1117600"/>
          </a:xfrm>
          <a:prstGeom prst="rect">
            <a:avLst/>
          </a:prstGeom>
        </p:spPr>
        <p:txBody>
          <a:bodyPr lIns="0" tIns="0" rIns="0" bIns="0" rtlCol="0" anchor="t">
            <a:spAutoFit/>
          </a:bodyPr>
          <a:lstStyle/>
          <a:p>
            <a:pPr algn="ctr">
              <a:lnSpc>
                <a:spcPts val="4399"/>
              </a:lnSpc>
            </a:pPr>
            <a:r>
              <a:rPr lang="en-US" sz="3999" dirty="0">
                <a:solidFill>
                  <a:srgbClr val="689BCB"/>
                </a:solidFill>
                <a:latin typeface="Fredoka"/>
                <a:ea typeface="Fredoka"/>
                <a:cs typeface="Fredoka"/>
                <a:sym typeface="Fredoka"/>
              </a:rPr>
              <a:t>You should be able to emphasize the following: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1160742"/>
            <a:ext cx="14019402" cy="7862031"/>
            <a:chOff x="0" y="0"/>
            <a:chExt cx="18692536" cy="10482708"/>
          </a:xfrm>
        </p:grpSpPr>
        <p:grpSp>
          <p:nvGrpSpPr>
            <p:cNvPr id="8" name="Group 8"/>
            <p:cNvGrpSpPr/>
            <p:nvPr/>
          </p:nvGrpSpPr>
          <p:grpSpPr>
            <a:xfrm>
              <a:off x="0" y="0"/>
              <a:ext cx="18692536" cy="10482708"/>
              <a:chOff x="0" y="0"/>
              <a:chExt cx="1766638" cy="990724"/>
            </a:xfrm>
          </p:grpSpPr>
          <p:sp>
            <p:nvSpPr>
              <p:cNvPr id="9" name="Freeform 9"/>
              <p:cNvSpPr/>
              <p:nvPr/>
            </p:nvSpPr>
            <p:spPr>
              <a:xfrm>
                <a:off x="0" y="0"/>
                <a:ext cx="1766638" cy="990724"/>
              </a:xfrm>
              <a:custGeom>
                <a:avLst/>
                <a:gdLst/>
                <a:ahLst/>
                <a:cxnLst/>
                <a:rect l="l" t="t" r="r" b="b"/>
                <a:pathLst>
                  <a:path w="1766638" h="990724">
                    <a:moveTo>
                      <a:pt x="0" y="0"/>
                    </a:moveTo>
                    <a:lnTo>
                      <a:pt x="1766638" y="0"/>
                    </a:lnTo>
                    <a:lnTo>
                      <a:pt x="1766638" y="990724"/>
                    </a:lnTo>
                    <a:lnTo>
                      <a:pt x="0" y="990724"/>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1038349"/>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10482708"/>
              <a:chOff x="0" y="0"/>
              <a:chExt cx="24179" cy="781631"/>
            </a:xfrm>
          </p:grpSpPr>
          <p:sp>
            <p:nvSpPr>
              <p:cNvPr id="12" name="Freeform 12"/>
              <p:cNvSpPr/>
              <p:nvPr/>
            </p:nvSpPr>
            <p:spPr>
              <a:xfrm>
                <a:off x="0" y="0"/>
                <a:ext cx="24179" cy="781631"/>
              </a:xfrm>
              <a:custGeom>
                <a:avLst/>
                <a:gdLst/>
                <a:ahLst/>
                <a:cxnLst/>
                <a:rect l="l" t="t" r="r" b="b"/>
                <a:pathLst>
                  <a:path w="24179" h="781631">
                    <a:moveTo>
                      <a:pt x="0" y="0"/>
                    </a:moveTo>
                    <a:lnTo>
                      <a:pt x="24179" y="0"/>
                    </a:lnTo>
                    <a:lnTo>
                      <a:pt x="24179" y="781631"/>
                    </a:lnTo>
                    <a:lnTo>
                      <a:pt x="0" y="781631"/>
                    </a:lnTo>
                    <a:close/>
                  </a:path>
                </a:pathLst>
              </a:custGeom>
              <a:solidFill>
                <a:srgbClr val="465265"/>
              </a:solidFill>
            </p:spPr>
          </p:sp>
          <p:sp>
            <p:nvSpPr>
              <p:cNvPr id="13" name="TextBox 13"/>
              <p:cNvSpPr txBox="1"/>
              <p:nvPr/>
            </p:nvSpPr>
            <p:spPr>
              <a:xfrm>
                <a:off x="0" y="-47625"/>
                <a:ext cx="24179" cy="829256"/>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10482708"/>
              <a:chOff x="0" y="0"/>
              <a:chExt cx="23660" cy="781631"/>
            </a:xfrm>
          </p:grpSpPr>
          <p:sp>
            <p:nvSpPr>
              <p:cNvPr id="15" name="Freeform 15"/>
              <p:cNvSpPr/>
              <p:nvPr/>
            </p:nvSpPr>
            <p:spPr>
              <a:xfrm>
                <a:off x="0" y="0"/>
                <a:ext cx="23660" cy="781631"/>
              </a:xfrm>
              <a:custGeom>
                <a:avLst/>
                <a:gdLst/>
                <a:ahLst/>
                <a:cxnLst/>
                <a:rect l="l" t="t" r="r" b="b"/>
                <a:pathLst>
                  <a:path w="23660" h="781631">
                    <a:moveTo>
                      <a:pt x="0" y="0"/>
                    </a:moveTo>
                    <a:lnTo>
                      <a:pt x="23660" y="0"/>
                    </a:lnTo>
                    <a:lnTo>
                      <a:pt x="23660" y="781631"/>
                    </a:lnTo>
                    <a:lnTo>
                      <a:pt x="0" y="781631"/>
                    </a:lnTo>
                    <a:close/>
                  </a:path>
                </a:pathLst>
              </a:custGeom>
              <a:solidFill>
                <a:srgbClr val="465265"/>
              </a:solidFill>
            </p:spPr>
          </p:sp>
          <p:sp>
            <p:nvSpPr>
              <p:cNvPr id="16" name="TextBox 16"/>
              <p:cNvSpPr txBox="1"/>
              <p:nvPr/>
            </p:nvSpPr>
            <p:spPr>
              <a:xfrm>
                <a:off x="0" y="-47625"/>
                <a:ext cx="23660" cy="829256"/>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1028700" y="1656696"/>
            <a:ext cx="12613399" cy="6924675"/>
          </a:xfrm>
          <a:prstGeom prst="rect">
            <a:avLst/>
          </a:prstGeom>
        </p:spPr>
        <p:txBody>
          <a:bodyPr lIns="0" tIns="0" rIns="0" bIns="0" rtlCol="0" anchor="t">
            <a:spAutoFit/>
          </a:bodyPr>
          <a:lstStyle/>
          <a:p>
            <a:pPr algn="l">
              <a:lnSpc>
                <a:spcPts val="3900"/>
              </a:lnSpc>
            </a:pPr>
            <a:r>
              <a:rPr lang="en-US" sz="3000" dirty="0">
                <a:solidFill>
                  <a:srgbClr val="FF8461"/>
                </a:solidFill>
                <a:latin typeface="Fredoka"/>
                <a:ea typeface="Fredoka"/>
                <a:cs typeface="Fredoka"/>
                <a:sym typeface="Fredoka"/>
              </a:rPr>
              <a:t>Flammability (Burnability):</a:t>
            </a:r>
            <a:r>
              <a:rPr lang="en-US" sz="3000" dirty="0">
                <a:solidFill>
                  <a:srgbClr val="689BCB"/>
                </a:solidFill>
                <a:latin typeface="Fredoka"/>
                <a:ea typeface="Fredoka"/>
                <a:cs typeface="Fredoka"/>
                <a:sym typeface="Fredoka"/>
              </a:rPr>
              <a:t> Some materials can catch fire and burn</a:t>
            </a:r>
          </a:p>
          <a:p>
            <a:pPr algn="l">
              <a:lnSpc>
                <a:spcPts val="3900"/>
              </a:lnSpc>
            </a:pPr>
            <a:r>
              <a:rPr lang="en-US" sz="3000" dirty="0">
                <a:solidFill>
                  <a:srgbClr val="689BCB"/>
                </a:solidFill>
                <a:latin typeface="Fredoka"/>
                <a:ea typeface="Fredoka"/>
                <a:cs typeface="Fredoka"/>
                <a:sym typeface="Fredoka"/>
              </a:rPr>
              <a:t>when exposed to heat or flame. For example, wood, paper, and certain types of plastics can burn. This burning process is a chemical reaction where the material combines with oxygen in the air to produce heat and light. It's important to be cautious around flammable materials and to never play with fire.</a:t>
            </a:r>
          </a:p>
          <a:p>
            <a:pPr algn="l">
              <a:lnSpc>
                <a:spcPts val="3900"/>
              </a:lnSpc>
            </a:pPr>
            <a:endParaRPr lang="en-US" sz="3000" dirty="0">
              <a:solidFill>
                <a:srgbClr val="689BCB"/>
              </a:solidFill>
              <a:latin typeface="Fredoka"/>
              <a:ea typeface="Fredoka"/>
              <a:cs typeface="Fredoka"/>
              <a:sym typeface="Fredoka"/>
            </a:endParaRPr>
          </a:p>
          <a:p>
            <a:pPr algn="l">
              <a:lnSpc>
                <a:spcPts val="3900"/>
              </a:lnSpc>
            </a:pPr>
            <a:r>
              <a:rPr lang="en-US" sz="3000" dirty="0">
                <a:solidFill>
                  <a:srgbClr val="FF8461"/>
                </a:solidFill>
                <a:latin typeface="Fredoka"/>
                <a:ea typeface="Fredoka"/>
                <a:cs typeface="Fredoka"/>
                <a:sym typeface="Fredoka"/>
              </a:rPr>
              <a:t>Reactivity with Other Materials:</a:t>
            </a:r>
            <a:r>
              <a:rPr lang="en-US" sz="3000" dirty="0">
                <a:solidFill>
                  <a:srgbClr val="689BCB"/>
                </a:solidFill>
                <a:latin typeface="Fredoka"/>
                <a:ea typeface="Fredoka"/>
                <a:cs typeface="Fredoka"/>
                <a:sym typeface="Fredoka"/>
              </a:rPr>
              <a:t> Materials can react with each other</a:t>
            </a:r>
          </a:p>
          <a:p>
            <a:pPr algn="l">
              <a:lnSpc>
                <a:spcPts val="3900"/>
              </a:lnSpc>
            </a:pPr>
            <a:r>
              <a:rPr lang="en-US" sz="3000" dirty="0">
                <a:solidFill>
                  <a:srgbClr val="689BCB"/>
                </a:solidFill>
                <a:latin typeface="Fredoka"/>
                <a:ea typeface="Fredoka"/>
                <a:cs typeface="Fredoka"/>
                <a:sym typeface="Fredoka"/>
              </a:rPr>
              <a:t>when they come into contact. This reaction can cause changes in the</a:t>
            </a:r>
          </a:p>
          <a:p>
            <a:pPr algn="l">
              <a:lnSpc>
                <a:spcPts val="3900"/>
              </a:lnSpc>
            </a:pPr>
            <a:r>
              <a:rPr lang="en-US" sz="3000" dirty="0">
                <a:solidFill>
                  <a:srgbClr val="689BCB"/>
                </a:solidFill>
                <a:latin typeface="Fredoka"/>
                <a:ea typeface="Fredoka"/>
                <a:cs typeface="Fredoka"/>
                <a:sym typeface="Fredoka"/>
              </a:rPr>
              <a:t>materials involved. For instance, when iron (a metal) reacts with oxygen and moisture in the air, it forms rust. Similarly, when vinegar (an acid) is mixed with baking soda (a base), it produces bubbles of carbon dioxide gas. Understanding these reactions helps us predict how materials will behave when combined.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500"/>
                                        <p:tgtEl>
                                          <p:spTgt spid="1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Effect transition="in" filter="fade">
                                      <p:cBhvr>
                                        <p:cTn id="15" dur="500"/>
                                        <p:tgtEl>
                                          <p:spTgt spid="17">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xEl>
                                              <p:pRg st="3" end="3"/>
                                            </p:txEl>
                                          </p:spTgt>
                                        </p:tgtEl>
                                        <p:attrNameLst>
                                          <p:attrName>style.visibility</p:attrName>
                                        </p:attrNameLst>
                                      </p:cBhvr>
                                      <p:to>
                                        <p:strVal val="visible"/>
                                      </p:to>
                                    </p:set>
                                    <p:animEffect transition="in" filter="fade">
                                      <p:cBhvr>
                                        <p:cTn id="18" dur="500"/>
                                        <p:tgtEl>
                                          <p:spTgt spid="17">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xEl>
                                              <p:pRg st="4" end="4"/>
                                            </p:txEl>
                                          </p:spTgt>
                                        </p:tgtEl>
                                        <p:attrNameLst>
                                          <p:attrName>style.visibility</p:attrName>
                                        </p:attrNameLst>
                                      </p:cBhvr>
                                      <p:to>
                                        <p:strVal val="visible"/>
                                      </p:to>
                                    </p:set>
                                    <p:animEffect transition="in" filter="fade">
                                      <p:cBhvr>
                                        <p:cTn id="21" dur="500"/>
                                        <p:tgtEl>
                                          <p:spTgt spid="17">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xEl>
                                              <p:pRg st="5" end="5"/>
                                            </p:txEl>
                                          </p:spTgt>
                                        </p:tgtEl>
                                        <p:attrNameLst>
                                          <p:attrName>style.visibility</p:attrName>
                                        </p:attrNameLst>
                                      </p:cBhvr>
                                      <p:to>
                                        <p:strVal val="visible"/>
                                      </p:to>
                                    </p:set>
                                    <p:animEffect transition="in" filter="fade">
                                      <p:cBhvr>
                                        <p:cTn id="24" dur="500"/>
                                        <p:tgtEl>
                                          <p:spTgt spid="1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1160742"/>
            <a:ext cx="14019402" cy="7862031"/>
            <a:chOff x="0" y="0"/>
            <a:chExt cx="18692536" cy="10482708"/>
          </a:xfrm>
        </p:grpSpPr>
        <p:grpSp>
          <p:nvGrpSpPr>
            <p:cNvPr id="8" name="Group 8"/>
            <p:cNvGrpSpPr/>
            <p:nvPr/>
          </p:nvGrpSpPr>
          <p:grpSpPr>
            <a:xfrm>
              <a:off x="0" y="0"/>
              <a:ext cx="18692536" cy="10482708"/>
              <a:chOff x="0" y="0"/>
              <a:chExt cx="1766638" cy="990724"/>
            </a:xfrm>
          </p:grpSpPr>
          <p:sp>
            <p:nvSpPr>
              <p:cNvPr id="9" name="Freeform 9"/>
              <p:cNvSpPr/>
              <p:nvPr/>
            </p:nvSpPr>
            <p:spPr>
              <a:xfrm>
                <a:off x="0" y="0"/>
                <a:ext cx="1766638" cy="990724"/>
              </a:xfrm>
              <a:custGeom>
                <a:avLst/>
                <a:gdLst/>
                <a:ahLst/>
                <a:cxnLst/>
                <a:rect l="l" t="t" r="r" b="b"/>
                <a:pathLst>
                  <a:path w="1766638" h="990724">
                    <a:moveTo>
                      <a:pt x="0" y="0"/>
                    </a:moveTo>
                    <a:lnTo>
                      <a:pt x="1766638" y="0"/>
                    </a:lnTo>
                    <a:lnTo>
                      <a:pt x="1766638" y="990724"/>
                    </a:lnTo>
                    <a:lnTo>
                      <a:pt x="0" y="990724"/>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1038349"/>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10482708"/>
              <a:chOff x="0" y="0"/>
              <a:chExt cx="24179" cy="781631"/>
            </a:xfrm>
          </p:grpSpPr>
          <p:sp>
            <p:nvSpPr>
              <p:cNvPr id="12" name="Freeform 12"/>
              <p:cNvSpPr/>
              <p:nvPr/>
            </p:nvSpPr>
            <p:spPr>
              <a:xfrm>
                <a:off x="0" y="0"/>
                <a:ext cx="24179" cy="781631"/>
              </a:xfrm>
              <a:custGeom>
                <a:avLst/>
                <a:gdLst/>
                <a:ahLst/>
                <a:cxnLst/>
                <a:rect l="l" t="t" r="r" b="b"/>
                <a:pathLst>
                  <a:path w="24179" h="781631">
                    <a:moveTo>
                      <a:pt x="0" y="0"/>
                    </a:moveTo>
                    <a:lnTo>
                      <a:pt x="24179" y="0"/>
                    </a:lnTo>
                    <a:lnTo>
                      <a:pt x="24179" y="781631"/>
                    </a:lnTo>
                    <a:lnTo>
                      <a:pt x="0" y="781631"/>
                    </a:lnTo>
                    <a:close/>
                  </a:path>
                </a:pathLst>
              </a:custGeom>
              <a:solidFill>
                <a:srgbClr val="465265"/>
              </a:solidFill>
            </p:spPr>
          </p:sp>
          <p:sp>
            <p:nvSpPr>
              <p:cNvPr id="13" name="TextBox 13"/>
              <p:cNvSpPr txBox="1"/>
              <p:nvPr/>
            </p:nvSpPr>
            <p:spPr>
              <a:xfrm>
                <a:off x="0" y="-47625"/>
                <a:ext cx="24179" cy="829256"/>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10482708"/>
              <a:chOff x="0" y="0"/>
              <a:chExt cx="23660" cy="781631"/>
            </a:xfrm>
          </p:grpSpPr>
          <p:sp>
            <p:nvSpPr>
              <p:cNvPr id="15" name="Freeform 15"/>
              <p:cNvSpPr/>
              <p:nvPr/>
            </p:nvSpPr>
            <p:spPr>
              <a:xfrm>
                <a:off x="0" y="0"/>
                <a:ext cx="23660" cy="781631"/>
              </a:xfrm>
              <a:custGeom>
                <a:avLst/>
                <a:gdLst/>
                <a:ahLst/>
                <a:cxnLst/>
                <a:rect l="l" t="t" r="r" b="b"/>
                <a:pathLst>
                  <a:path w="23660" h="781631">
                    <a:moveTo>
                      <a:pt x="0" y="0"/>
                    </a:moveTo>
                    <a:lnTo>
                      <a:pt x="23660" y="0"/>
                    </a:lnTo>
                    <a:lnTo>
                      <a:pt x="23660" y="781631"/>
                    </a:lnTo>
                    <a:lnTo>
                      <a:pt x="0" y="781631"/>
                    </a:lnTo>
                    <a:close/>
                  </a:path>
                </a:pathLst>
              </a:custGeom>
              <a:solidFill>
                <a:srgbClr val="465265"/>
              </a:solidFill>
            </p:spPr>
          </p:sp>
          <p:sp>
            <p:nvSpPr>
              <p:cNvPr id="16" name="TextBox 16"/>
              <p:cNvSpPr txBox="1"/>
              <p:nvPr/>
            </p:nvSpPr>
            <p:spPr>
              <a:xfrm>
                <a:off x="0" y="-47625"/>
                <a:ext cx="23660" cy="829256"/>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1028700" y="1656696"/>
            <a:ext cx="12613399" cy="4448175"/>
          </a:xfrm>
          <a:prstGeom prst="rect">
            <a:avLst/>
          </a:prstGeom>
        </p:spPr>
        <p:txBody>
          <a:bodyPr lIns="0" tIns="0" rIns="0" bIns="0" rtlCol="0" anchor="t">
            <a:spAutoFit/>
          </a:bodyPr>
          <a:lstStyle/>
          <a:p>
            <a:pPr algn="l">
              <a:lnSpc>
                <a:spcPts val="3900"/>
              </a:lnSpc>
            </a:pPr>
            <a:r>
              <a:rPr lang="en-US" sz="3000" dirty="0">
                <a:solidFill>
                  <a:srgbClr val="FF8461"/>
                </a:solidFill>
                <a:latin typeface="Fredoka"/>
                <a:ea typeface="Fredoka"/>
                <a:cs typeface="Fredoka"/>
                <a:sym typeface="Fredoka"/>
              </a:rPr>
              <a:t>Degradability and Biodegradability:</a:t>
            </a:r>
            <a:r>
              <a:rPr lang="en-US" sz="3000" dirty="0">
                <a:solidFill>
                  <a:srgbClr val="689BCB"/>
                </a:solidFill>
                <a:latin typeface="Fredoka"/>
                <a:ea typeface="Fredoka"/>
                <a:cs typeface="Fredoka"/>
                <a:sym typeface="Fredoka"/>
              </a:rPr>
              <a:t> Materials can break down or</a:t>
            </a:r>
          </a:p>
          <a:p>
            <a:pPr algn="l">
              <a:lnSpc>
                <a:spcPts val="3900"/>
              </a:lnSpc>
            </a:pPr>
            <a:r>
              <a:rPr lang="en-US" sz="3000" dirty="0">
                <a:solidFill>
                  <a:srgbClr val="689BCB"/>
                </a:solidFill>
                <a:latin typeface="Fredoka"/>
                <a:ea typeface="Fredoka"/>
                <a:cs typeface="Fredoka"/>
                <a:sym typeface="Fredoka"/>
              </a:rPr>
              <a:t>decompose over time due to various factors such as exposure to sunlight, air, water, or microorganisms like bacteria and fungi. Degradable materials eventually break down into smaller pieces, while living organisms can break down biodegradable materials into simpler substances. For example, food scraps, paper, and certain types of plastics are biodegradable, meaning they can be broken down naturally by bacteria and other organisms in the environment.</a:t>
            </a:r>
          </a:p>
          <a:p>
            <a:pPr algn="l">
              <a:lnSpc>
                <a:spcPts val="3900"/>
              </a:lnSpc>
            </a:pPr>
            <a:endParaRPr lang="en-US" sz="3000" dirty="0">
              <a:solidFill>
                <a:srgbClr val="689BCB"/>
              </a:solidFill>
              <a:latin typeface="Fredoka"/>
              <a:ea typeface="Fredoka"/>
              <a:cs typeface="Fredoka"/>
              <a:sym typeface="Fredok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fade">
                                      <p:cBhvr>
                                        <p:cTn id="10" dur="500"/>
                                        <p:tgtEl>
                                          <p:spTgt spid="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3940624" y="2785287"/>
            <a:ext cx="10286138" cy="4344772"/>
            <a:chOff x="0" y="0"/>
            <a:chExt cx="2709106" cy="1144302"/>
          </a:xfrm>
        </p:grpSpPr>
        <p:sp>
          <p:nvSpPr>
            <p:cNvPr id="4" name="Freeform 4"/>
            <p:cNvSpPr/>
            <p:nvPr/>
          </p:nvSpPr>
          <p:spPr>
            <a:xfrm>
              <a:off x="0" y="0"/>
              <a:ext cx="2709106" cy="1144302"/>
            </a:xfrm>
            <a:custGeom>
              <a:avLst/>
              <a:gdLst/>
              <a:ahLst/>
              <a:cxnLst/>
              <a:rect l="l" t="t" r="r" b="b"/>
              <a:pathLst>
                <a:path w="2709106" h="1144302">
                  <a:moveTo>
                    <a:pt x="0" y="0"/>
                  </a:moveTo>
                  <a:lnTo>
                    <a:pt x="2709106" y="0"/>
                  </a:lnTo>
                  <a:lnTo>
                    <a:pt x="2709106" y="1144302"/>
                  </a:lnTo>
                  <a:lnTo>
                    <a:pt x="0" y="1144302"/>
                  </a:lnTo>
                  <a:close/>
                </a:path>
              </a:pathLst>
            </a:custGeom>
            <a:solidFill>
              <a:srgbClr val="59687F"/>
            </a:solidFill>
          </p:spPr>
        </p:sp>
        <p:sp>
          <p:nvSpPr>
            <p:cNvPr id="5" name="TextBox 5"/>
            <p:cNvSpPr txBox="1"/>
            <p:nvPr/>
          </p:nvSpPr>
          <p:spPr>
            <a:xfrm>
              <a:off x="0" y="-47625"/>
              <a:ext cx="2709106" cy="1191927"/>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4310128" y="3178914"/>
            <a:ext cx="9417722" cy="3524601"/>
            <a:chOff x="0" y="0"/>
            <a:chExt cx="2480388" cy="928290"/>
          </a:xfrm>
        </p:grpSpPr>
        <p:sp>
          <p:nvSpPr>
            <p:cNvPr id="7" name="Freeform 7"/>
            <p:cNvSpPr/>
            <p:nvPr/>
          </p:nvSpPr>
          <p:spPr>
            <a:xfrm>
              <a:off x="0" y="0"/>
              <a:ext cx="2480388" cy="928290"/>
            </a:xfrm>
            <a:custGeom>
              <a:avLst/>
              <a:gdLst/>
              <a:ahLst/>
              <a:cxnLst/>
              <a:rect l="l" t="t" r="r" b="b"/>
              <a:pathLst>
                <a:path w="2480388" h="928290">
                  <a:moveTo>
                    <a:pt x="0" y="0"/>
                  </a:moveTo>
                  <a:lnTo>
                    <a:pt x="2480388" y="0"/>
                  </a:lnTo>
                  <a:lnTo>
                    <a:pt x="2480388" y="928290"/>
                  </a:lnTo>
                  <a:lnTo>
                    <a:pt x="0" y="928290"/>
                  </a:lnTo>
                  <a:close/>
                </a:path>
              </a:pathLst>
            </a:custGeom>
            <a:solidFill>
              <a:srgbClr val="E8EEFD"/>
            </a:solidFill>
          </p:spPr>
        </p:sp>
        <p:sp>
          <p:nvSpPr>
            <p:cNvPr id="8" name="TextBox 8"/>
            <p:cNvSpPr txBox="1"/>
            <p:nvPr/>
          </p:nvSpPr>
          <p:spPr>
            <a:xfrm>
              <a:off x="0" y="-47625"/>
              <a:ext cx="2480388" cy="97591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3940624" y="2768829"/>
            <a:ext cx="217104" cy="4344772"/>
            <a:chOff x="0" y="0"/>
            <a:chExt cx="57180" cy="1144302"/>
          </a:xfrm>
        </p:grpSpPr>
        <p:sp>
          <p:nvSpPr>
            <p:cNvPr id="10" name="Freeform 10"/>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1" name="TextBox 11"/>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4009658" y="2785287"/>
            <a:ext cx="217104" cy="4344772"/>
            <a:chOff x="0" y="0"/>
            <a:chExt cx="57180" cy="1144302"/>
          </a:xfrm>
        </p:grpSpPr>
        <p:sp>
          <p:nvSpPr>
            <p:cNvPr id="13" name="Freeform 13"/>
            <p:cNvSpPr/>
            <p:nvPr/>
          </p:nvSpPr>
          <p:spPr>
            <a:xfrm>
              <a:off x="0" y="0"/>
              <a:ext cx="57180" cy="1144302"/>
            </a:xfrm>
            <a:custGeom>
              <a:avLst/>
              <a:gdLst/>
              <a:ahLst/>
              <a:cxnLst/>
              <a:rect l="l" t="t" r="r" b="b"/>
              <a:pathLst>
                <a:path w="57180" h="1144302">
                  <a:moveTo>
                    <a:pt x="0" y="0"/>
                  </a:moveTo>
                  <a:lnTo>
                    <a:pt x="57180" y="0"/>
                  </a:lnTo>
                  <a:lnTo>
                    <a:pt x="57180" y="1144302"/>
                  </a:lnTo>
                  <a:lnTo>
                    <a:pt x="0" y="1144302"/>
                  </a:lnTo>
                  <a:close/>
                </a:path>
              </a:pathLst>
            </a:custGeom>
            <a:solidFill>
              <a:srgbClr val="465265"/>
            </a:solidFill>
          </p:spPr>
        </p:sp>
        <p:sp>
          <p:nvSpPr>
            <p:cNvPr id="14" name="TextBox 14"/>
            <p:cNvSpPr txBox="1"/>
            <p:nvPr/>
          </p:nvSpPr>
          <p:spPr>
            <a:xfrm>
              <a:off x="0" y="-47625"/>
              <a:ext cx="57180" cy="1191927"/>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0" y="2111925"/>
            <a:ext cx="4882379" cy="9624761"/>
          </a:xfrm>
          <a:custGeom>
            <a:avLst/>
            <a:gdLst/>
            <a:ahLst/>
            <a:cxnLst/>
            <a:rect l="l" t="t" r="r" b="b"/>
            <a:pathLst>
              <a:path w="4882379" h="9624761">
                <a:moveTo>
                  <a:pt x="0" y="0"/>
                </a:moveTo>
                <a:lnTo>
                  <a:pt x="4882379" y="0"/>
                </a:lnTo>
                <a:lnTo>
                  <a:pt x="4882379" y="9624760"/>
                </a:lnTo>
                <a:lnTo>
                  <a:pt x="0" y="96247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10615157" y="4941215"/>
            <a:ext cx="14586339" cy="6454455"/>
          </a:xfrm>
          <a:custGeom>
            <a:avLst/>
            <a:gdLst/>
            <a:ahLst/>
            <a:cxnLst/>
            <a:rect l="l" t="t" r="r" b="b"/>
            <a:pathLst>
              <a:path w="14586339" h="6454455">
                <a:moveTo>
                  <a:pt x="0" y="0"/>
                </a:moveTo>
                <a:lnTo>
                  <a:pt x="14586339" y="0"/>
                </a:lnTo>
                <a:lnTo>
                  <a:pt x="14586339" y="6454455"/>
                </a:lnTo>
                <a:lnTo>
                  <a:pt x="0" y="6454455"/>
                </a:lnTo>
                <a:lnTo>
                  <a:pt x="0" y="0"/>
                </a:lnTo>
                <a:close/>
              </a:path>
            </a:pathLst>
          </a:custGeom>
          <a:blipFill>
            <a:blip r:embed="rId5"/>
            <a:stretch>
              <a:fillRect/>
            </a:stretch>
          </a:blipFill>
        </p:spPr>
      </p:sp>
      <p:grpSp>
        <p:nvGrpSpPr>
          <p:cNvPr id="17" name="Group 17"/>
          <p:cNvGrpSpPr/>
          <p:nvPr/>
        </p:nvGrpSpPr>
        <p:grpSpPr>
          <a:xfrm>
            <a:off x="-566209" y="9642589"/>
            <a:ext cx="18854209" cy="763941"/>
            <a:chOff x="0" y="0"/>
            <a:chExt cx="4965718" cy="201203"/>
          </a:xfrm>
        </p:grpSpPr>
        <p:sp>
          <p:nvSpPr>
            <p:cNvPr id="18" name="Freeform 18"/>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9" name="TextBox 19"/>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4948661" y="3766465"/>
            <a:ext cx="8140657" cy="863600"/>
          </a:xfrm>
          <a:prstGeom prst="rect">
            <a:avLst/>
          </a:prstGeom>
        </p:spPr>
        <p:txBody>
          <a:bodyPr lIns="0" tIns="0" rIns="0" bIns="0" rtlCol="0" anchor="t">
            <a:spAutoFit/>
          </a:bodyPr>
          <a:lstStyle/>
          <a:p>
            <a:pPr algn="ctr">
              <a:lnSpc>
                <a:spcPts val="7000"/>
              </a:lnSpc>
            </a:pPr>
            <a:r>
              <a:rPr lang="en-US" sz="5000" dirty="0">
                <a:solidFill>
                  <a:srgbClr val="FA7444"/>
                </a:solidFill>
                <a:latin typeface="Fredoka"/>
                <a:ea typeface="Fredoka"/>
                <a:cs typeface="Fredoka"/>
                <a:sym typeface="Fredoka"/>
              </a:rPr>
              <a:t>FORMATIVE ASSESSMENT</a:t>
            </a:r>
          </a:p>
        </p:txBody>
      </p:sp>
      <p:sp>
        <p:nvSpPr>
          <p:cNvPr id="21" name="TextBox 21"/>
          <p:cNvSpPr txBox="1"/>
          <p:nvPr/>
        </p:nvSpPr>
        <p:spPr>
          <a:xfrm>
            <a:off x="4310128" y="1397550"/>
            <a:ext cx="3381213" cy="1285875"/>
          </a:xfrm>
          <a:prstGeom prst="rect">
            <a:avLst/>
          </a:prstGeom>
        </p:spPr>
        <p:txBody>
          <a:bodyPr lIns="0" tIns="0" rIns="0" bIns="0" rtlCol="0" anchor="t">
            <a:spAutoFit/>
          </a:bodyPr>
          <a:lstStyle/>
          <a:p>
            <a:pPr algn="ctr">
              <a:lnSpc>
                <a:spcPts val="10500"/>
              </a:lnSpc>
            </a:pPr>
            <a:r>
              <a:rPr lang="en-US" sz="7500" dirty="0">
                <a:solidFill>
                  <a:srgbClr val="264899"/>
                </a:solidFill>
                <a:latin typeface="Fredoka"/>
                <a:ea typeface="Fredoka"/>
                <a:cs typeface="Fredoka"/>
                <a:sym typeface="Fredoka"/>
              </a:rPr>
              <a:t>DAY 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426970" y="2290640"/>
            <a:ext cx="7391084" cy="8828327"/>
            <a:chOff x="0" y="0"/>
            <a:chExt cx="9854778" cy="11771102"/>
          </a:xfrm>
        </p:grpSpPr>
        <p:sp>
          <p:nvSpPr>
            <p:cNvPr id="4" name="Freeform 4"/>
            <p:cNvSpPr/>
            <p:nvPr/>
          </p:nvSpPr>
          <p:spPr>
            <a:xfrm>
              <a:off x="0" y="0"/>
              <a:ext cx="9844922" cy="11771102"/>
            </a:xfrm>
            <a:custGeom>
              <a:avLst/>
              <a:gdLst/>
              <a:ahLst/>
              <a:cxnLst/>
              <a:rect l="l" t="t" r="r" b="b"/>
              <a:pathLst>
                <a:path w="9844922" h="11771102">
                  <a:moveTo>
                    <a:pt x="0" y="0"/>
                  </a:moveTo>
                  <a:lnTo>
                    <a:pt x="9844922" y="0"/>
                  </a:lnTo>
                  <a:lnTo>
                    <a:pt x="9844922" y="11771102"/>
                  </a:lnTo>
                  <a:lnTo>
                    <a:pt x="0" y="11771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49250">
              <a:off x="3558494" y="1136996"/>
              <a:ext cx="2417339" cy="1012261"/>
            </a:xfrm>
            <a:custGeom>
              <a:avLst/>
              <a:gdLst/>
              <a:ahLst/>
              <a:cxnLst/>
              <a:rect l="l" t="t" r="r" b="b"/>
              <a:pathLst>
                <a:path w="2417339" h="1012261">
                  <a:moveTo>
                    <a:pt x="0" y="0"/>
                  </a:moveTo>
                  <a:lnTo>
                    <a:pt x="2417339" y="0"/>
                  </a:lnTo>
                  <a:lnTo>
                    <a:pt x="2417339" y="1012261"/>
                  </a:lnTo>
                  <a:lnTo>
                    <a:pt x="0" y="10122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9857" y="3044413"/>
              <a:ext cx="2129695" cy="2418878"/>
            </a:xfrm>
            <a:custGeom>
              <a:avLst/>
              <a:gdLst/>
              <a:ahLst/>
              <a:cxnLst/>
              <a:rect l="l" t="t" r="r" b="b"/>
              <a:pathLst>
                <a:path w="2129695" h="2418878">
                  <a:moveTo>
                    <a:pt x="0" y="0"/>
                  </a:moveTo>
                  <a:lnTo>
                    <a:pt x="2129695" y="0"/>
                  </a:lnTo>
                  <a:lnTo>
                    <a:pt x="2129695" y="2418878"/>
                  </a:lnTo>
                  <a:lnTo>
                    <a:pt x="0" y="2418878"/>
                  </a:lnTo>
                  <a:lnTo>
                    <a:pt x="0" y="0"/>
                  </a:lnTo>
                  <a:close/>
                </a:path>
              </a:pathLst>
            </a:custGeom>
            <a:blipFill>
              <a:blip r:embed="rId7">
                <a:extLst>
                  <a:ext uri="{96DAC541-7B7A-43D3-8B79-37D633B846F1}">
                    <asvg:svgBlip xmlns:asvg="http://schemas.microsoft.com/office/drawing/2016/SVG/main" r:embed="rId8"/>
                  </a:ext>
                </a:extLst>
              </a:blip>
              <a:stretch>
                <a:fillRect l="-462" t="-125860" r="-361806" b="-260774"/>
              </a:stretch>
            </a:blipFill>
          </p:spPr>
        </p:sp>
        <p:sp>
          <p:nvSpPr>
            <p:cNvPr id="7" name="Freeform 7"/>
            <p:cNvSpPr/>
            <p:nvPr/>
          </p:nvSpPr>
          <p:spPr>
            <a:xfrm>
              <a:off x="7266975" y="2291843"/>
              <a:ext cx="2587804" cy="1221857"/>
            </a:xfrm>
            <a:custGeom>
              <a:avLst/>
              <a:gdLst/>
              <a:ahLst/>
              <a:cxnLst/>
              <a:rect l="l" t="t" r="r" b="b"/>
              <a:pathLst>
                <a:path w="2587804" h="1221857">
                  <a:moveTo>
                    <a:pt x="0" y="0"/>
                  </a:moveTo>
                  <a:lnTo>
                    <a:pt x="2587803" y="0"/>
                  </a:lnTo>
                  <a:lnTo>
                    <a:pt x="2587803" y="1221856"/>
                  </a:lnTo>
                  <a:lnTo>
                    <a:pt x="0" y="1221856"/>
                  </a:lnTo>
                  <a:lnTo>
                    <a:pt x="0" y="0"/>
                  </a:lnTo>
                  <a:close/>
                </a:path>
              </a:pathLst>
            </a:custGeom>
            <a:blipFill>
              <a:blip r:embed="rId9">
                <a:extLst>
                  <a:ext uri="{96DAC541-7B7A-43D3-8B79-37D633B846F1}">
                    <asvg:svgBlip xmlns:asvg="http://schemas.microsoft.com/office/drawing/2016/SVG/main" r:embed="rId10"/>
                  </a:ext>
                </a:extLst>
              </a:blip>
              <a:stretch>
                <a:fillRect l="-280435" t="-187570" b="-675807"/>
              </a:stretch>
            </a:blipFill>
          </p:spPr>
        </p:sp>
      </p:grpSp>
      <p:grpSp>
        <p:nvGrpSpPr>
          <p:cNvPr id="8" name="Group 8"/>
          <p:cNvGrpSpPr/>
          <p:nvPr/>
        </p:nvGrpSpPr>
        <p:grpSpPr>
          <a:xfrm>
            <a:off x="-566209" y="9642589"/>
            <a:ext cx="18854209" cy="763941"/>
            <a:chOff x="0" y="0"/>
            <a:chExt cx="4965718" cy="201203"/>
          </a:xfrm>
        </p:grpSpPr>
        <p:sp>
          <p:nvSpPr>
            <p:cNvPr id="9" name="Freeform 9"/>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0" name="TextBox 10"/>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613838" y="4283004"/>
            <a:ext cx="8617648" cy="2187212"/>
            <a:chOff x="0" y="0"/>
            <a:chExt cx="11490198" cy="2916283"/>
          </a:xfrm>
        </p:grpSpPr>
        <p:grpSp>
          <p:nvGrpSpPr>
            <p:cNvPr id="12" name="Group 12"/>
            <p:cNvGrpSpPr/>
            <p:nvPr/>
          </p:nvGrpSpPr>
          <p:grpSpPr>
            <a:xfrm>
              <a:off x="0" y="0"/>
              <a:ext cx="11490198" cy="2916283"/>
              <a:chOff x="0" y="0"/>
              <a:chExt cx="1085942" cy="275619"/>
            </a:xfrm>
          </p:grpSpPr>
          <p:sp>
            <p:nvSpPr>
              <p:cNvPr id="13" name="Freeform 13"/>
              <p:cNvSpPr/>
              <p:nvPr/>
            </p:nvSpPr>
            <p:spPr>
              <a:xfrm>
                <a:off x="0" y="0"/>
                <a:ext cx="1085942" cy="275619"/>
              </a:xfrm>
              <a:custGeom>
                <a:avLst/>
                <a:gdLst/>
                <a:ahLst/>
                <a:cxnLst/>
                <a:rect l="l" t="t" r="r" b="b"/>
                <a:pathLst>
                  <a:path w="1085942" h="275619">
                    <a:moveTo>
                      <a:pt x="0" y="0"/>
                    </a:moveTo>
                    <a:lnTo>
                      <a:pt x="1085942" y="0"/>
                    </a:lnTo>
                    <a:lnTo>
                      <a:pt x="1085942" y="275619"/>
                    </a:lnTo>
                    <a:lnTo>
                      <a:pt x="0" y="275619"/>
                    </a:lnTo>
                    <a:close/>
                  </a:path>
                </a:pathLst>
              </a:custGeom>
              <a:solidFill>
                <a:srgbClr val="E8EEFD"/>
              </a:solidFill>
              <a:ln w="219075" cap="sq">
                <a:solidFill>
                  <a:srgbClr val="59687F"/>
                </a:solidFill>
                <a:prstDash val="solid"/>
                <a:miter/>
              </a:ln>
            </p:spPr>
          </p:sp>
          <p:sp>
            <p:nvSpPr>
              <p:cNvPr id="14" name="TextBox 14"/>
              <p:cNvSpPr txBox="1"/>
              <p:nvPr/>
            </p:nvSpPr>
            <p:spPr>
              <a:xfrm>
                <a:off x="0" y="-47625"/>
                <a:ext cx="1085942" cy="323244"/>
              </a:xfrm>
              <a:prstGeom prst="rect">
                <a:avLst/>
              </a:prstGeom>
            </p:spPr>
            <p:txBody>
              <a:bodyPr lIns="134577" tIns="134577" rIns="134577" bIns="134577" rtlCol="0" anchor="ctr"/>
              <a:lstStyle/>
              <a:p>
                <a:pPr algn="ctr">
                  <a:lnSpc>
                    <a:spcPts val="2660"/>
                  </a:lnSpc>
                </a:pPr>
                <a:endParaRPr/>
              </a:p>
            </p:txBody>
          </p:sp>
        </p:grpSp>
        <p:grpSp>
          <p:nvGrpSpPr>
            <p:cNvPr id="15" name="Group 15"/>
            <p:cNvGrpSpPr/>
            <p:nvPr/>
          </p:nvGrpSpPr>
          <p:grpSpPr>
            <a:xfrm>
              <a:off x="0" y="0"/>
              <a:ext cx="199331" cy="2916283"/>
              <a:chOff x="0" y="0"/>
              <a:chExt cx="14863" cy="217449"/>
            </a:xfrm>
          </p:grpSpPr>
          <p:sp>
            <p:nvSpPr>
              <p:cNvPr id="16" name="Freeform 16"/>
              <p:cNvSpPr/>
              <p:nvPr/>
            </p:nvSpPr>
            <p:spPr>
              <a:xfrm>
                <a:off x="0" y="0"/>
                <a:ext cx="14863" cy="217449"/>
              </a:xfrm>
              <a:custGeom>
                <a:avLst/>
                <a:gdLst/>
                <a:ahLst/>
                <a:cxnLst/>
                <a:rect l="l" t="t" r="r" b="b"/>
                <a:pathLst>
                  <a:path w="14863" h="217449">
                    <a:moveTo>
                      <a:pt x="0" y="0"/>
                    </a:moveTo>
                    <a:lnTo>
                      <a:pt x="14863" y="0"/>
                    </a:lnTo>
                    <a:lnTo>
                      <a:pt x="14863" y="217449"/>
                    </a:lnTo>
                    <a:lnTo>
                      <a:pt x="0" y="217449"/>
                    </a:lnTo>
                    <a:close/>
                  </a:path>
                </a:pathLst>
              </a:custGeom>
              <a:solidFill>
                <a:srgbClr val="465265"/>
              </a:solidFill>
            </p:spPr>
          </p:sp>
          <p:sp>
            <p:nvSpPr>
              <p:cNvPr id="17" name="TextBox 17"/>
              <p:cNvSpPr txBox="1"/>
              <p:nvPr/>
            </p:nvSpPr>
            <p:spPr>
              <a:xfrm>
                <a:off x="0" y="-47625"/>
                <a:ext cx="14863" cy="265074"/>
              </a:xfrm>
              <a:prstGeom prst="rect">
                <a:avLst/>
              </a:prstGeom>
            </p:spPr>
            <p:txBody>
              <a:bodyPr lIns="134577" tIns="134577" rIns="134577" bIns="134577" rtlCol="0" anchor="ctr"/>
              <a:lstStyle/>
              <a:p>
                <a:pPr algn="ctr">
                  <a:lnSpc>
                    <a:spcPts val="2660"/>
                  </a:lnSpc>
                </a:pPr>
                <a:endParaRPr/>
              </a:p>
            </p:txBody>
          </p:sp>
        </p:grpSp>
        <p:grpSp>
          <p:nvGrpSpPr>
            <p:cNvPr id="18" name="Group 18"/>
            <p:cNvGrpSpPr/>
            <p:nvPr/>
          </p:nvGrpSpPr>
          <p:grpSpPr>
            <a:xfrm>
              <a:off x="11295149" y="0"/>
              <a:ext cx="195048" cy="2916283"/>
              <a:chOff x="0" y="0"/>
              <a:chExt cx="14544" cy="217449"/>
            </a:xfrm>
          </p:grpSpPr>
          <p:sp>
            <p:nvSpPr>
              <p:cNvPr id="19" name="Freeform 19"/>
              <p:cNvSpPr/>
              <p:nvPr/>
            </p:nvSpPr>
            <p:spPr>
              <a:xfrm>
                <a:off x="0" y="0"/>
                <a:ext cx="14544" cy="217449"/>
              </a:xfrm>
              <a:custGeom>
                <a:avLst/>
                <a:gdLst/>
                <a:ahLst/>
                <a:cxnLst/>
                <a:rect l="l" t="t" r="r" b="b"/>
                <a:pathLst>
                  <a:path w="14544" h="217449">
                    <a:moveTo>
                      <a:pt x="0" y="0"/>
                    </a:moveTo>
                    <a:lnTo>
                      <a:pt x="14544" y="0"/>
                    </a:lnTo>
                    <a:lnTo>
                      <a:pt x="14544" y="217449"/>
                    </a:lnTo>
                    <a:lnTo>
                      <a:pt x="0" y="217449"/>
                    </a:lnTo>
                    <a:close/>
                  </a:path>
                </a:pathLst>
              </a:custGeom>
              <a:solidFill>
                <a:srgbClr val="465265"/>
              </a:solidFill>
            </p:spPr>
          </p:sp>
          <p:sp>
            <p:nvSpPr>
              <p:cNvPr id="20" name="TextBox 20"/>
              <p:cNvSpPr txBox="1"/>
              <p:nvPr/>
            </p:nvSpPr>
            <p:spPr>
              <a:xfrm>
                <a:off x="0" y="-47625"/>
                <a:ext cx="14544" cy="265074"/>
              </a:xfrm>
              <a:prstGeom prst="rect">
                <a:avLst/>
              </a:prstGeom>
            </p:spPr>
            <p:txBody>
              <a:bodyPr lIns="134577" tIns="134577" rIns="134577" bIns="134577" rtlCol="0" anchor="ctr"/>
              <a:lstStyle/>
              <a:p>
                <a:pPr algn="ctr">
                  <a:lnSpc>
                    <a:spcPts val="2660"/>
                  </a:lnSpc>
                </a:pPr>
                <a:endParaRPr/>
              </a:p>
            </p:txBody>
          </p:sp>
        </p:grpSp>
      </p:grpSp>
      <p:sp>
        <p:nvSpPr>
          <p:cNvPr id="21" name="TextBox 21"/>
          <p:cNvSpPr txBox="1"/>
          <p:nvPr/>
        </p:nvSpPr>
        <p:spPr>
          <a:xfrm>
            <a:off x="8101952" y="4712854"/>
            <a:ext cx="7641419" cy="1296670"/>
          </a:xfrm>
          <a:prstGeom prst="rect">
            <a:avLst/>
          </a:prstGeom>
        </p:spPr>
        <p:txBody>
          <a:bodyPr lIns="0" tIns="0" rIns="0" bIns="0" rtlCol="0" anchor="t">
            <a:spAutoFit/>
          </a:bodyPr>
          <a:lstStyle/>
          <a:p>
            <a:pPr algn="ctr">
              <a:lnSpc>
                <a:spcPts val="3409"/>
              </a:lnSpc>
            </a:pPr>
            <a:r>
              <a:rPr lang="en-US" sz="3099" dirty="0">
                <a:solidFill>
                  <a:srgbClr val="689BCB"/>
                </a:solidFill>
                <a:latin typeface="Fredoka"/>
                <a:ea typeface="Fredoka"/>
                <a:cs typeface="Fredoka"/>
                <a:sym typeface="Fredoka"/>
              </a:rPr>
              <a:t>Direction: Read each question carefully. Identify the letter of the correct answer.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1160742"/>
            <a:ext cx="14019402" cy="8097558"/>
            <a:chOff x="0" y="0"/>
            <a:chExt cx="18692536" cy="10796744"/>
          </a:xfrm>
        </p:grpSpPr>
        <p:grpSp>
          <p:nvGrpSpPr>
            <p:cNvPr id="8" name="Group 8"/>
            <p:cNvGrpSpPr/>
            <p:nvPr/>
          </p:nvGrpSpPr>
          <p:grpSpPr>
            <a:xfrm>
              <a:off x="0" y="0"/>
              <a:ext cx="18692536" cy="10796744"/>
              <a:chOff x="0" y="0"/>
              <a:chExt cx="1766638" cy="1020404"/>
            </a:xfrm>
          </p:grpSpPr>
          <p:sp>
            <p:nvSpPr>
              <p:cNvPr id="9" name="Freeform 9"/>
              <p:cNvSpPr/>
              <p:nvPr/>
            </p:nvSpPr>
            <p:spPr>
              <a:xfrm>
                <a:off x="0" y="0"/>
                <a:ext cx="1766638" cy="1020404"/>
              </a:xfrm>
              <a:custGeom>
                <a:avLst/>
                <a:gdLst/>
                <a:ahLst/>
                <a:cxnLst/>
                <a:rect l="l" t="t" r="r" b="b"/>
                <a:pathLst>
                  <a:path w="1766638" h="1020404">
                    <a:moveTo>
                      <a:pt x="0" y="0"/>
                    </a:moveTo>
                    <a:lnTo>
                      <a:pt x="1766638" y="0"/>
                    </a:lnTo>
                    <a:lnTo>
                      <a:pt x="1766638" y="1020404"/>
                    </a:lnTo>
                    <a:lnTo>
                      <a:pt x="0" y="1020404"/>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1068029"/>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10796744"/>
              <a:chOff x="0" y="0"/>
              <a:chExt cx="24179" cy="805046"/>
            </a:xfrm>
          </p:grpSpPr>
          <p:sp>
            <p:nvSpPr>
              <p:cNvPr id="12" name="Freeform 12"/>
              <p:cNvSpPr/>
              <p:nvPr/>
            </p:nvSpPr>
            <p:spPr>
              <a:xfrm>
                <a:off x="0" y="0"/>
                <a:ext cx="24179" cy="805046"/>
              </a:xfrm>
              <a:custGeom>
                <a:avLst/>
                <a:gdLst/>
                <a:ahLst/>
                <a:cxnLst/>
                <a:rect l="l" t="t" r="r" b="b"/>
                <a:pathLst>
                  <a:path w="24179" h="805046">
                    <a:moveTo>
                      <a:pt x="0" y="0"/>
                    </a:moveTo>
                    <a:lnTo>
                      <a:pt x="24179" y="0"/>
                    </a:lnTo>
                    <a:lnTo>
                      <a:pt x="24179" y="805046"/>
                    </a:lnTo>
                    <a:lnTo>
                      <a:pt x="0" y="805046"/>
                    </a:lnTo>
                    <a:close/>
                  </a:path>
                </a:pathLst>
              </a:custGeom>
              <a:solidFill>
                <a:srgbClr val="465265"/>
              </a:solidFill>
            </p:spPr>
          </p:sp>
          <p:sp>
            <p:nvSpPr>
              <p:cNvPr id="13" name="TextBox 13"/>
              <p:cNvSpPr txBox="1"/>
              <p:nvPr/>
            </p:nvSpPr>
            <p:spPr>
              <a:xfrm>
                <a:off x="0" y="-47625"/>
                <a:ext cx="24179" cy="85267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10796744"/>
              <a:chOff x="0" y="0"/>
              <a:chExt cx="23660" cy="805046"/>
            </a:xfrm>
          </p:grpSpPr>
          <p:sp>
            <p:nvSpPr>
              <p:cNvPr id="15" name="Freeform 15"/>
              <p:cNvSpPr/>
              <p:nvPr/>
            </p:nvSpPr>
            <p:spPr>
              <a:xfrm>
                <a:off x="0" y="0"/>
                <a:ext cx="23660" cy="805046"/>
              </a:xfrm>
              <a:custGeom>
                <a:avLst/>
                <a:gdLst/>
                <a:ahLst/>
                <a:cxnLst/>
                <a:rect l="l" t="t" r="r" b="b"/>
                <a:pathLst>
                  <a:path w="23660" h="805046">
                    <a:moveTo>
                      <a:pt x="0" y="0"/>
                    </a:moveTo>
                    <a:lnTo>
                      <a:pt x="23660" y="0"/>
                    </a:lnTo>
                    <a:lnTo>
                      <a:pt x="23660" y="805046"/>
                    </a:lnTo>
                    <a:lnTo>
                      <a:pt x="0" y="805046"/>
                    </a:lnTo>
                    <a:close/>
                  </a:path>
                </a:pathLst>
              </a:custGeom>
              <a:solidFill>
                <a:srgbClr val="465265"/>
              </a:solidFill>
            </p:spPr>
          </p:sp>
          <p:sp>
            <p:nvSpPr>
              <p:cNvPr id="16" name="TextBox 16"/>
              <p:cNvSpPr txBox="1"/>
              <p:nvPr/>
            </p:nvSpPr>
            <p:spPr>
              <a:xfrm>
                <a:off x="0" y="-47625"/>
                <a:ext cx="23660" cy="85267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1028700" y="1656696"/>
            <a:ext cx="12613399" cy="5438775"/>
          </a:xfrm>
          <a:prstGeom prst="rect">
            <a:avLst/>
          </a:prstGeom>
        </p:spPr>
        <p:txBody>
          <a:bodyPr lIns="0" tIns="0" rIns="0" bIns="0" rtlCol="0" anchor="t">
            <a:spAutoFit/>
          </a:bodyPr>
          <a:lstStyle/>
          <a:p>
            <a:pPr algn="l">
              <a:lnSpc>
                <a:spcPts val="3900"/>
              </a:lnSpc>
            </a:pPr>
            <a:r>
              <a:rPr lang="en-US" sz="3000" dirty="0">
                <a:solidFill>
                  <a:srgbClr val="689BCB"/>
                </a:solidFill>
                <a:latin typeface="Fredoka"/>
                <a:ea typeface="Fredoka"/>
                <a:cs typeface="Fredoka"/>
                <a:sym typeface="Fredoka"/>
              </a:rPr>
              <a:t>1. Which of the following best describes flammability?</a:t>
            </a:r>
          </a:p>
          <a:p>
            <a:pPr algn="l">
              <a:lnSpc>
                <a:spcPts val="3900"/>
              </a:lnSpc>
            </a:pPr>
            <a:r>
              <a:rPr lang="en-US" sz="3000" dirty="0">
                <a:solidFill>
                  <a:srgbClr val="689BCB"/>
                </a:solidFill>
                <a:latin typeface="Fredoka"/>
                <a:ea typeface="Fredoka"/>
                <a:cs typeface="Fredoka"/>
                <a:sym typeface="Fredoka"/>
              </a:rPr>
              <a:t>A. The ability of a material to dissolve in water</a:t>
            </a:r>
          </a:p>
          <a:p>
            <a:pPr algn="l">
              <a:lnSpc>
                <a:spcPts val="3900"/>
              </a:lnSpc>
            </a:pPr>
            <a:r>
              <a:rPr lang="en-US" sz="3000" dirty="0">
                <a:solidFill>
                  <a:srgbClr val="689BCB"/>
                </a:solidFill>
                <a:latin typeface="Fredoka"/>
                <a:ea typeface="Fredoka"/>
                <a:cs typeface="Fredoka"/>
                <a:sym typeface="Fredoka"/>
              </a:rPr>
              <a:t>B. The ease with which a material can catch fire and burn</a:t>
            </a:r>
          </a:p>
          <a:p>
            <a:pPr algn="l">
              <a:lnSpc>
                <a:spcPts val="3900"/>
              </a:lnSpc>
            </a:pPr>
            <a:r>
              <a:rPr lang="en-US" sz="3000" dirty="0">
                <a:solidFill>
                  <a:srgbClr val="689BCB"/>
                </a:solidFill>
                <a:latin typeface="Fredoka"/>
                <a:ea typeface="Fredoka"/>
                <a:cs typeface="Fredoka"/>
                <a:sym typeface="Fredoka"/>
              </a:rPr>
              <a:t>C. The tendency of a material to react with oxygen in the air</a:t>
            </a:r>
          </a:p>
          <a:p>
            <a:pPr algn="l">
              <a:lnSpc>
                <a:spcPts val="3900"/>
              </a:lnSpc>
            </a:pPr>
            <a:r>
              <a:rPr lang="en-US" sz="3000" dirty="0">
                <a:solidFill>
                  <a:srgbClr val="689BCB"/>
                </a:solidFill>
                <a:latin typeface="Fredoka"/>
                <a:ea typeface="Fredoka"/>
                <a:cs typeface="Fredoka"/>
                <a:sym typeface="Fredoka"/>
              </a:rPr>
              <a:t>D. The ability of a material to conduct electricity</a:t>
            </a:r>
          </a:p>
          <a:p>
            <a:pPr algn="l">
              <a:lnSpc>
                <a:spcPts val="3900"/>
              </a:lnSpc>
            </a:pPr>
            <a:endParaRPr lang="en-US" sz="3000" dirty="0">
              <a:solidFill>
                <a:srgbClr val="689BCB"/>
              </a:solidFill>
              <a:latin typeface="Fredoka"/>
              <a:ea typeface="Fredoka"/>
              <a:cs typeface="Fredoka"/>
              <a:sym typeface="Fredoka"/>
            </a:endParaRPr>
          </a:p>
          <a:p>
            <a:pPr algn="l">
              <a:lnSpc>
                <a:spcPts val="3900"/>
              </a:lnSpc>
            </a:pPr>
            <a:r>
              <a:rPr lang="en-US" sz="3000" dirty="0">
                <a:solidFill>
                  <a:srgbClr val="689BCB"/>
                </a:solidFill>
                <a:latin typeface="Fredoka"/>
                <a:ea typeface="Fredoka"/>
                <a:cs typeface="Fredoka"/>
                <a:sym typeface="Fredoka"/>
              </a:rPr>
              <a:t>2. What is an example of a flammable material?</a:t>
            </a:r>
          </a:p>
          <a:p>
            <a:pPr algn="l">
              <a:lnSpc>
                <a:spcPts val="3900"/>
              </a:lnSpc>
            </a:pPr>
            <a:r>
              <a:rPr lang="en-US" sz="3000" dirty="0">
                <a:solidFill>
                  <a:srgbClr val="689BCB"/>
                </a:solidFill>
                <a:latin typeface="Fredoka"/>
                <a:ea typeface="Fredoka"/>
                <a:cs typeface="Fredoka"/>
                <a:sym typeface="Fredoka"/>
              </a:rPr>
              <a:t>A. Glass</a:t>
            </a:r>
          </a:p>
          <a:p>
            <a:pPr algn="l">
              <a:lnSpc>
                <a:spcPts val="3900"/>
              </a:lnSpc>
            </a:pPr>
            <a:r>
              <a:rPr lang="en-US" sz="3000" dirty="0">
                <a:solidFill>
                  <a:srgbClr val="689BCB"/>
                </a:solidFill>
                <a:latin typeface="Fredoka"/>
                <a:ea typeface="Fredoka"/>
                <a:cs typeface="Fredoka"/>
                <a:sym typeface="Fredoka"/>
              </a:rPr>
              <a:t>B. Metal</a:t>
            </a:r>
          </a:p>
          <a:p>
            <a:pPr algn="l">
              <a:lnSpc>
                <a:spcPts val="3900"/>
              </a:lnSpc>
            </a:pPr>
            <a:r>
              <a:rPr lang="en-US" sz="3000" dirty="0">
                <a:solidFill>
                  <a:srgbClr val="689BCB"/>
                </a:solidFill>
                <a:latin typeface="Fredoka"/>
                <a:ea typeface="Fredoka"/>
                <a:cs typeface="Fredoka"/>
                <a:sym typeface="Fredoka"/>
              </a:rPr>
              <a:t>C. Paper</a:t>
            </a:r>
          </a:p>
          <a:p>
            <a:pPr algn="l">
              <a:lnSpc>
                <a:spcPts val="3900"/>
              </a:lnSpc>
            </a:pPr>
            <a:r>
              <a:rPr lang="en-US" sz="3000" dirty="0">
                <a:solidFill>
                  <a:srgbClr val="689BCB"/>
                </a:solidFill>
                <a:latin typeface="Fredoka"/>
                <a:ea typeface="Fredoka"/>
                <a:cs typeface="Fredoka"/>
                <a:sym typeface="Fredoka"/>
              </a:rPr>
              <a:t>D. Rock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500"/>
                                        <p:tgtEl>
                                          <p:spTgt spid="1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Effect transition="in" filter="fade">
                                      <p:cBhvr>
                                        <p:cTn id="15" dur="500"/>
                                        <p:tgtEl>
                                          <p:spTgt spid="17">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xEl>
                                              <p:pRg st="2" end="2"/>
                                            </p:txEl>
                                          </p:spTgt>
                                        </p:tgtEl>
                                        <p:attrNameLst>
                                          <p:attrName>style.visibility</p:attrName>
                                        </p:attrNameLst>
                                      </p:cBhvr>
                                      <p:to>
                                        <p:strVal val="visible"/>
                                      </p:to>
                                    </p:set>
                                    <p:animEffect transition="in" filter="fade">
                                      <p:cBhvr>
                                        <p:cTn id="18" dur="500"/>
                                        <p:tgtEl>
                                          <p:spTgt spid="17">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xEl>
                                              <p:pRg st="3" end="3"/>
                                            </p:txEl>
                                          </p:spTgt>
                                        </p:tgtEl>
                                        <p:attrNameLst>
                                          <p:attrName>style.visibility</p:attrName>
                                        </p:attrNameLst>
                                      </p:cBhvr>
                                      <p:to>
                                        <p:strVal val="visible"/>
                                      </p:to>
                                    </p:set>
                                    <p:animEffect transition="in" filter="fade">
                                      <p:cBhvr>
                                        <p:cTn id="21" dur="500"/>
                                        <p:tgtEl>
                                          <p:spTgt spid="17">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xEl>
                                              <p:pRg st="4" end="4"/>
                                            </p:txEl>
                                          </p:spTgt>
                                        </p:tgtEl>
                                        <p:attrNameLst>
                                          <p:attrName>style.visibility</p:attrName>
                                        </p:attrNameLst>
                                      </p:cBhvr>
                                      <p:to>
                                        <p:strVal val="visible"/>
                                      </p:to>
                                    </p:set>
                                    <p:animEffect transition="in" filter="fade">
                                      <p:cBhvr>
                                        <p:cTn id="24" dur="500"/>
                                        <p:tgtEl>
                                          <p:spTgt spid="17">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xEl>
                                              <p:pRg st="6" end="6"/>
                                            </p:txEl>
                                          </p:spTgt>
                                        </p:tgtEl>
                                        <p:attrNameLst>
                                          <p:attrName>style.visibility</p:attrName>
                                        </p:attrNameLst>
                                      </p:cBhvr>
                                      <p:to>
                                        <p:strVal val="visible"/>
                                      </p:to>
                                    </p:set>
                                    <p:animEffect transition="in" filter="fade">
                                      <p:cBhvr>
                                        <p:cTn id="27" dur="500"/>
                                        <p:tgtEl>
                                          <p:spTgt spid="17">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7">
                                            <p:txEl>
                                              <p:pRg st="7" end="7"/>
                                            </p:txEl>
                                          </p:spTgt>
                                        </p:tgtEl>
                                        <p:attrNameLst>
                                          <p:attrName>style.visibility</p:attrName>
                                        </p:attrNameLst>
                                      </p:cBhvr>
                                      <p:to>
                                        <p:strVal val="visible"/>
                                      </p:to>
                                    </p:set>
                                    <p:animEffect transition="in" filter="fade">
                                      <p:cBhvr>
                                        <p:cTn id="30" dur="500"/>
                                        <p:tgtEl>
                                          <p:spTgt spid="17">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xEl>
                                              <p:pRg st="8" end="8"/>
                                            </p:txEl>
                                          </p:spTgt>
                                        </p:tgtEl>
                                        <p:attrNameLst>
                                          <p:attrName>style.visibility</p:attrName>
                                        </p:attrNameLst>
                                      </p:cBhvr>
                                      <p:to>
                                        <p:strVal val="visible"/>
                                      </p:to>
                                    </p:set>
                                    <p:animEffect transition="in" filter="fade">
                                      <p:cBhvr>
                                        <p:cTn id="33" dur="500"/>
                                        <p:tgtEl>
                                          <p:spTgt spid="17">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xEl>
                                              <p:pRg st="9" end="9"/>
                                            </p:txEl>
                                          </p:spTgt>
                                        </p:tgtEl>
                                        <p:attrNameLst>
                                          <p:attrName>style.visibility</p:attrName>
                                        </p:attrNameLst>
                                      </p:cBhvr>
                                      <p:to>
                                        <p:strVal val="visible"/>
                                      </p:to>
                                    </p:set>
                                    <p:animEffect transition="in" filter="fade">
                                      <p:cBhvr>
                                        <p:cTn id="36" dur="500"/>
                                        <p:tgtEl>
                                          <p:spTgt spid="17">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xEl>
                                              <p:pRg st="10" end="10"/>
                                            </p:txEl>
                                          </p:spTgt>
                                        </p:tgtEl>
                                        <p:attrNameLst>
                                          <p:attrName>style.visibility</p:attrName>
                                        </p:attrNameLst>
                                      </p:cBhvr>
                                      <p:to>
                                        <p:strVal val="visible"/>
                                      </p:to>
                                    </p:set>
                                    <p:animEffect transition="in" filter="fade">
                                      <p:cBhvr>
                                        <p:cTn id="39" dur="500"/>
                                        <p:tgtEl>
                                          <p:spTgt spid="1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1160742"/>
            <a:ext cx="14019402" cy="8097558"/>
            <a:chOff x="0" y="0"/>
            <a:chExt cx="18692536" cy="10796744"/>
          </a:xfrm>
        </p:grpSpPr>
        <p:grpSp>
          <p:nvGrpSpPr>
            <p:cNvPr id="8" name="Group 8"/>
            <p:cNvGrpSpPr/>
            <p:nvPr/>
          </p:nvGrpSpPr>
          <p:grpSpPr>
            <a:xfrm>
              <a:off x="0" y="0"/>
              <a:ext cx="18692536" cy="10796744"/>
              <a:chOff x="0" y="0"/>
              <a:chExt cx="1766638" cy="1020404"/>
            </a:xfrm>
          </p:grpSpPr>
          <p:sp>
            <p:nvSpPr>
              <p:cNvPr id="9" name="Freeform 9"/>
              <p:cNvSpPr/>
              <p:nvPr/>
            </p:nvSpPr>
            <p:spPr>
              <a:xfrm>
                <a:off x="0" y="0"/>
                <a:ext cx="1766638" cy="1020404"/>
              </a:xfrm>
              <a:custGeom>
                <a:avLst/>
                <a:gdLst/>
                <a:ahLst/>
                <a:cxnLst/>
                <a:rect l="l" t="t" r="r" b="b"/>
                <a:pathLst>
                  <a:path w="1766638" h="1020404">
                    <a:moveTo>
                      <a:pt x="0" y="0"/>
                    </a:moveTo>
                    <a:lnTo>
                      <a:pt x="1766638" y="0"/>
                    </a:lnTo>
                    <a:lnTo>
                      <a:pt x="1766638" y="1020404"/>
                    </a:lnTo>
                    <a:lnTo>
                      <a:pt x="0" y="1020404"/>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1068029"/>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10796744"/>
              <a:chOff x="0" y="0"/>
              <a:chExt cx="24179" cy="805046"/>
            </a:xfrm>
          </p:grpSpPr>
          <p:sp>
            <p:nvSpPr>
              <p:cNvPr id="12" name="Freeform 12"/>
              <p:cNvSpPr/>
              <p:nvPr/>
            </p:nvSpPr>
            <p:spPr>
              <a:xfrm>
                <a:off x="0" y="0"/>
                <a:ext cx="24179" cy="805046"/>
              </a:xfrm>
              <a:custGeom>
                <a:avLst/>
                <a:gdLst/>
                <a:ahLst/>
                <a:cxnLst/>
                <a:rect l="l" t="t" r="r" b="b"/>
                <a:pathLst>
                  <a:path w="24179" h="805046">
                    <a:moveTo>
                      <a:pt x="0" y="0"/>
                    </a:moveTo>
                    <a:lnTo>
                      <a:pt x="24179" y="0"/>
                    </a:lnTo>
                    <a:lnTo>
                      <a:pt x="24179" y="805046"/>
                    </a:lnTo>
                    <a:lnTo>
                      <a:pt x="0" y="805046"/>
                    </a:lnTo>
                    <a:close/>
                  </a:path>
                </a:pathLst>
              </a:custGeom>
              <a:solidFill>
                <a:srgbClr val="465265"/>
              </a:solidFill>
            </p:spPr>
          </p:sp>
          <p:sp>
            <p:nvSpPr>
              <p:cNvPr id="13" name="TextBox 13"/>
              <p:cNvSpPr txBox="1"/>
              <p:nvPr/>
            </p:nvSpPr>
            <p:spPr>
              <a:xfrm>
                <a:off x="0" y="-47625"/>
                <a:ext cx="24179" cy="85267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10796744"/>
              <a:chOff x="0" y="0"/>
              <a:chExt cx="23660" cy="805046"/>
            </a:xfrm>
          </p:grpSpPr>
          <p:sp>
            <p:nvSpPr>
              <p:cNvPr id="15" name="Freeform 15"/>
              <p:cNvSpPr/>
              <p:nvPr/>
            </p:nvSpPr>
            <p:spPr>
              <a:xfrm>
                <a:off x="0" y="0"/>
                <a:ext cx="23660" cy="805046"/>
              </a:xfrm>
              <a:custGeom>
                <a:avLst/>
                <a:gdLst/>
                <a:ahLst/>
                <a:cxnLst/>
                <a:rect l="l" t="t" r="r" b="b"/>
                <a:pathLst>
                  <a:path w="23660" h="805046">
                    <a:moveTo>
                      <a:pt x="0" y="0"/>
                    </a:moveTo>
                    <a:lnTo>
                      <a:pt x="23660" y="0"/>
                    </a:lnTo>
                    <a:lnTo>
                      <a:pt x="23660" y="805046"/>
                    </a:lnTo>
                    <a:lnTo>
                      <a:pt x="0" y="805046"/>
                    </a:lnTo>
                    <a:close/>
                  </a:path>
                </a:pathLst>
              </a:custGeom>
              <a:solidFill>
                <a:srgbClr val="465265"/>
              </a:solidFill>
            </p:spPr>
          </p:sp>
          <p:sp>
            <p:nvSpPr>
              <p:cNvPr id="16" name="TextBox 16"/>
              <p:cNvSpPr txBox="1"/>
              <p:nvPr/>
            </p:nvSpPr>
            <p:spPr>
              <a:xfrm>
                <a:off x="0" y="-47625"/>
                <a:ext cx="23660" cy="85267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1028700" y="1656696"/>
            <a:ext cx="12613399" cy="5934075"/>
          </a:xfrm>
          <a:prstGeom prst="rect">
            <a:avLst/>
          </a:prstGeom>
        </p:spPr>
        <p:txBody>
          <a:bodyPr lIns="0" tIns="0" rIns="0" bIns="0" rtlCol="0" anchor="t">
            <a:spAutoFit/>
          </a:bodyPr>
          <a:lstStyle/>
          <a:p>
            <a:pPr algn="l">
              <a:lnSpc>
                <a:spcPts val="3900"/>
              </a:lnSpc>
            </a:pPr>
            <a:r>
              <a:rPr lang="en-US" sz="3000" dirty="0">
                <a:solidFill>
                  <a:srgbClr val="689BCB"/>
                </a:solidFill>
                <a:latin typeface="Fredoka"/>
                <a:ea typeface="Fredoka"/>
                <a:cs typeface="Fredoka"/>
                <a:sym typeface="Fredoka"/>
              </a:rPr>
              <a:t>3. When iron reacts with oxygen and moisture in the air, what does it form?</a:t>
            </a:r>
          </a:p>
          <a:p>
            <a:pPr algn="l">
              <a:lnSpc>
                <a:spcPts val="3900"/>
              </a:lnSpc>
            </a:pPr>
            <a:r>
              <a:rPr lang="en-US" sz="3000" dirty="0">
                <a:solidFill>
                  <a:srgbClr val="689BCB"/>
                </a:solidFill>
                <a:latin typeface="Fredoka"/>
                <a:ea typeface="Fredoka"/>
                <a:cs typeface="Fredoka"/>
                <a:sym typeface="Fredoka"/>
              </a:rPr>
              <a:t>A. Aluminum oxide</a:t>
            </a:r>
          </a:p>
          <a:p>
            <a:pPr algn="l">
              <a:lnSpc>
                <a:spcPts val="3900"/>
              </a:lnSpc>
            </a:pPr>
            <a:r>
              <a:rPr lang="en-US" sz="3000" dirty="0">
                <a:solidFill>
                  <a:srgbClr val="689BCB"/>
                </a:solidFill>
                <a:latin typeface="Fredoka"/>
                <a:ea typeface="Fredoka"/>
                <a:cs typeface="Fredoka"/>
                <a:sym typeface="Fredoka"/>
              </a:rPr>
              <a:t>B. Rust</a:t>
            </a:r>
          </a:p>
          <a:p>
            <a:pPr algn="l">
              <a:lnSpc>
                <a:spcPts val="3900"/>
              </a:lnSpc>
            </a:pPr>
            <a:r>
              <a:rPr lang="en-US" sz="3000" dirty="0">
                <a:solidFill>
                  <a:srgbClr val="689BCB"/>
                </a:solidFill>
                <a:latin typeface="Fredoka"/>
                <a:ea typeface="Fredoka"/>
                <a:cs typeface="Fredoka"/>
                <a:sym typeface="Fredoka"/>
              </a:rPr>
              <a:t>C. Carbon dioxide</a:t>
            </a:r>
          </a:p>
          <a:p>
            <a:pPr algn="l">
              <a:lnSpc>
                <a:spcPts val="3900"/>
              </a:lnSpc>
            </a:pPr>
            <a:r>
              <a:rPr lang="en-US" sz="3000" dirty="0">
                <a:solidFill>
                  <a:srgbClr val="689BCB"/>
                </a:solidFill>
                <a:latin typeface="Fredoka"/>
                <a:ea typeface="Fredoka"/>
                <a:cs typeface="Fredoka"/>
                <a:sym typeface="Fredoka"/>
              </a:rPr>
              <a:t>D. Hydrogen gas</a:t>
            </a:r>
          </a:p>
          <a:p>
            <a:pPr algn="l">
              <a:lnSpc>
                <a:spcPts val="3900"/>
              </a:lnSpc>
            </a:pPr>
            <a:endParaRPr lang="en-US" sz="3000" dirty="0">
              <a:solidFill>
                <a:srgbClr val="689BCB"/>
              </a:solidFill>
              <a:latin typeface="Fredoka"/>
              <a:ea typeface="Fredoka"/>
              <a:cs typeface="Fredoka"/>
              <a:sym typeface="Fredoka"/>
            </a:endParaRPr>
          </a:p>
          <a:p>
            <a:pPr algn="l">
              <a:lnSpc>
                <a:spcPts val="3900"/>
              </a:lnSpc>
            </a:pPr>
            <a:r>
              <a:rPr lang="en-US" sz="3000" dirty="0">
                <a:solidFill>
                  <a:srgbClr val="689BCB"/>
                </a:solidFill>
                <a:latin typeface="Fredoka"/>
                <a:ea typeface="Fredoka"/>
                <a:cs typeface="Fredoka"/>
                <a:sym typeface="Fredoka"/>
              </a:rPr>
              <a:t>4. Which of the following materials is biodegradable?</a:t>
            </a:r>
          </a:p>
          <a:p>
            <a:pPr algn="l">
              <a:lnSpc>
                <a:spcPts val="3900"/>
              </a:lnSpc>
            </a:pPr>
            <a:r>
              <a:rPr lang="en-US" sz="3000" dirty="0">
                <a:solidFill>
                  <a:srgbClr val="689BCB"/>
                </a:solidFill>
                <a:latin typeface="Fredoka"/>
                <a:ea typeface="Fredoka"/>
                <a:cs typeface="Fredoka"/>
                <a:sym typeface="Fredoka"/>
              </a:rPr>
              <a:t>A. Plastic drinking straw</a:t>
            </a:r>
          </a:p>
          <a:p>
            <a:pPr algn="l">
              <a:lnSpc>
                <a:spcPts val="3900"/>
              </a:lnSpc>
            </a:pPr>
            <a:r>
              <a:rPr lang="en-US" sz="3000" dirty="0">
                <a:solidFill>
                  <a:srgbClr val="689BCB"/>
                </a:solidFill>
                <a:latin typeface="Fredoka"/>
                <a:ea typeface="Fredoka"/>
                <a:cs typeface="Fredoka"/>
                <a:sym typeface="Fredoka"/>
              </a:rPr>
              <a:t>B. Nylon fishing line</a:t>
            </a:r>
          </a:p>
          <a:p>
            <a:pPr algn="l">
              <a:lnSpc>
                <a:spcPts val="3900"/>
              </a:lnSpc>
            </a:pPr>
            <a:r>
              <a:rPr lang="en-US" sz="3000" dirty="0">
                <a:solidFill>
                  <a:srgbClr val="689BCB"/>
                </a:solidFill>
                <a:latin typeface="Fredoka"/>
                <a:ea typeface="Fredoka"/>
                <a:cs typeface="Fredoka"/>
                <a:sym typeface="Fredoka"/>
              </a:rPr>
              <a:t>C. Banana peel</a:t>
            </a:r>
          </a:p>
          <a:p>
            <a:pPr algn="l">
              <a:lnSpc>
                <a:spcPts val="3900"/>
              </a:lnSpc>
            </a:pPr>
            <a:r>
              <a:rPr lang="en-US" sz="3000" dirty="0">
                <a:solidFill>
                  <a:srgbClr val="689BCB"/>
                </a:solidFill>
                <a:latin typeface="Fredoka"/>
                <a:ea typeface="Fredoka"/>
                <a:cs typeface="Fredoka"/>
                <a:sym typeface="Fredoka"/>
              </a:rPr>
              <a:t>D. Styrofoam packaging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fade">
                                      <p:cBhvr>
                                        <p:cTn id="10" dur="500"/>
                                        <p:tgtEl>
                                          <p:spTgt spid="1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animEffect transition="in" filter="fade">
                                      <p:cBhvr>
                                        <p:cTn id="13" dur="500"/>
                                        <p:tgtEl>
                                          <p:spTgt spid="1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pRg st="3" end="3"/>
                                            </p:txEl>
                                          </p:spTgt>
                                        </p:tgtEl>
                                        <p:attrNameLst>
                                          <p:attrName>style.visibility</p:attrName>
                                        </p:attrNameLst>
                                      </p:cBhvr>
                                      <p:to>
                                        <p:strVal val="visible"/>
                                      </p:to>
                                    </p:set>
                                    <p:animEffect transition="in" filter="fade">
                                      <p:cBhvr>
                                        <p:cTn id="16" dur="500"/>
                                        <p:tgtEl>
                                          <p:spTgt spid="1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pRg st="4" end="4"/>
                                            </p:txEl>
                                          </p:spTgt>
                                        </p:tgtEl>
                                        <p:attrNameLst>
                                          <p:attrName>style.visibility</p:attrName>
                                        </p:attrNameLst>
                                      </p:cBhvr>
                                      <p:to>
                                        <p:strVal val="visible"/>
                                      </p:to>
                                    </p:set>
                                    <p:animEffect transition="in" filter="fade">
                                      <p:cBhvr>
                                        <p:cTn id="19" dur="500"/>
                                        <p:tgtEl>
                                          <p:spTgt spid="1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pRg st="6" end="6"/>
                                            </p:txEl>
                                          </p:spTgt>
                                        </p:tgtEl>
                                        <p:attrNameLst>
                                          <p:attrName>style.visibility</p:attrName>
                                        </p:attrNameLst>
                                      </p:cBhvr>
                                      <p:to>
                                        <p:strVal val="visible"/>
                                      </p:to>
                                    </p:set>
                                    <p:animEffect transition="in" filter="fade">
                                      <p:cBhvr>
                                        <p:cTn id="22" dur="500"/>
                                        <p:tgtEl>
                                          <p:spTgt spid="17">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pRg st="7" end="7"/>
                                            </p:txEl>
                                          </p:spTgt>
                                        </p:tgtEl>
                                        <p:attrNameLst>
                                          <p:attrName>style.visibility</p:attrName>
                                        </p:attrNameLst>
                                      </p:cBhvr>
                                      <p:to>
                                        <p:strVal val="visible"/>
                                      </p:to>
                                    </p:set>
                                    <p:animEffect transition="in" filter="fade">
                                      <p:cBhvr>
                                        <p:cTn id="25" dur="500"/>
                                        <p:tgtEl>
                                          <p:spTgt spid="17">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pRg st="8" end="8"/>
                                            </p:txEl>
                                          </p:spTgt>
                                        </p:tgtEl>
                                        <p:attrNameLst>
                                          <p:attrName>style.visibility</p:attrName>
                                        </p:attrNameLst>
                                      </p:cBhvr>
                                      <p:to>
                                        <p:strVal val="visible"/>
                                      </p:to>
                                    </p:set>
                                    <p:animEffect transition="in" filter="fade">
                                      <p:cBhvr>
                                        <p:cTn id="28" dur="500"/>
                                        <p:tgtEl>
                                          <p:spTgt spid="17">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pRg st="9" end="9"/>
                                            </p:txEl>
                                          </p:spTgt>
                                        </p:tgtEl>
                                        <p:attrNameLst>
                                          <p:attrName>style.visibility</p:attrName>
                                        </p:attrNameLst>
                                      </p:cBhvr>
                                      <p:to>
                                        <p:strVal val="visible"/>
                                      </p:to>
                                    </p:set>
                                    <p:animEffect transition="in" filter="fade">
                                      <p:cBhvr>
                                        <p:cTn id="31" dur="500"/>
                                        <p:tgtEl>
                                          <p:spTgt spid="17">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xEl>
                                              <p:pRg st="10" end="10"/>
                                            </p:txEl>
                                          </p:spTgt>
                                        </p:tgtEl>
                                        <p:attrNameLst>
                                          <p:attrName>style.visibility</p:attrName>
                                        </p:attrNameLst>
                                      </p:cBhvr>
                                      <p:to>
                                        <p:strVal val="visible"/>
                                      </p:to>
                                    </p:set>
                                    <p:animEffect transition="in" filter="fade">
                                      <p:cBhvr>
                                        <p:cTn id="34" dur="500"/>
                                        <p:tgtEl>
                                          <p:spTgt spid="1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1160742"/>
            <a:ext cx="14019402" cy="8097558"/>
            <a:chOff x="0" y="0"/>
            <a:chExt cx="18692536" cy="10796744"/>
          </a:xfrm>
        </p:grpSpPr>
        <p:grpSp>
          <p:nvGrpSpPr>
            <p:cNvPr id="8" name="Group 8"/>
            <p:cNvGrpSpPr/>
            <p:nvPr/>
          </p:nvGrpSpPr>
          <p:grpSpPr>
            <a:xfrm>
              <a:off x="0" y="0"/>
              <a:ext cx="18692536" cy="10796744"/>
              <a:chOff x="0" y="0"/>
              <a:chExt cx="1766638" cy="1020404"/>
            </a:xfrm>
          </p:grpSpPr>
          <p:sp>
            <p:nvSpPr>
              <p:cNvPr id="9" name="Freeform 9"/>
              <p:cNvSpPr/>
              <p:nvPr/>
            </p:nvSpPr>
            <p:spPr>
              <a:xfrm>
                <a:off x="0" y="0"/>
                <a:ext cx="1766638" cy="1020404"/>
              </a:xfrm>
              <a:custGeom>
                <a:avLst/>
                <a:gdLst/>
                <a:ahLst/>
                <a:cxnLst/>
                <a:rect l="l" t="t" r="r" b="b"/>
                <a:pathLst>
                  <a:path w="1766638" h="1020404">
                    <a:moveTo>
                      <a:pt x="0" y="0"/>
                    </a:moveTo>
                    <a:lnTo>
                      <a:pt x="1766638" y="0"/>
                    </a:lnTo>
                    <a:lnTo>
                      <a:pt x="1766638" y="1020404"/>
                    </a:lnTo>
                    <a:lnTo>
                      <a:pt x="0" y="1020404"/>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1068029"/>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10796744"/>
              <a:chOff x="0" y="0"/>
              <a:chExt cx="24179" cy="805046"/>
            </a:xfrm>
          </p:grpSpPr>
          <p:sp>
            <p:nvSpPr>
              <p:cNvPr id="12" name="Freeform 12"/>
              <p:cNvSpPr/>
              <p:nvPr/>
            </p:nvSpPr>
            <p:spPr>
              <a:xfrm>
                <a:off x="0" y="0"/>
                <a:ext cx="24179" cy="805046"/>
              </a:xfrm>
              <a:custGeom>
                <a:avLst/>
                <a:gdLst/>
                <a:ahLst/>
                <a:cxnLst/>
                <a:rect l="l" t="t" r="r" b="b"/>
                <a:pathLst>
                  <a:path w="24179" h="805046">
                    <a:moveTo>
                      <a:pt x="0" y="0"/>
                    </a:moveTo>
                    <a:lnTo>
                      <a:pt x="24179" y="0"/>
                    </a:lnTo>
                    <a:lnTo>
                      <a:pt x="24179" y="805046"/>
                    </a:lnTo>
                    <a:lnTo>
                      <a:pt x="0" y="805046"/>
                    </a:lnTo>
                    <a:close/>
                  </a:path>
                </a:pathLst>
              </a:custGeom>
              <a:solidFill>
                <a:srgbClr val="465265"/>
              </a:solidFill>
            </p:spPr>
          </p:sp>
          <p:sp>
            <p:nvSpPr>
              <p:cNvPr id="13" name="TextBox 13"/>
              <p:cNvSpPr txBox="1"/>
              <p:nvPr/>
            </p:nvSpPr>
            <p:spPr>
              <a:xfrm>
                <a:off x="0" y="-47625"/>
                <a:ext cx="24179" cy="85267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10796744"/>
              <a:chOff x="0" y="0"/>
              <a:chExt cx="23660" cy="805046"/>
            </a:xfrm>
          </p:grpSpPr>
          <p:sp>
            <p:nvSpPr>
              <p:cNvPr id="15" name="Freeform 15"/>
              <p:cNvSpPr/>
              <p:nvPr/>
            </p:nvSpPr>
            <p:spPr>
              <a:xfrm>
                <a:off x="0" y="0"/>
                <a:ext cx="23660" cy="805046"/>
              </a:xfrm>
              <a:custGeom>
                <a:avLst/>
                <a:gdLst/>
                <a:ahLst/>
                <a:cxnLst/>
                <a:rect l="l" t="t" r="r" b="b"/>
                <a:pathLst>
                  <a:path w="23660" h="805046">
                    <a:moveTo>
                      <a:pt x="0" y="0"/>
                    </a:moveTo>
                    <a:lnTo>
                      <a:pt x="23660" y="0"/>
                    </a:lnTo>
                    <a:lnTo>
                      <a:pt x="23660" y="805046"/>
                    </a:lnTo>
                    <a:lnTo>
                      <a:pt x="0" y="805046"/>
                    </a:lnTo>
                    <a:close/>
                  </a:path>
                </a:pathLst>
              </a:custGeom>
              <a:solidFill>
                <a:srgbClr val="465265"/>
              </a:solidFill>
            </p:spPr>
          </p:sp>
          <p:sp>
            <p:nvSpPr>
              <p:cNvPr id="16" name="TextBox 16"/>
              <p:cNvSpPr txBox="1"/>
              <p:nvPr/>
            </p:nvSpPr>
            <p:spPr>
              <a:xfrm>
                <a:off x="0" y="-47625"/>
                <a:ext cx="23660" cy="85267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1028700" y="1656696"/>
            <a:ext cx="12613399" cy="7308215"/>
          </a:xfrm>
          <a:prstGeom prst="rect">
            <a:avLst/>
          </a:prstGeom>
        </p:spPr>
        <p:txBody>
          <a:bodyPr lIns="0" tIns="0" rIns="0" bIns="0" rtlCol="0" anchor="t">
            <a:spAutoFit/>
          </a:bodyPr>
          <a:lstStyle/>
          <a:p>
            <a:pPr algn="l">
              <a:lnSpc>
                <a:spcPts val="3639"/>
              </a:lnSpc>
            </a:pPr>
            <a:r>
              <a:rPr lang="en-US" sz="2799" dirty="0">
                <a:solidFill>
                  <a:srgbClr val="689BCB"/>
                </a:solidFill>
                <a:latin typeface="Fredoka"/>
                <a:ea typeface="Fredoka"/>
                <a:cs typeface="Fredoka"/>
                <a:sym typeface="Fredoka"/>
              </a:rPr>
              <a:t>5. What happens to a banana peel when it is discarded in a natural</a:t>
            </a:r>
          </a:p>
          <a:p>
            <a:pPr algn="l">
              <a:lnSpc>
                <a:spcPts val="3639"/>
              </a:lnSpc>
            </a:pPr>
            <a:r>
              <a:rPr lang="en-US" sz="2799" dirty="0">
                <a:solidFill>
                  <a:srgbClr val="689BCB"/>
                </a:solidFill>
                <a:latin typeface="Fredoka"/>
                <a:ea typeface="Fredoka"/>
                <a:cs typeface="Fredoka"/>
                <a:sym typeface="Fredoka"/>
              </a:rPr>
              <a:t>environment?</a:t>
            </a:r>
          </a:p>
          <a:p>
            <a:pPr algn="l">
              <a:lnSpc>
                <a:spcPts val="3639"/>
              </a:lnSpc>
            </a:pPr>
            <a:r>
              <a:rPr lang="en-US" sz="2799" dirty="0">
                <a:solidFill>
                  <a:srgbClr val="689BCB"/>
                </a:solidFill>
                <a:latin typeface="Fredoka"/>
                <a:ea typeface="Fredoka"/>
                <a:cs typeface="Fredoka"/>
                <a:sym typeface="Fredoka"/>
              </a:rPr>
              <a:t>A. It remains unchanged indefinitely</a:t>
            </a:r>
          </a:p>
          <a:p>
            <a:pPr algn="l">
              <a:lnSpc>
                <a:spcPts val="3639"/>
              </a:lnSpc>
            </a:pPr>
            <a:r>
              <a:rPr lang="en-US" sz="2799" dirty="0">
                <a:solidFill>
                  <a:srgbClr val="689BCB"/>
                </a:solidFill>
                <a:latin typeface="Fredoka"/>
                <a:ea typeface="Fredoka"/>
                <a:cs typeface="Fredoka"/>
                <a:sym typeface="Fredoka"/>
              </a:rPr>
              <a:t>B. It decomposes into simpler organic compounds</a:t>
            </a:r>
          </a:p>
          <a:p>
            <a:pPr algn="l">
              <a:lnSpc>
                <a:spcPts val="3639"/>
              </a:lnSpc>
            </a:pPr>
            <a:r>
              <a:rPr lang="en-US" sz="2799" dirty="0">
                <a:solidFill>
                  <a:srgbClr val="689BCB"/>
                </a:solidFill>
                <a:latin typeface="Fredoka"/>
                <a:ea typeface="Fredoka"/>
                <a:cs typeface="Fredoka"/>
                <a:sym typeface="Fredoka"/>
              </a:rPr>
              <a:t>C. It reacts with other materials to form new substances</a:t>
            </a:r>
          </a:p>
          <a:p>
            <a:pPr algn="l">
              <a:lnSpc>
                <a:spcPts val="3639"/>
              </a:lnSpc>
            </a:pPr>
            <a:r>
              <a:rPr lang="en-US" sz="2799" dirty="0">
                <a:solidFill>
                  <a:srgbClr val="689BCB"/>
                </a:solidFill>
                <a:latin typeface="Fredoka"/>
                <a:ea typeface="Fredoka"/>
                <a:cs typeface="Fredoka"/>
                <a:sym typeface="Fredoka"/>
              </a:rPr>
              <a:t>D. It breaks down into smaller pieces over time</a:t>
            </a:r>
          </a:p>
          <a:p>
            <a:pPr algn="l">
              <a:lnSpc>
                <a:spcPts val="3639"/>
              </a:lnSpc>
            </a:pPr>
            <a:endParaRPr lang="en-US" sz="2799" dirty="0">
              <a:solidFill>
                <a:srgbClr val="689BCB"/>
              </a:solidFill>
              <a:latin typeface="Fredoka"/>
              <a:ea typeface="Fredoka"/>
              <a:cs typeface="Fredoka"/>
              <a:sym typeface="Fredoka"/>
            </a:endParaRPr>
          </a:p>
          <a:p>
            <a:pPr algn="l">
              <a:lnSpc>
                <a:spcPts val="3639"/>
              </a:lnSpc>
            </a:pPr>
            <a:r>
              <a:rPr lang="en-US" sz="2799" dirty="0">
                <a:solidFill>
                  <a:srgbClr val="689BCB"/>
                </a:solidFill>
                <a:latin typeface="Fredoka"/>
                <a:ea typeface="Fredoka"/>
                <a:cs typeface="Fredoka"/>
                <a:sym typeface="Fredoka"/>
              </a:rPr>
              <a:t>6. Sarah wants to dispose of her plastic water bottle. Plastic is harmful to the environment, so she wants to choose a more eco-friendly option. Which of the following materials should Sarah choose if she wants a biodegradable</a:t>
            </a:r>
          </a:p>
          <a:p>
            <a:pPr algn="l">
              <a:lnSpc>
                <a:spcPts val="3639"/>
              </a:lnSpc>
            </a:pPr>
            <a:r>
              <a:rPr lang="en-US" sz="2799" dirty="0">
                <a:solidFill>
                  <a:srgbClr val="689BCB"/>
                </a:solidFill>
                <a:latin typeface="Fredoka"/>
                <a:ea typeface="Fredoka"/>
                <a:cs typeface="Fredoka"/>
                <a:sym typeface="Fredoka"/>
              </a:rPr>
              <a:t>option?</a:t>
            </a:r>
          </a:p>
          <a:p>
            <a:pPr algn="l">
              <a:lnSpc>
                <a:spcPts val="3639"/>
              </a:lnSpc>
            </a:pPr>
            <a:r>
              <a:rPr lang="en-US" sz="2799" dirty="0">
                <a:solidFill>
                  <a:srgbClr val="689BCB"/>
                </a:solidFill>
                <a:latin typeface="Fredoka"/>
                <a:ea typeface="Fredoka"/>
                <a:cs typeface="Fredoka"/>
                <a:sym typeface="Fredoka"/>
              </a:rPr>
              <a:t>A. Plastic water bottle</a:t>
            </a:r>
          </a:p>
          <a:p>
            <a:pPr algn="l">
              <a:lnSpc>
                <a:spcPts val="3639"/>
              </a:lnSpc>
            </a:pPr>
            <a:r>
              <a:rPr lang="en-US" sz="2799" dirty="0">
                <a:solidFill>
                  <a:srgbClr val="689BCB"/>
                </a:solidFill>
                <a:latin typeface="Fredoka"/>
                <a:ea typeface="Fredoka"/>
                <a:cs typeface="Fredoka"/>
                <a:sym typeface="Fredoka"/>
              </a:rPr>
              <a:t>B. Glass bottle</a:t>
            </a:r>
          </a:p>
          <a:p>
            <a:pPr algn="l">
              <a:lnSpc>
                <a:spcPts val="3639"/>
              </a:lnSpc>
            </a:pPr>
            <a:r>
              <a:rPr lang="en-US" sz="2799" dirty="0">
                <a:solidFill>
                  <a:srgbClr val="689BCB"/>
                </a:solidFill>
                <a:latin typeface="Fredoka"/>
                <a:ea typeface="Fredoka"/>
                <a:cs typeface="Fredoka"/>
                <a:sym typeface="Fredoka"/>
              </a:rPr>
              <a:t>C. Aluminum can</a:t>
            </a:r>
          </a:p>
          <a:p>
            <a:pPr algn="l">
              <a:lnSpc>
                <a:spcPts val="3639"/>
              </a:lnSpc>
            </a:pPr>
            <a:r>
              <a:rPr lang="en-US" sz="2799" dirty="0">
                <a:solidFill>
                  <a:srgbClr val="689BCB"/>
                </a:solidFill>
                <a:latin typeface="Fredoka"/>
                <a:ea typeface="Fredoka"/>
                <a:cs typeface="Fredoka"/>
                <a:sym typeface="Fredoka"/>
              </a:rPr>
              <a:t>D. Biodegradable paper cup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fade">
                                      <p:cBhvr>
                                        <p:cTn id="10" dur="500"/>
                                        <p:tgtEl>
                                          <p:spTgt spid="1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animEffect transition="in" filter="fade">
                                      <p:cBhvr>
                                        <p:cTn id="13" dur="500"/>
                                        <p:tgtEl>
                                          <p:spTgt spid="1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pRg st="3" end="3"/>
                                            </p:txEl>
                                          </p:spTgt>
                                        </p:tgtEl>
                                        <p:attrNameLst>
                                          <p:attrName>style.visibility</p:attrName>
                                        </p:attrNameLst>
                                      </p:cBhvr>
                                      <p:to>
                                        <p:strVal val="visible"/>
                                      </p:to>
                                    </p:set>
                                    <p:animEffect transition="in" filter="fade">
                                      <p:cBhvr>
                                        <p:cTn id="16" dur="500"/>
                                        <p:tgtEl>
                                          <p:spTgt spid="1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pRg st="4" end="4"/>
                                            </p:txEl>
                                          </p:spTgt>
                                        </p:tgtEl>
                                        <p:attrNameLst>
                                          <p:attrName>style.visibility</p:attrName>
                                        </p:attrNameLst>
                                      </p:cBhvr>
                                      <p:to>
                                        <p:strVal val="visible"/>
                                      </p:to>
                                    </p:set>
                                    <p:animEffect transition="in" filter="fade">
                                      <p:cBhvr>
                                        <p:cTn id="19" dur="500"/>
                                        <p:tgtEl>
                                          <p:spTgt spid="1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pRg st="5" end="5"/>
                                            </p:txEl>
                                          </p:spTgt>
                                        </p:tgtEl>
                                        <p:attrNameLst>
                                          <p:attrName>style.visibility</p:attrName>
                                        </p:attrNameLst>
                                      </p:cBhvr>
                                      <p:to>
                                        <p:strVal val="visible"/>
                                      </p:to>
                                    </p:set>
                                    <p:animEffect transition="in" filter="fade">
                                      <p:cBhvr>
                                        <p:cTn id="22" dur="500"/>
                                        <p:tgtEl>
                                          <p:spTgt spid="17">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pRg st="7" end="7"/>
                                            </p:txEl>
                                          </p:spTgt>
                                        </p:tgtEl>
                                        <p:attrNameLst>
                                          <p:attrName>style.visibility</p:attrName>
                                        </p:attrNameLst>
                                      </p:cBhvr>
                                      <p:to>
                                        <p:strVal val="visible"/>
                                      </p:to>
                                    </p:set>
                                    <p:animEffect transition="in" filter="fade">
                                      <p:cBhvr>
                                        <p:cTn id="25" dur="500"/>
                                        <p:tgtEl>
                                          <p:spTgt spid="17">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pRg st="8" end="8"/>
                                            </p:txEl>
                                          </p:spTgt>
                                        </p:tgtEl>
                                        <p:attrNameLst>
                                          <p:attrName>style.visibility</p:attrName>
                                        </p:attrNameLst>
                                      </p:cBhvr>
                                      <p:to>
                                        <p:strVal val="visible"/>
                                      </p:to>
                                    </p:set>
                                    <p:animEffect transition="in" filter="fade">
                                      <p:cBhvr>
                                        <p:cTn id="28" dur="500"/>
                                        <p:tgtEl>
                                          <p:spTgt spid="17">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pRg st="9" end="9"/>
                                            </p:txEl>
                                          </p:spTgt>
                                        </p:tgtEl>
                                        <p:attrNameLst>
                                          <p:attrName>style.visibility</p:attrName>
                                        </p:attrNameLst>
                                      </p:cBhvr>
                                      <p:to>
                                        <p:strVal val="visible"/>
                                      </p:to>
                                    </p:set>
                                    <p:animEffect transition="in" filter="fade">
                                      <p:cBhvr>
                                        <p:cTn id="31" dur="500"/>
                                        <p:tgtEl>
                                          <p:spTgt spid="17">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xEl>
                                              <p:pRg st="10" end="10"/>
                                            </p:txEl>
                                          </p:spTgt>
                                        </p:tgtEl>
                                        <p:attrNameLst>
                                          <p:attrName>style.visibility</p:attrName>
                                        </p:attrNameLst>
                                      </p:cBhvr>
                                      <p:to>
                                        <p:strVal val="visible"/>
                                      </p:to>
                                    </p:set>
                                    <p:animEffect transition="in" filter="fade">
                                      <p:cBhvr>
                                        <p:cTn id="34" dur="500"/>
                                        <p:tgtEl>
                                          <p:spTgt spid="17">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xEl>
                                              <p:pRg st="11" end="11"/>
                                            </p:txEl>
                                          </p:spTgt>
                                        </p:tgtEl>
                                        <p:attrNameLst>
                                          <p:attrName>style.visibility</p:attrName>
                                        </p:attrNameLst>
                                      </p:cBhvr>
                                      <p:to>
                                        <p:strVal val="visible"/>
                                      </p:to>
                                    </p:set>
                                    <p:animEffect transition="in" filter="fade">
                                      <p:cBhvr>
                                        <p:cTn id="37" dur="500"/>
                                        <p:tgtEl>
                                          <p:spTgt spid="17">
                                            <p:txEl>
                                              <p:pRg st="11" end="11"/>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xEl>
                                              <p:pRg st="12" end="12"/>
                                            </p:txEl>
                                          </p:spTgt>
                                        </p:tgtEl>
                                        <p:attrNameLst>
                                          <p:attrName>style.visibility</p:attrName>
                                        </p:attrNameLst>
                                      </p:cBhvr>
                                      <p:to>
                                        <p:strVal val="visible"/>
                                      </p:to>
                                    </p:set>
                                    <p:animEffect transition="in" filter="fade">
                                      <p:cBhvr>
                                        <p:cTn id="40" dur="500"/>
                                        <p:tgtEl>
                                          <p:spTgt spid="1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1160742"/>
            <a:ext cx="14019402" cy="8097558"/>
            <a:chOff x="0" y="0"/>
            <a:chExt cx="18692536" cy="10796744"/>
          </a:xfrm>
        </p:grpSpPr>
        <p:grpSp>
          <p:nvGrpSpPr>
            <p:cNvPr id="8" name="Group 8"/>
            <p:cNvGrpSpPr/>
            <p:nvPr/>
          </p:nvGrpSpPr>
          <p:grpSpPr>
            <a:xfrm>
              <a:off x="0" y="0"/>
              <a:ext cx="18692536" cy="10796744"/>
              <a:chOff x="0" y="0"/>
              <a:chExt cx="1766638" cy="1020404"/>
            </a:xfrm>
          </p:grpSpPr>
          <p:sp>
            <p:nvSpPr>
              <p:cNvPr id="9" name="Freeform 9"/>
              <p:cNvSpPr/>
              <p:nvPr/>
            </p:nvSpPr>
            <p:spPr>
              <a:xfrm>
                <a:off x="0" y="0"/>
                <a:ext cx="1766638" cy="1020404"/>
              </a:xfrm>
              <a:custGeom>
                <a:avLst/>
                <a:gdLst/>
                <a:ahLst/>
                <a:cxnLst/>
                <a:rect l="l" t="t" r="r" b="b"/>
                <a:pathLst>
                  <a:path w="1766638" h="1020404">
                    <a:moveTo>
                      <a:pt x="0" y="0"/>
                    </a:moveTo>
                    <a:lnTo>
                      <a:pt x="1766638" y="0"/>
                    </a:lnTo>
                    <a:lnTo>
                      <a:pt x="1766638" y="1020404"/>
                    </a:lnTo>
                    <a:lnTo>
                      <a:pt x="0" y="1020404"/>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1068029"/>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10796744"/>
              <a:chOff x="0" y="0"/>
              <a:chExt cx="24179" cy="805046"/>
            </a:xfrm>
          </p:grpSpPr>
          <p:sp>
            <p:nvSpPr>
              <p:cNvPr id="12" name="Freeform 12"/>
              <p:cNvSpPr/>
              <p:nvPr/>
            </p:nvSpPr>
            <p:spPr>
              <a:xfrm>
                <a:off x="0" y="0"/>
                <a:ext cx="24179" cy="805046"/>
              </a:xfrm>
              <a:custGeom>
                <a:avLst/>
                <a:gdLst/>
                <a:ahLst/>
                <a:cxnLst/>
                <a:rect l="l" t="t" r="r" b="b"/>
                <a:pathLst>
                  <a:path w="24179" h="805046">
                    <a:moveTo>
                      <a:pt x="0" y="0"/>
                    </a:moveTo>
                    <a:lnTo>
                      <a:pt x="24179" y="0"/>
                    </a:lnTo>
                    <a:lnTo>
                      <a:pt x="24179" y="805046"/>
                    </a:lnTo>
                    <a:lnTo>
                      <a:pt x="0" y="805046"/>
                    </a:lnTo>
                    <a:close/>
                  </a:path>
                </a:pathLst>
              </a:custGeom>
              <a:solidFill>
                <a:srgbClr val="465265"/>
              </a:solidFill>
            </p:spPr>
          </p:sp>
          <p:sp>
            <p:nvSpPr>
              <p:cNvPr id="13" name="TextBox 13"/>
              <p:cNvSpPr txBox="1"/>
              <p:nvPr/>
            </p:nvSpPr>
            <p:spPr>
              <a:xfrm>
                <a:off x="0" y="-47625"/>
                <a:ext cx="24179" cy="85267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10796744"/>
              <a:chOff x="0" y="0"/>
              <a:chExt cx="23660" cy="805046"/>
            </a:xfrm>
          </p:grpSpPr>
          <p:sp>
            <p:nvSpPr>
              <p:cNvPr id="15" name="Freeform 15"/>
              <p:cNvSpPr/>
              <p:nvPr/>
            </p:nvSpPr>
            <p:spPr>
              <a:xfrm>
                <a:off x="0" y="0"/>
                <a:ext cx="23660" cy="805046"/>
              </a:xfrm>
              <a:custGeom>
                <a:avLst/>
                <a:gdLst/>
                <a:ahLst/>
                <a:cxnLst/>
                <a:rect l="l" t="t" r="r" b="b"/>
                <a:pathLst>
                  <a:path w="23660" h="805046">
                    <a:moveTo>
                      <a:pt x="0" y="0"/>
                    </a:moveTo>
                    <a:lnTo>
                      <a:pt x="23660" y="0"/>
                    </a:lnTo>
                    <a:lnTo>
                      <a:pt x="23660" y="805046"/>
                    </a:lnTo>
                    <a:lnTo>
                      <a:pt x="0" y="805046"/>
                    </a:lnTo>
                    <a:close/>
                  </a:path>
                </a:pathLst>
              </a:custGeom>
              <a:solidFill>
                <a:srgbClr val="465265"/>
              </a:solidFill>
            </p:spPr>
          </p:sp>
          <p:sp>
            <p:nvSpPr>
              <p:cNvPr id="16" name="TextBox 16"/>
              <p:cNvSpPr txBox="1"/>
              <p:nvPr/>
            </p:nvSpPr>
            <p:spPr>
              <a:xfrm>
                <a:off x="0" y="-47625"/>
                <a:ext cx="23660" cy="85267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1028700" y="1656696"/>
            <a:ext cx="12613399" cy="7308215"/>
          </a:xfrm>
          <a:prstGeom prst="rect">
            <a:avLst/>
          </a:prstGeom>
        </p:spPr>
        <p:txBody>
          <a:bodyPr lIns="0" tIns="0" rIns="0" bIns="0" rtlCol="0" anchor="t">
            <a:spAutoFit/>
          </a:bodyPr>
          <a:lstStyle/>
          <a:p>
            <a:pPr algn="l">
              <a:lnSpc>
                <a:spcPts val="3639"/>
              </a:lnSpc>
            </a:pPr>
            <a:r>
              <a:rPr lang="en-US" sz="2799" dirty="0">
                <a:solidFill>
                  <a:srgbClr val="689BCB"/>
                </a:solidFill>
                <a:latin typeface="Fredoka"/>
                <a:ea typeface="Fredoka"/>
                <a:cs typeface="Fredoka"/>
                <a:sym typeface="Fredoka"/>
              </a:rPr>
              <a:t>7. Tom is conducting an experiment in his science class. He wants to observe how different materials react with vinegar. Which of the following materials</a:t>
            </a:r>
          </a:p>
          <a:p>
            <a:pPr algn="l">
              <a:lnSpc>
                <a:spcPts val="3639"/>
              </a:lnSpc>
            </a:pPr>
            <a:r>
              <a:rPr lang="en-US" sz="2799" dirty="0">
                <a:solidFill>
                  <a:srgbClr val="689BCB"/>
                </a:solidFill>
                <a:latin typeface="Fredoka"/>
                <a:ea typeface="Fredoka"/>
                <a:cs typeface="Fredoka"/>
                <a:sym typeface="Fredoka"/>
              </a:rPr>
              <a:t>is most likely to produce bubbles when mixed with vinegar?</a:t>
            </a:r>
          </a:p>
          <a:p>
            <a:pPr algn="l">
              <a:lnSpc>
                <a:spcPts val="3639"/>
              </a:lnSpc>
            </a:pPr>
            <a:r>
              <a:rPr lang="en-US" sz="2799" dirty="0">
                <a:solidFill>
                  <a:srgbClr val="689BCB"/>
                </a:solidFill>
                <a:latin typeface="Fredoka"/>
                <a:ea typeface="Fredoka"/>
                <a:cs typeface="Fredoka"/>
                <a:sym typeface="Fredoka"/>
              </a:rPr>
              <a:t>A. Metal paperclip</a:t>
            </a:r>
          </a:p>
          <a:p>
            <a:pPr algn="l">
              <a:lnSpc>
                <a:spcPts val="3639"/>
              </a:lnSpc>
            </a:pPr>
            <a:r>
              <a:rPr lang="en-US" sz="2799" dirty="0">
                <a:solidFill>
                  <a:srgbClr val="689BCB"/>
                </a:solidFill>
                <a:latin typeface="Fredoka"/>
                <a:ea typeface="Fredoka"/>
                <a:cs typeface="Fredoka"/>
                <a:sym typeface="Fredoka"/>
              </a:rPr>
              <a:t>B. Plastic drinking straw</a:t>
            </a:r>
          </a:p>
          <a:p>
            <a:pPr algn="l">
              <a:lnSpc>
                <a:spcPts val="3639"/>
              </a:lnSpc>
            </a:pPr>
            <a:r>
              <a:rPr lang="en-US" sz="2799" dirty="0">
                <a:solidFill>
                  <a:srgbClr val="689BCB"/>
                </a:solidFill>
                <a:latin typeface="Fredoka"/>
                <a:ea typeface="Fredoka"/>
                <a:cs typeface="Fredoka"/>
                <a:sym typeface="Fredoka"/>
              </a:rPr>
              <a:t>C. Glass marble</a:t>
            </a:r>
          </a:p>
          <a:p>
            <a:pPr algn="l">
              <a:lnSpc>
                <a:spcPts val="3639"/>
              </a:lnSpc>
            </a:pPr>
            <a:r>
              <a:rPr lang="en-US" sz="2799" dirty="0">
                <a:solidFill>
                  <a:srgbClr val="689BCB"/>
                </a:solidFill>
                <a:latin typeface="Fredoka"/>
                <a:ea typeface="Fredoka"/>
                <a:cs typeface="Fredoka"/>
                <a:sym typeface="Fredoka"/>
              </a:rPr>
              <a:t>D. Cotton ball</a:t>
            </a:r>
          </a:p>
          <a:p>
            <a:pPr algn="l">
              <a:lnSpc>
                <a:spcPts val="3639"/>
              </a:lnSpc>
            </a:pPr>
            <a:endParaRPr lang="en-US" sz="2799" dirty="0">
              <a:solidFill>
                <a:srgbClr val="689BCB"/>
              </a:solidFill>
              <a:latin typeface="Fredoka"/>
              <a:ea typeface="Fredoka"/>
              <a:cs typeface="Fredoka"/>
              <a:sym typeface="Fredoka"/>
            </a:endParaRPr>
          </a:p>
          <a:p>
            <a:pPr algn="l">
              <a:lnSpc>
                <a:spcPts val="3639"/>
              </a:lnSpc>
            </a:pPr>
            <a:r>
              <a:rPr lang="en-US" sz="2799" dirty="0">
                <a:solidFill>
                  <a:srgbClr val="689BCB"/>
                </a:solidFill>
                <a:latin typeface="Fredoka"/>
                <a:ea typeface="Fredoka"/>
                <a:cs typeface="Fredoka"/>
                <a:sym typeface="Fredoka"/>
              </a:rPr>
              <a:t>8. Emily is decorating her room and wants to hang up some pictures using metal nails. She is worried about the nails rusting over time. What can Emily do to prevent the nails from rusting?</a:t>
            </a:r>
          </a:p>
          <a:p>
            <a:pPr algn="l">
              <a:lnSpc>
                <a:spcPts val="3639"/>
              </a:lnSpc>
            </a:pPr>
            <a:r>
              <a:rPr lang="en-US" sz="2799" dirty="0">
                <a:solidFill>
                  <a:srgbClr val="689BCB"/>
                </a:solidFill>
                <a:latin typeface="Fredoka"/>
                <a:ea typeface="Fredoka"/>
                <a:cs typeface="Fredoka"/>
                <a:sym typeface="Fredoka"/>
              </a:rPr>
              <a:t>A. Paint the nails with a waterproof sealant</a:t>
            </a:r>
          </a:p>
          <a:p>
            <a:pPr algn="l">
              <a:lnSpc>
                <a:spcPts val="3639"/>
              </a:lnSpc>
            </a:pPr>
            <a:r>
              <a:rPr lang="en-US" sz="2799" dirty="0">
                <a:solidFill>
                  <a:srgbClr val="689BCB"/>
                </a:solidFill>
                <a:latin typeface="Fredoka"/>
                <a:ea typeface="Fredoka"/>
                <a:cs typeface="Fredoka"/>
                <a:sym typeface="Fredoka"/>
              </a:rPr>
              <a:t>B. Keep the room temperature low to slow down the rusting process</a:t>
            </a:r>
          </a:p>
          <a:p>
            <a:pPr algn="l">
              <a:lnSpc>
                <a:spcPts val="3639"/>
              </a:lnSpc>
            </a:pPr>
            <a:r>
              <a:rPr lang="en-US" sz="2799" dirty="0">
                <a:solidFill>
                  <a:srgbClr val="689BCB"/>
                </a:solidFill>
                <a:latin typeface="Fredoka"/>
                <a:ea typeface="Fredoka"/>
                <a:cs typeface="Fredoka"/>
                <a:sym typeface="Fredoka"/>
              </a:rPr>
              <a:t>C. Use plastic nails instead of metal nails</a:t>
            </a:r>
          </a:p>
          <a:p>
            <a:pPr algn="l">
              <a:lnSpc>
                <a:spcPts val="3639"/>
              </a:lnSpc>
            </a:pPr>
            <a:r>
              <a:rPr lang="en-US" sz="2799" dirty="0">
                <a:solidFill>
                  <a:srgbClr val="689BCB"/>
                </a:solidFill>
                <a:latin typeface="Fredoka"/>
                <a:ea typeface="Fredoka"/>
                <a:cs typeface="Fredoka"/>
                <a:sym typeface="Fredoka"/>
              </a:rPr>
              <a:t>D. Nothing, as rusting is inevitable for metal nails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fade">
                                      <p:cBhvr>
                                        <p:cTn id="10" dur="500"/>
                                        <p:tgtEl>
                                          <p:spTgt spid="1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animEffect transition="in" filter="fade">
                                      <p:cBhvr>
                                        <p:cTn id="13" dur="500"/>
                                        <p:tgtEl>
                                          <p:spTgt spid="1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pRg st="3" end="3"/>
                                            </p:txEl>
                                          </p:spTgt>
                                        </p:tgtEl>
                                        <p:attrNameLst>
                                          <p:attrName>style.visibility</p:attrName>
                                        </p:attrNameLst>
                                      </p:cBhvr>
                                      <p:to>
                                        <p:strVal val="visible"/>
                                      </p:to>
                                    </p:set>
                                    <p:animEffect transition="in" filter="fade">
                                      <p:cBhvr>
                                        <p:cTn id="16" dur="500"/>
                                        <p:tgtEl>
                                          <p:spTgt spid="1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pRg st="4" end="4"/>
                                            </p:txEl>
                                          </p:spTgt>
                                        </p:tgtEl>
                                        <p:attrNameLst>
                                          <p:attrName>style.visibility</p:attrName>
                                        </p:attrNameLst>
                                      </p:cBhvr>
                                      <p:to>
                                        <p:strVal val="visible"/>
                                      </p:to>
                                    </p:set>
                                    <p:animEffect transition="in" filter="fade">
                                      <p:cBhvr>
                                        <p:cTn id="19" dur="500"/>
                                        <p:tgtEl>
                                          <p:spTgt spid="1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pRg st="5" end="5"/>
                                            </p:txEl>
                                          </p:spTgt>
                                        </p:tgtEl>
                                        <p:attrNameLst>
                                          <p:attrName>style.visibility</p:attrName>
                                        </p:attrNameLst>
                                      </p:cBhvr>
                                      <p:to>
                                        <p:strVal val="visible"/>
                                      </p:to>
                                    </p:set>
                                    <p:animEffect transition="in" filter="fade">
                                      <p:cBhvr>
                                        <p:cTn id="22" dur="500"/>
                                        <p:tgtEl>
                                          <p:spTgt spid="17">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pRg st="7" end="7"/>
                                            </p:txEl>
                                          </p:spTgt>
                                        </p:tgtEl>
                                        <p:attrNameLst>
                                          <p:attrName>style.visibility</p:attrName>
                                        </p:attrNameLst>
                                      </p:cBhvr>
                                      <p:to>
                                        <p:strVal val="visible"/>
                                      </p:to>
                                    </p:set>
                                    <p:animEffect transition="in" filter="fade">
                                      <p:cBhvr>
                                        <p:cTn id="25" dur="500"/>
                                        <p:tgtEl>
                                          <p:spTgt spid="17">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pRg st="8" end="8"/>
                                            </p:txEl>
                                          </p:spTgt>
                                        </p:tgtEl>
                                        <p:attrNameLst>
                                          <p:attrName>style.visibility</p:attrName>
                                        </p:attrNameLst>
                                      </p:cBhvr>
                                      <p:to>
                                        <p:strVal val="visible"/>
                                      </p:to>
                                    </p:set>
                                    <p:animEffect transition="in" filter="fade">
                                      <p:cBhvr>
                                        <p:cTn id="28" dur="500"/>
                                        <p:tgtEl>
                                          <p:spTgt spid="17">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pRg st="9" end="9"/>
                                            </p:txEl>
                                          </p:spTgt>
                                        </p:tgtEl>
                                        <p:attrNameLst>
                                          <p:attrName>style.visibility</p:attrName>
                                        </p:attrNameLst>
                                      </p:cBhvr>
                                      <p:to>
                                        <p:strVal val="visible"/>
                                      </p:to>
                                    </p:set>
                                    <p:animEffect transition="in" filter="fade">
                                      <p:cBhvr>
                                        <p:cTn id="31" dur="500"/>
                                        <p:tgtEl>
                                          <p:spTgt spid="17">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xEl>
                                              <p:pRg st="10" end="10"/>
                                            </p:txEl>
                                          </p:spTgt>
                                        </p:tgtEl>
                                        <p:attrNameLst>
                                          <p:attrName>style.visibility</p:attrName>
                                        </p:attrNameLst>
                                      </p:cBhvr>
                                      <p:to>
                                        <p:strVal val="visible"/>
                                      </p:to>
                                    </p:set>
                                    <p:animEffect transition="in" filter="fade">
                                      <p:cBhvr>
                                        <p:cTn id="34" dur="500"/>
                                        <p:tgtEl>
                                          <p:spTgt spid="17">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xEl>
                                              <p:pRg st="11" end="11"/>
                                            </p:txEl>
                                          </p:spTgt>
                                        </p:tgtEl>
                                        <p:attrNameLst>
                                          <p:attrName>style.visibility</p:attrName>
                                        </p:attrNameLst>
                                      </p:cBhvr>
                                      <p:to>
                                        <p:strVal val="visible"/>
                                      </p:to>
                                    </p:set>
                                    <p:animEffect transition="in" filter="fade">
                                      <p:cBhvr>
                                        <p:cTn id="37" dur="500"/>
                                        <p:tgtEl>
                                          <p:spTgt spid="1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0" y="1189952"/>
            <a:ext cx="14019402" cy="8097558"/>
            <a:chOff x="0" y="0"/>
            <a:chExt cx="18692536" cy="10796744"/>
          </a:xfrm>
        </p:grpSpPr>
        <p:grpSp>
          <p:nvGrpSpPr>
            <p:cNvPr id="8" name="Group 8"/>
            <p:cNvGrpSpPr/>
            <p:nvPr/>
          </p:nvGrpSpPr>
          <p:grpSpPr>
            <a:xfrm>
              <a:off x="0" y="0"/>
              <a:ext cx="18692536" cy="10796744"/>
              <a:chOff x="0" y="0"/>
              <a:chExt cx="1766638" cy="1020404"/>
            </a:xfrm>
          </p:grpSpPr>
          <p:sp>
            <p:nvSpPr>
              <p:cNvPr id="9" name="Freeform 9"/>
              <p:cNvSpPr/>
              <p:nvPr/>
            </p:nvSpPr>
            <p:spPr>
              <a:xfrm>
                <a:off x="0" y="0"/>
                <a:ext cx="1766638" cy="1020404"/>
              </a:xfrm>
              <a:custGeom>
                <a:avLst/>
                <a:gdLst/>
                <a:ahLst/>
                <a:cxnLst/>
                <a:rect l="l" t="t" r="r" b="b"/>
                <a:pathLst>
                  <a:path w="1766638" h="1020404">
                    <a:moveTo>
                      <a:pt x="0" y="0"/>
                    </a:moveTo>
                    <a:lnTo>
                      <a:pt x="1766638" y="0"/>
                    </a:lnTo>
                    <a:lnTo>
                      <a:pt x="1766638" y="1020404"/>
                    </a:lnTo>
                    <a:lnTo>
                      <a:pt x="0" y="1020404"/>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1068029"/>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10796744"/>
              <a:chOff x="0" y="0"/>
              <a:chExt cx="24179" cy="805046"/>
            </a:xfrm>
          </p:grpSpPr>
          <p:sp>
            <p:nvSpPr>
              <p:cNvPr id="12" name="Freeform 12"/>
              <p:cNvSpPr/>
              <p:nvPr/>
            </p:nvSpPr>
            <p:spPr>
              <a:xfrm>
                <a:off x="0" y="0"/>
                <a:ext cx="24179" cy="805046"/>
              </a:xfrm>
              <a:custGeom>
                <a:avLst/>
                <a:gdLst/>
                <a:ahLst/>
                <a:cxnLst/>
                <a:rect l="l" t="t" r="r" b="b"/>
                <a:pathLst>
                  <a:path w="24179" h="805046">
                    <a:moveTo>
                      <a:pt x="0" y="0"/>
                    </a:moveTo>
                    <a:lnTo>
                      <a:pt x="24179" y="0"/>
                    </a:lnTo>
                    <a:lnTo>
                      <a:pt x="24179" y="805046"/>
                    </a:lnTo>
                    <a:lnTo>
                      <a:pt x="0" y="805046"/>
                    </a:lnTo>
                    <a:close/>
                  </a:path>
                </a:pathLst>
              </a:custGeom>
              <a:solidFill>
                <a:srgbClr val="465265"/>
              </a:solidFill>
            </p:spPr>
          </p:sp>
          <p:sp>
            <p:nvSpPr>
              <p:cNvPr id="13" name="TextBox 13"/>
              <p:cNvSpPr txBox="1"/>
              <p:nvPr/>
            </p:nvSpPr>
            <p:spPr>
              <a:xfrm>
                <a:off x="0" y="-47625"/>
                <a:ext cx="24179" cy="85267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10796744"/>
              <a:chOff x="0" y="0"/>
              <a:chExt cx="23660" cy="805046"/>
            </a:xfrm>
          </p:grpSpPr>
          <p:sp>
            <p:nvSpPr>
              <p:cNvPr id="15" name="Freeform 15"/>
              <p:cNvSpPr/>
              <p:nvPr/>
            </p:nvSpPr>
            <p:spPr>
              <a:xfrm>
                <a:off x="0" y="0"/>
                <a:ext cx="23660" cy="805046"/>
              </a:xfrm>
              <a:custGeom>
                <a:avLst/>
                <a:gdLst/>
                <a:ahLst/>
                <a:cxnLst/>
                <a:rect l="l" t="t" r="r" b="b"/>
                <a:pathLst>
                  <a:path w="23660" h="805046">
                    <a:moveTo>
                      <a:pt x="0" y="0"/>
                    </a:moveTo>
                    <a:lnTo>
                      <a:pt x="23660" y="0"/>
                    </a:lnTo>
                    <a:lnTo>
                      <a:pt x="23660" y="805046"/>
                    </a:lnTo>
                    <a:lnTo>
                      <a:pt x="0" y="805046"/>
                    </a:lnTo>
                    <a:close/>
                  </a:path>
                </a:pathLst>
              </a:custGeom>
              <a:solidFill>
                <a:srgbClr val="465265"/>
              </a:solidFill>
            </p:spPr>
          </p:sp>
          <p:sp>
            <p:nvSpPr>
              <p:cNvPr id="16" name="TextBox 16"/>
              <p:cNvSpPr txBox="1"/>
              <p:nvPr/>
            </p:nvSpPr>
            <p:spPr>
              <a:xfrm>
                <a:off x="0" y="-47625"/>
                <a:ext cx="23660" cy="85267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1028700" y="1656696"/>
            <a:ext cx="12613399" cy="7135495"/>
          </a:xfrm>
          <a:prstGeom prst="rect">
            <a:avLst/>
          </a:prstGeom>
        </p:spPr>
        <p:txBody>
          <a:bodyPr lIns="0" tIns="0" rIns="0" bIns="0" rtlCol="0" anchor="t">
            <a:spAutoFit/>
          </a:bodyPr>
          <a:lstStyle/>
          <a:p>
            <a:pPr algn="l">
              <a:lnSpc>
                <a:spcPts val="3770"/>
              </a:lnSpc>
            </a:pPr>
            <a:r>
              <a:rPr lang="en-US" sz="2900" dirty="0">
                <a:solidFill>
                  <a:srgbClr val="689BCB"/>
                </a:solidFill>
                <a:latin typeface="Fredoka"/>
                <a:ea typeface="Fredoka"/>
                <a:cs typeface="Fredoka"/>
                <a:sym typeface="Fredoka"/>
              </a:rPr>
              <a:t>9. David is helping his mom in the kitchen. She accidentally spills some lemon juice on the marble countertop. What is likely to happen to the marble over time?</a:t>
            </a:r>
          </a:p>
          <a:p>
            <a:pPr algn="l">
              <a:lnSpc>
                <a:spcPts val="3770"/>
              </a:lnSpc>
            </a:pPr>
            <a:r>
              <a:rPr lang="en-US" sz="2900" dirty="0">
                <a:solidFill>
                  <a:srgbClr val="689BCB"/>
                </a:solidFill>
                <a:latin typeface="Fredoka"/>
                <a:ea typeface="Fredoka"/>
                <a:cs typeface="Fredoka"/>
                <a:sym typeface="Fredoka"/>
              </a:rPr>
              <a:t>A. The marble will remain unchanged</a:t>
            </a:r>
          </a:p>
          <a:p>
            <a:pPr algn="l">
              <a:lnSpc>
                <a:spcPts val="3770"/>
              </a:lnSpc>
            </a:pPr>
            <a:r>
              <a:rPr lang="en-US" sz="2900" dirty="0">
                <a:solidFill>
                  <a:srgbClr val="689BCB"/>
                </a:solidFill>
                <a:latin typeface="Fredoka"/>
                <a:ea typeface="Fredoka"/>
                <a:cs typeface="Fredoka"/>
                <a:sym typeface="Fredoka"/>
              </a:rPr>
              <a:t>B. The marble will dissolve and disappear</a:t>
            </a:r>
          </a:p>
          <a:p>
            <a:pPr algn="l">
              <a:lnSpc>
                <a:spcPts val="3770"/>
              </a:lnSpc>
            </a:pPr>
            <a:r>
              <a:rPr lang="en-US" sz="2900" dirty="0">
                <a:solidFill>
                  <a:srgbClr val="689BCB"/>
                </a:solidFill>
                <a:latin typeface="Fredoka"/>
                <a:ea typeface="Fredoka"/>
                <a:cs typeface="Fredoka"/>
                <a:sym typeface="Fredoka"/>
              </a:rPr>
              <a:t>C. The marble will develop stains and discoloration</a:t>
            </a:r>
          </a:p>
          <a:p>
            <a:pPr algn="l">
              <a:lnSpc>
                <a:spcPts val="3770"/>
              </a:lnSpc>
            </a:pPr>
            <a:r>
              <a:rPr lang="en-US" sz="2900" dirty="0">
                <a:solidFill>
                  <a:srgbClr val="689BCB"/>
                </a:solidFill>
                <a:latin typeface="Fredoka"/>
                <a:ea typeface="Fredoka"/>
                <a:cs typeface="Fredoka"/>
                <a:sym typeface="Fredoka"/>
              </a:rPr>
              <a:t>D. The marble will react with the lemon juice to form a new substance</a:t>
            </a:r>
          </a:p>
          <a:p>
            <a:pPr algn="l">
              <a:lnSpc>
                <a:spcPts val="3770"/>
              </a:lnSpc>
            </a:pPr>
            <a:endParaRPr lang="en-US" sz="2900" dirty="0">
              <a:solidFill>
                <a:srgbClr val="689BCB"/>
              </a:solidFill>
              <a:latin typeface="Fredoka"/>
              <a:ea typeface="Fredoka"/>
              <a:cs typeface="Fredoka"/>
              <a:sym typeface="Fredoka"/>
            </a:endParaRPr>
          </a:p>
          <a:p>
            <a:pPr algn="l">
              <a:lnSpc>
                <a:spcPts val="3770"/>
              </a:lnSpc>
            </a:pPr>
            <a:r>
              <a:rPr lang="en-US" sz="2900" dirty="0">
                <a:solidFill>
                  <a:srgbClr val="689BCB"/>
                </a:solidFill>
                <a:latin typeface="Fredoka"/>
                <a:ea typeface="Fredoka"/>
                <a:cs typeface="Fredoka"/>
                <a:sym typeface="Fredoka"/>
              </a:rPr>
              <a:t>10.Anna is packing her lunch for school. She wants to use a material for her sandwich wrapper that will break down easily when discarded. Which of the following materials should Anna choose?</a:t>
            </a:r>
          </a:p>
          <a:p>
            <a:pPr algn="l">
              <a:lnSpc>
                <a:spcPts val="3770"/>
              </a:lnSpc>
            </a:pPr>
            <a:r>
              <a:rPr lang="en-US" sz="2900" dirty="0">
                <a:solidFill>
                  <a:srgbClr val="689BCB"/>
                </a:solidFill>
                <a:latin typeface="Fredoka"/>
                <a:ea typeface="Fredoka"/>
                <a:cs typeface="Fredoka"/>
                <a:sym typeface="Fredoka"/>
              </a:rPr>
              <a:t>A. Plastic cling film</a:t>
            </a:r>
          </a:p>
          <a:p>
            <a:pPr algn="l">
              <a:lnSpc>
                <a:spcPts val="3770"/>
              </a:lnSpc>
            </a:pPr>
            <a:r>
              <a:rPr lang="en-US" sz="2900" dirty="0">
                <a:solidFill>
                  <a:srgbClr val="689BCB"/>
                </a:solidFill>
                <a:latin typeface="Fredoka"/>
                <a:ea typeface="Fredoka"/>
                <a:cs typeface="Fredoka"/>
                <a:sym typeface="Fredoka"/>
              </a:rPr>
              <a:t>B. Aluminum foil</a:t>
            </a:r>
          </a:p>
          <a:p>
            <a:pPr algn="l">
              <a:lnSpc>
                <a:spcPts val="3770"/>
              </a:lnSpc>
            </a:pPr>
            <a:r>
              <a:rPr lang="en-US" sz="2900" dirty="0">
                <a:solidFill>
                  <a:srgbClr val="689BCB"/>
                </a:solidFill>
                <a:latin typeface="Fredoka"/>
                <a:ea typeface="Fredoka"/>
                <a:cs typeface="Fredoka"/>
                <a:sym typeface="Fredoka"/>
              </a:rPr>
              <a:t>C. Biodegradable wax paper</a:t>
            </a:r>
          </a:p>
          <a:p>
            <a:pPr algn="l">
              <a:lnSpc>
                <a:spcPts val="3770"/>
              </a:lnSpc>
            </a:pPr>
            <a:r>
              <a:rPr lang="en-US" sz="2900" dirty="0">
                <a:solidFill>
                  <a:srgbClr val="689BCB"/>
                </a:solidFill>
                <a:latin typeface="Fredoka"/>
                <a:ea typeface="Fredoka"/>
                <a:cs typeface="Fredoka"/>
                <a:sym typeface="Fredoka"/>
              </a:rPr>
              <a:t>D. Styrofoam container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fade">
                                      <p:cBhvr>
                                        <p:cTn id="10" dur="500"/>
                                        <p:tgtEl>
                                          <p:spTgt spid="1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animEffect transition="in" filter="fade">
                                      <p:cBhvr>
                                        <p:cTn id="13" dur="500"/>
                                        <p:tgtEl>
                                          <p:spTgt spid="1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pRg st="3" end="3"/>
                                            </p:txEl>
                                          </p:spTgt>
                                        </p:tgtEl>
                                        <p:attrNameLst>
                                          <p:attrName>style.visibility</p:attrName>
                                        </p:attrNameLst>
                                      </p:cBhvr>
                                      <p:to>
                                        <p:strVal val="visible"/>
                                      </p:to>
                                    </p:set>
                                    <p:animEffect transition="in" filter="fade">
                                      <p:cBhvr>
                                        <p:cTn id="16" dur="500"/>
                                        <p:tgtEl>
                                          <p:spTgt spid="1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pRg st="4" end="4"/>
                                            </p:txEl>
                                          </p:spTgt>
                                        </p:tgtEl>
                                        <p:attrNameLst>
                                          <p:attrName>style.visibility</p:attrName>
                                        </p:attrNameLst>
                                      </p:cBhvr>
                                      <p:to>
                                        <p:strVal val="visible"/>
                                      </p:to>
                                    </p:set>
                                    <p:animEffect transition="in" filter="fade">
                                      <p:cBhvr>
                                        <p:cTn id="19" dur="500"/>
                                        <p:tgtEl>
                                          <p:spTgt spid="1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pRg st="6" end="6"/>
                                            </p:txEl>
                                          </p:spTgt>
                                        </p:tgtEl>
                                        <p:attrNameLst>
                                          <p:attrName>style.visibility</p:attrName>
                                        </p:attrNameLst>
                                      </p:cBhvr>
                                      <p:to>
                                        <p:strVal val="visible"/>
                                      </p:to>
                                    </p:set>
                                    <p:animEffect transition="in" filter="fade">
                                      <p:cBhvr>
                                        <p:cTn id="22" dur="500"/>
                                        <p:tgtEl>
                                          <p:spTgt spid="17">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pRg st="7" end="7"/>
                                            </p:txEl>
                                          </p:spTgt>
                                        </p:tgtEl>
                                        <p:attrNameLst>
                                          <p:attrName>style.visibility</p:attrName>
                                        </p:attrNameLst>
                                      </p:cBhvr>
                                      <p:to>
                                        <p:strVal val="visible"/>
                                      </p:to>
                                    </p:set>
                                    <p:animEffect transition="in" filter="fade">
                                      <p:cBhvr>
                                        <p:cTn id="25" dur="500"/>
                                        <p:tgtEl>
                                          <p:spTgt spid="17">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pRg st="8" end="8"/>
                                            </p:txEl>
                                          </p:spTgt>
                                        </p:tgtEl>
                                        <p:attrNameLst>
                                          <p:attrName>style.visibility</p:attrName>
                                        </p:attrNameLst>
                                      </p:cBhvr>
                                      <p:to>
                                        <p:strVal val="visible"/>
                                      </p:to>
                                    </p:set>
                                    <p:animEffect transition="in" filter="fade">
                                      <p:cBhvr>
                                        <p:cTn id="28" dur="500"/>
                                        <p:tgtEl>
                                          <p:spTgt spid="17">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pRg st="9" end="9"/>
                                            </p:txEl>
                                          </p:spTgt>
                                        </p:tgtEl>
                                        <p:attrNameLst>
                                          <p:attrName>style.visibility</p:attrName>
                                        </p:attrNameLst>
                                      </p:cBhvr>
                                      <p:to>
                                        <p:strVal val="visible"/>
                                      </p:to>
                                    </p:set>
                                    <p:animEffect transition="in" filter="fade">
                                      <p:cBhvr>
                                        <p:cTn id="31" dur="500"/>
                                        <p:tgtEl>
                                          <p:spTgt spid="17">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xEl>
                                              <p:pRg st="10" end="10"/>
                                            </p:txEl>
                                          </p:spTgt>
                                        </p:tgtEl>
                                        <p:attrNameLst>
                                          <p:attrName>style.visibility</p:attrName>
                                        </p:attrNameLst>
                                      </p:cBhvr>
                                      <p:to>
                                        <p:strVal val="visible"/>
                                      </p:to>
                                    </p:set>
                                    <p:animEffect transition="in" filter="fade">
                                      <p:cBhvr>
                                        <p:cTn id="34" dur="500"/>
                                        <p:tgtEl>
                                          <p:spTgt spid="1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426970" y="2290640"/>
            <a:ext cx="7391084" cy="8828327"/>
            <a:chOff x="0" y="0"/>
            <a:chExt cx="9854778" cy="11771102"/>
          </a:xfrm>
        </p:grpSpPr>
        <p:sp>
          <p:nvSpPr>
            <p:cNvPr id="4" name="Freeform 4"/>
            <p:cNvSpPr/>
            <p:nvPr/>
          </p:nvSpPr>
          <p:spPr>
            <a:xfrm>
              <a:off x="0" y="0"/>
              <a:ext cx="9844922" cy="11771102"/>
            </a:xfrm>
            <a:custGeom>
              <a:avLst/>
              <a:gdLst/>
              <a:ahLst/>
              <a:cxnLst/>
              <a:rect l="l" t="t" r="r" b="b"/>
              <a:pathLst>
                <a:path w="9844922" h="11771102">
                  <a:moveTo>
                    <a:pt x="0" y="0"/>
                  </a:moveTo>
                  <a:lnTo>
                    <a:pt x="9844922" y="0"/>
                  </a:lnTo>
                  <a:lnTo>
                    <a:pt x="9844922" y="11771102"/>
                  </a:lnTo>
                  <a:lnTo>
                    <a:pt x="0" y="11771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49250">
              <a:off x="3558494" y="1136996"/>
              <a:ext cx="2417339" cy="1012261"/>
            </a:xfrm>
            <a:custGeom>
              <a:avLst/>
              <a:gdLst/>
              <a:ahLst/>
              <a:cxnLst/>
              <a:rect l="l" t="t" r="r" b="b"/>
              <a:pathLst>
                <a:path w="2417339" h="1012261">
                  <a:moveTo>
                    <a:pt x="0" y="0"/>
                  </a:moveTo>
                  <a:lnTo>
                    <a:pt x="2417339" y="0"/>
                  </a:lnTo>
                  <a:lnTo>
                    <a:pt x="2417339" y="1012261"/>
                  </a:lnTo>
                  <a:lnTo>
                    <a:pt x="0" y="10122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9857" y="3044413"/>
              <a:ext cx="2129695" cy="2418878"/>
            </a:xfrm>
            <a:custGeom>
              <a:avLst/>
              <a:gdLst/>
              <a:ahLst/>
              <a:cxnLst/>
              <a:rect l="l" t="t" r="r" b="b"/>
              <a:pathLst>
                <a:path w="2129695" h="2418878">
                  <a:moveTo>
                    <a:pt x="0" y="0"/>
                  </a:moveTo>
                  <a:lnTo>
                    <a:pt x="2129695" y="0"/>
                  </a:lnTo>
                  <a:lnTo>
                    <a:pt x="2129695" y="2418878"/>
                  </a:lnTo>
                  <a:lnTo>
                    <a:pt x="0" y="2418878"/>
                  </a:lnTo>
                  <a:lnTo>
                    <a:pt x="0" y="0"/>
                  </a:lnTo>
                  <a:close/>
                </a:path>
              </a:pathLst>
            </a:custGeom>
            <a:blipFill>
              <a:blip r:embed="rId7">
                <a:extLst>
                  <a:ext uri="{96DAC541-7B7A-43D3-8B79-37D633B846F1}">
                    <asvg:svgBlip xmlns:asvg="http://schemas.microsoft.com/office/drawing/2016/SVG/main" r:embed="rId8"/>
                  </a:ext>
                </a:extLst>
              </a:blip>
              <a:stretch>
                <a:fillRect l="-462" t="-125860" r="-361806" b="-260774"/>
              </a:stretch>
            </a:blipFill>
          </p:spPr>
        </p:sp>
        <p:sp>
          <p:nvSpPr>
            <p:cNvPr id="7" name="Freeform 7"/>
            <p:cNvSpPr/>
            <p:nvPr/>
          </p:nvSpPr>
          <p:spPr>
            <a:xfrm>
              <a:off x="7266975" y="2291843"/>
              <a:ext cx="2587804" cy="1221857"/>
            </a:xfrm>
            <a:custGeom>
              <a:avLst/>
              <a:gdLst/>
              <a:ahLst/>
              <a:cxnLst/>
              <a:rect l="l" t="t" r="r" b="b"/>
              <a:pathLst>
                <a:path w="2587804" h="1221857">
                  <a:moveTo>
                    <a:pt x="0" y="0"/>
                  </a:moveTo>
                  <a:lnTo>
                    <a:pt x="2587803" y="0"/>
                  </a:lnTo>
                  <a:lnTo>
                    <a:pt x="2587803" y="1221856"/>
                  </a:lnTo>
                  <a:lnTo>
                    <a:pt x="0" y="1221856"/>
                  </a:lnTo>
                  <a:lnTo>
                    <a:pt x="0" y="0"/>
                  </a:lnTo>
                  <a:close/>
                </a:path>
              </a:pathLst>
            </a:custGeom>
            <a:blipFill>
              <a:blip r:embed="rId9">
                <a:extLst>
                  <a:ext uri="{96DAC541-7B7A-43D3-8B79-37D633B846F1}">
                    <asvg:svgBlip xmlns:asvg="http://schemas.microsoft.com/office/drawing/2016/SVG/main" r:embed="rId10"/>
                  </a:ext>
                </a:extLst>
              </a:blip>
              <a:stretch>
                <a:fillRect l="-280435" t="-187570" b="-675807"/>
              </a:stretch>
            </a:blipFill>
          </p:spPr>
        </p:sp>
      </p:grpSp>
      <p:grpSp>
        <p:nvGrpSpPr>
          <p:cNvPr id="8" name="Group 8"/>
          <p:cNvGrpSpPr/>
          <p:nvPr/>
        </p:nvGrpSpPr>
        <p:grpSpPr>
          <a:xfrm>
            <a:off x="-566209" y="9642589"/>
            <a:ext cx="18854209" cy="763941"/>
            <a:chOff x="0" y="0"/>
            <a:chExt cx="4965718" cy="201203"/>
          </a:xfrm>
        </p:grpSpPr>
        <p:sp>
          <p:nvSpPr>
            <p:cNvPr id="9" name="Freeform 9"/>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0" name="TextBox 10"/>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613838" y="4283004"/>
            <a:ext cx="8617648" cy="2421799"/>
            <a:chOff x="0" y="0"/>
            <a:chExt cx="11490198" cy="3229066"/>
          </a:xfrm>
        </p:grpSpPr>
        <p:grpSp>
          <p:nvGrpSpPr>
            <p:cNvPr id="12" name="Group 12"/>
            <p:cNvGrpSpPr/>
            <p:nvPr/>
          </p:nvGrpSpPr>
          <p:grpSpPr>
            <a:xfrm>
              <a:off x="0" y="0"/>
              <a:ext cx="11490198" cy="3229066"/>
              <a:chOff x="0" y="0"/>
              <a:chExt cx="1085942" cy="305180"/>
            </a:xfrm>
          </p:grpSpPr>
          <p:sp>
            <p:nvSpPr>
              <p:cNvPr id="13" name="Freeform 13"/>
              <p:cNvSpPr/>
              <p:nvPr/>
            </p:nvSpPr>
            <p:spPr>
              <a:xfrm>
                <a:off x="0" y="0"/>
                <a:ext cx="1085942" cy="305180"/>
              </a:xfrm>
              <a:custGeom>
                <a:avLst/>
                <a:gdLst/>
                <a:ahLst/>
                <a:cxnLst/>
                <a:rect l="l" t="t" r="r" b="b"/>
                <a:pathLst>
                  <a:path w="1085942" h="305180">
                    <a:moveTo>
                      <a:pt x="0" y="0"/>
                    </a:moveTo>
                    <a:lnTo>
                      <a:pt x="1085942" y="0"/>
                    </a:lnTo>
                    <a:lnTo>
                      <a:pt x="1085942" y="305180"/>
                    </a:lnTo>
                    <a:lnTo>
                      <a:pt x="0" y="305180"/>
                    </a:lnTo>
                    <a:close/>
                  </a:path>
                </a:pathLst>
              </a:custGeom>
              <a:solidFill>
                <a:srgbClr val="E8EEFD"/>
              </a:solidFill>
              <a:ln w="219075" cap="sq">
                <a:solidFill>
                  <a:srgbClr val="59687F"/>
                </a:solidFill>
                <a:prstDash val="solid"/>
                <a:miter/>
              </a:ln>
            </p:spPr>
          </p:sp>
          <p:sp>
            <p:nvSpPr>
              <p:cNvPr id="14" name="TextBox 14"/>
              <p:cNvSpPr txBox="1"/>
              <p:nvPr/>
            </p:nvSpPr>
            <p:spPr>
              <a:xfrm>
                <a:off x="0" y="-47625"/>
                <a:ext cx="1085942" cy="352805"/>
              </a:xfrm>
              <a:prstGeom prst="rect">
                <a:avLst/>
              </a:prstGeom>
            </p:spPr>
            <p:txBody>
              <a:bodyPr lIns="134577" tIns="134577" rIns="134577" bIns="134577" rtlCol="0" anchor="ctr"/>
              <a:lstStyle/>
              <a:p>
                <a:pPr algn="ctr">
                  <a:lnSpc>
                    <a:spcPts val="2660"/>
                  </a:lnSpc>
                </a:pPr>
                <a:endParaRPr/>
              </a:p>
            </p:txBody>
          </p:sp>
        </p:grpSp>
        <p:grpSp>
          <p:nvGrpSpPr>
            <p:cNvPr id="15" name="Group 15"/>
            <p:cNvGrpSpPr/>
            <p:nvPr/>
          </p:nvGrpSpPr>
          <p:grpSpPr>
            <a:xfrm>
              <a:off x="0" y="0"/>
              <a:ext cx="199331" cy="3229066"/>
              <a:chOff x="0" y="0"/>
              <a:chExt cx="14863" cy="240771"/>
            </a:xfrm>
          </p:grpSpPr>
          <p:sp>
            <p:nvSpPr>
              <p:cNvPr id="16" name="Freeform 16"/>
              <p:cNvSpPr/>
              <p:nvPr/>
            </p:nvSpPr>
            <p:spPr>
              <a:xfrm>
                <a:off x="0" y="0"/>
                <a:ext cx="14863" cy="240771"/>
              </a:xfrm>
              <a:custGeom>
                <a:avLst/>
                <a:gdLst/>
                <a:ahLst/>
                <a:cxnLst/>
                <a:rect l="l" t="t" r="r" b="b"/>
                <a:pathLst>
                  <a:path w="14863" h="240771">
                    <a:moveTo>
                      <a:pt x="0" y="0"/>
                    </a:moveTo>
                    <a:lnTo>
                      <a:pt x="14863" y="0"/>
                    </a:lnTo>
                    <a:lnTo>
                      <a:pt x="14863" y="240771"/>
                    </a:lnTo>
                    <a:lnTo>
                      <a:pt x="0" y="240771"/>
                    </a:lnTo>
                    <a:close/>
                  </a:path>
                </a:pathLst>
              </a:custGeom>
              <a:solidFill>
                <a:srgbClr val="465265"/>
              </a:solidFill>
            </p:spPr>
          </p:sp>
          <p:sp>
            <p:nvSpPr>
              <p:cNvPr id="17" name="TextBox 17"/>
              <p:cNvSpPr txBox="1"/>
              <p:nvPr/>
            </p:nvSpPr>
            <p:spPr>
              <a:xfrm>
                <a:off x="0" y="-47625"/>
                <a:ext cx="14863" cy="288396"/>
              </a:xfrm>
              <a:prstGeom prst="rect">
                <a:avLst/>
              </a:prstGeom>
            </p:spPr>
            <p:txBody>
              <a:bodyPr lIns="134577" tIns="134577" rIns="134577" bIns="134577" rtlCol="0" anchor="ctr"/>
              <a:lstStyle/>
              <a:p>
                <a:pPr algn="ctr">
                  <a:lnSpc>
                    <a:spcPts val="2660"/>
                  </a:lnSpc>
                </a:pPr>
                <a:endParaRPr/>
              </a:p>
            </p:txBody>
          </p:sp>
        </p:grpSp>
        <p:grpSp>
          <p:nvGrpSpPr>
            <p:cNvPr id="18" name="Group 18"/>
            <p:cNvGrpSpPr/>
            <p:nvPr/>
          </p:nvGrpSpPr>
          <p:grpSpPr>
            <a:xfrm>
              <a:off x="11295149" y="0"/>
              <a:ext cx="195048" cy="3229066"/>
              <a:chOff x="0" y="0"/>
              <a:chExt cx="14544" cy="240771"/>
            </a:xfrm>
          </p:grpSpPr>
          <p:sp>
            <p:nvSpPr>
              <p:cNvPr id="19" name="Freeform 19"/>
              <p:cNvSpPr/>
              <p:nvPr/>
            </p:nvSpPr>
            <p:spPr>
              <a:xfrm>
                <a:off x="0" y="0"/>
                <a:ext cx="14544" cy="240771"/>
              </a:xfrm>
              <a:custGeom>
                <a:avLst/>
                <a:gdLst/>
                <a:ahLst/>
                <a:cxnLst/>
                <a:rect l="l" t="t" r="r" b="b"/>
                <a:pathLst>
                  <a:path w="14544" h="240771">
                    <a:moveTo>
                      <a:pt x="0" y="0"/>
                    </a:moveTo>
                    <a:lnTo>
                      <a:pt x="14544" y="0"/>
                    </a:lnTo>
                    <a:lnTo>
                      <a:pt x="14544" y="240771"/>
                    </a:lnTo>
                    <a:lnTo>
                      <a:pt x="0" y="240771"/>
                    </a:lnTo>
                    <a:close/>
                  </a:path>
                </a:pathLst>
              </a:custGeom>
              <a:solidFill>
                <a:srgbClr val="465265"/>
              </a:solidFill>
            </p:spPr>
          </p:sp>
          <p:sp>
            <p:nvSpPr>
              <p:cNvPr id="20" name="TextBox 20"/>
              <p:cNvSpPr txBox="1"/>
              <p:nvPr/>
            </p:nvSpPr>
            <p:spPr>
              <a:xfrm>
                <a:off x="0" y="-47625"/>
                <a:ext cx="14544" cy="288396"/>
              </a:xfrm>
              <a:prstGeom prst="rect">
                <a:avLst/>
              </a:prstGeom>
            </p:spPr>
            <p:txBody>
              <a:bodyPr lIns="134577" tIns="134577" rIns="134577" bIns="134577" rtlCol="0" anchor="ctr"/>
              <a:lstStyle/>
              <a:p>
                <a:pPr algn="ctr">
                  <a:lnSpc>
                    <a:spcPts val="2660"/>
                  </a:lnSpc>
                </a:pPr>
                <a:endParaRPr/>
              </a:p>
            </p:txBody>
          </p:sp>
        </p:grpSp>
      </p:grpSp>
      <p:sp>
        <p:nvSpPr>
          <p:cNvPr id="21" name="TextBox 21"/>
          <p:cNvSpPr txBox="1"/>
          <p:nvPr/>
        </p:nvSpPr>
        <p:spPr>
          <a:xfrm>
            <a:off x="8101952" y="5001779"/>
            <a:ext cx="7641419" cy="565150"/>
          </a:xfrm>
          <a:prstGeom prst="rect">
            <a:avLst/>
          </a:prstGeom>
        </p:spPr>
        <p:txBody>
          <a:bodyPr lIns="0" tIns="0" rIns="0" bIns="0" rtlCol="0" anchor="t">
            <a:spAutoFit/>
          </a:bodyPr>
          <a:lstStyle/>
          <a:p>
            <a:pPr algn="ctr">
              <a:lnSpc>
                <a:spcPts val="4399"/>
              </a:lnSpc>
            </a:pPr>
            <a:r>
              <a:rPr lang="en-US" sz="3999" dirty="0">
                <a:solidFill>
                  <a:srgbClr val="689BCB"/>
                </a:solidFill>
                <a:latin typeface="Fredoka"/>
                <a:ea typeface="Fredoka"/>
                <a:cs typeface="Fredoka"/>
                <a:sym typeface="Fredoka"/>
              </a:rPr>
              <a:t>ANSWERS SHOULD BE: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566209" y="9642589"/>
            <a:ext cx="18854209" cy="763941"/>
            <a:chOff x="0" y="0"/>
            <a:chExt cx="4965718" cy="201203"/>
          </a:xfrm>
        </p:grpSpPr>
        <p:sp>
          <p:nvSpPr>
            <p:cNvPr id="4" name="Freeform 4"/>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5" name="TextBox 5"/>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28723" y="2367026"/>
            <a:ext cx="4321579" cy="9701505"/>
          </a:xfrm>
          <a:custGeom>
            <a:avLst/>
            <a:gdLst/>
            <a:ahLst/>
            <a:cxnLst/>
            <a:rect l="l" t="t" r="r" b="b"/>
            <a:pathLst>
              <a:path w="4321579" h="9701505">
                <a:moveTo>
                  <a:pt x="0" y="0"/>
                </a:moveTo>
                <a:lnTo>
                  <a:pt x="4321579" y="0"/>
                </a:lnTo>
                <a:lnTo>
                  <a:pt x="4321579" y="9701505"/>
                </a:lnTo>
                <a:lnTo>
                  <a:pt x="0" y="97015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409321" y="1094721"/>
            <a:ext cx="14019402" cy="8097558"/>
            <a:chOff x="0" y="0"/>
            <a:chExt cx="18692536" cy="10796744"/>
          </a:xfrm>
        </p:grpSpPr>
        <p:grpSp>
          <p:nvGrpSpPr>
            <p:cNvPr id="8" name="Group 8"/>
            <p:cNvGrpSpPr/>
            <p:nvPr/>
          </p:nvGrpSpPr>
          <p:grpSpPr>
            <a:xfrm>
              <a:off x="0" y="0"/>
              <a:ext cx="18692536" cy="10796744"/>
              <a:chOff x="0" y="0"/>
              <a:chExt cx="1766638" cy="1020404"/>
            </a:xfrm>
          </p:grpSpPr>
          <p:sp>
            <p:nvSpPr>
              <p:cNvPr id="9" name="Freeform 9"/>
              <p:cNvSpPr/>
              <p:nvPr/>
            </p:nvSpPr>
            <p:spPr>
              <a:xfrm>
                <a:off x="0" y="0"/>
                <a:ext cx="1766638" cy="1020404"/>
              </a:xfrm>
              <a:custGeom>
                <a:avLst/>
                <a:gdLst/>
                <a:ahLst/>
                <a:cxnLst/>
                <a:rect l="l" t="t" r="r" b="b"/>
                <a:pathLst>
                  <a:path w="1766638" h="1020404">
                    <a:moveTo>
                      <a:pt x="0" y="0"/>
                    </a:moveTo>
                    <a:lnTo>
                      <a:pt x="1766638" y="0"/>
                    </a:lnTo>
                    <a:lnTo>
                      <a:pt x="1766638" y="1020404"/>
                    </a:lnTo>
                    <a:lnTo>
                      <a:pt x="0" y="1020404"/>
                    </a:lnTo>
                    <a:close/>
                  </a:path>
                </a:pathLst>
              </a:custGeom>
              <a:solidFill>
                <a:srgbClr val="E8EEFD"/>
              </a:solidFill>
              <a:ln w="219075" cap="sq">
                <a:solidFill>
                  <a:srgbClr val="59687F"/>
                </a:solidFill>
                <a:prstDash val="solid"/>
                <a:miter/>
              </a:ln>
            </p:spPr>
          </p:sp>
          <p:sp>
            <p:nvSpPr>
              <p:cNvPr id="10" name="TextBox 10"/>
              <p:cNvSpPr txBox="1"/>
              <p:nvPr/>
            </p:nvSpPr>
            <p:spPr>
              <a:xfrm>
                <a:off x="0" y="-47625"/>
                <a:ext cx="1766638" cy="1068029"/>
              </a:xfrm>
              <a:prstGeom prst="rect">
                <a:avLst/>
              </a:prstGeom>
            </p:spPr>
            <p:txBody>
              <a:bodyPr lIns="134577" tIns="134577" rIns="134577" bIns="134577" rtlCol="0" anchor="ctr"/>
              <a:lstStyle/>
              <a:p>
                <a:pPr algn="ctr">
                  <a:lnSpc>
                    <a:spcPts val="2660"/>
                  </a:lnSpc>
                </a:pPr>
                <a:endParaRPr/>
              </a:p>
            </p:txBody>
          </p:sp>
        </p:grpSp>
        <p:grpSp>
          <p:nvGrpSpPr>
            <p:cNvPr id="11" name="Group 11"/>
            <p:cNvGrpSpPr/>
            <p:nvPr/>
          </p:nvGrpSpPr>
          <p:grpSpPr>
            <a:xfrm>
              <a:off x="0" y="0"/>
              <a:ext cx="324276" cy="10796744"/>
              <a:chOff x="0" y="0"/>
              <a:chExt cx="24179" cy="805046"/>
            </a:xfrm>
          </p:grpSpPr>
          <p:sp>
            <p:nvSpPr>
              <p:cNvPr id="12" name="Freeform 12"/>
              <p:cNvSpPr/>
              <p:nvPr/>
            </p:nvSpPr>
            <p:spPr>
              <a:xfrm>
                <a:off x="0" y="0"/>
                <a:ext cx="24179" cy="805046"/>
              </a:xfrm>
              <a:custGeom>
                <a:avLst/>
                <a:gdLst/>
                <a:ahLst/>
                <a:cxnLst/>
                <a:rect l="l" t="t" r="r" b="b"/>
                <a:pathLst>
                  <a:path w="24179" h="805046">
                    <a:moveTo>
                      <a:pt x="0" y="0"/>
                    </a:moveTo>
                    <a:lnTo>
                      <a:pt x="24179" y="0"/>
                    </a:lnTo>
                    <a:lnTo>
                      <a:pt x="24179" y="805046"/>
                    </a:lnTo>
                    <a:lnTo>
                      <a:pt x="0" y="805046"/>
                    </a:lnTo>
                    <a:close/>
                  </a:path>
                </a:pathLst>
              </a:custGeom>
              <a:solidFill>
                <a:srgbClr val="465265"/>
              </a:solidFill>
            </p:spPr>
          </p:sp>
          <p:sp>
            <p:nvSpPr>
              <p:cNvPr id="13" name="TextBox 13"/>
              <p:cNvSpPr txBox="1"/>
              <p:nvPr/>
            </p:nvSpPr>
            <p:spPr>
              <a:xfrm>
                <a:off x="0" y="-47625"/>
                <a:ext cx="24179" cy="852671"/>
              </a:xfrm>
              <a:prstGeom prst="rect">
                <a:avLst/>
              </a:prstGeom>
            </p:spPr>
            <p:txBody>
              <a:bodyPr lIns="134577" tIns="134577" rIns="134577" bIns="134577" rtlCol="0" anchor="ctr"/>
              <a:lstStyle/>
              <a:p>
                <a:pPr algn="ctr">
                  <a:lnSpc>
                    <a:spcPts val="2660"/>
                  </a:lnSpc>
                </a:pPr>
                <a:endParaRPr/>
              </a:p>
            </p:txBody>
          </p:sp>
        </p:grpSp>
        <p:grpSp>
          <p:nvGrpSpPr>
            <p:cNvPr id="14" name="Group 14"/>
            <p:cNvGrpSpPr/>
            <p:nvPr/>
          </p:nvGrpSpPr>
          <p:grpSpPr>
            <a:xfrm>
              <a:off x="18375227" y="0"/>
              <a:ext cx="317310" cy="10796744"/>
              <a:chOff x="0" y="0"/>
              <a:chExt cx="23660" cy="805046"/>
            </a:xfrm>
          </p:grpSpPr>
          <p:sp>
            <p:nvSpPr>
              <p:cNvPr id="15" name="Freeform 15"/>
              <p:cNvSpPr/>
              <p:nvPr/>
            </p:nvSpPr>
            <p:spPr>
              <a:xfrm>
                <a:off x="0" y="0"/>
                <a:ext cx="23660" cy="805046"/>
              </a:xfrm>
              <a:custGeom>
                <a:avLst/>
                <a:gdLst/>
                <a:ahLst/>
                <a:cxnLst/>
                <a:rect l="l" t="t" r="r" b="b"/>
                <a:pathLst>
                  <a:path w="23660" h="805046">
                    <a:moveTo>
                      <a:pt x="0" y="0"/>
                    </a:moveTo>
                    <a:lnTo>
                      <a:pt x="23660" y="0"/>
                    </a:lnTo>
                    <a:lnTo>
                      <a:pt x="23660" y="805046"/>
                    </a:lnTo>
                    <a:lnTo>
                      <a:pt x="0" y="805046"/>
                    </a:lnTo>
                    <a:close/>
                  </a:path>
                </a:pathLst>
              </a:custGeom>
              <a:solidFill>
                <a:srgbClr val="465265"/>
              </a:solidFill>
            </p:spPr>
          </p:sp>
          <p:sp>
            <p:nvSpPr>
              <p:cNvPr id="16" name="TextBox 16"/>
              <p:cNvSpPr txBox="1"/>
              <p:nvPr/>
            </p:nvSpPr>
            <p:spPr>
              <a:xfrm>
                <a:off x="0" y="-47625"/>
                <a:ext cx="23660" cy="852671"/>
              </a:xfrm>
              <a:prstGeom prst="rect">
                <a:avLst/>
              </a:prstGeom>
            </p:spPr>
            <p:txBody>
              <a:bodyPr lIns="134577" tIns="134577" rIns="134577" bIns="134577" rtlCol="0" anchor="ctr"/>
              <a:lstStyle/>
              <a:p>
                <a:pPr algn="ctr">
                  <a:lnSpc>
                    <a:spcPts val="2660"/>
                  </a:lnSpc>
                </a:pPr>
                <a:endParaRPr/>
              </a:p>
            </p:txBody>
          </p:sp>
        </p:grpSp>
      </p:grpSp>
      <p:sp>
        <p:nvSpPr>
          <p:cNvPr id="17" name="TextBox 17"/>
          <p:cNvSpPr txBox="1"/>
          <p:nvPr/>
        </p:nvSpPr>
        <p:spPr>
          <a:xfrm>
            <a:off x="1028700" y="1656696"/>
            <a:ext cx="12613399" cy="4943475"/>
          </a:xfrm>
          <a:prstGeom prst="rect">
            <a:avLst/>
          </a:prstGeom>
        </p:spPr>
        <p:txBody>
          <a:bodyPr lIns="0" tIns="0" rIns="0" bIns="0" rtlCol="0" anchor="t">
            <a:spAutoFit/>
          </a:bodyPr>
          <a:lstStyle/>
          <a:p>
            <a:pPr algn="l">
              <a:lnSpc>
                <a:spcPts val="3900"/>
              </a:lnSpc>
            </a:pPr>
            <a:r>
              <a:rPr lang="en-US" sz="3000" dirty="0">
                <a:solidFill>
                  <a:srgbClr val="689BCB"/>
                </a:solidFill>
                <a:latin typeface="Fredoka"/>
                <a:ea typeface="Fredoka"/>
                <a:cs typeface="Fredoka"/>
                <a:sym typeface="Fredoka"/>
              </a:rPr>
              <a:t>1. B</a:t>
            </a:r>
          </a:p>
          <a:p>
            <a:pPr algn="l">
              <a:lnSpc>
                <a:spcPts val="3900"/>
              </a:lnSpc>
            </a:pPr>
            <a:r>
              <a:rPr lang="en-US" sz="3000" dirty="0">
                <a:solidFill>
                  <a:srgbClr val="689BCB"/>
                </a:solidFill>
                <a:latin typeface="Fredoka"/>
                <a:ea typeface="Fredoka"/>
                <a:cs typeface="Fredoka"/>
                <a:sym typeface="Fredoka"/>
              </a:rPr>
              <a:t>2. C</a:t>
            </a:r>
          </a:p>
          <a:p>
            <a:pPr algn="l">
              <a:lnSpc>
                <a:spcPts val="3900"/>
              </a:lnSpc>
            </a:pPr>
            <a:r>
              <a:rPr lang="en-US" sz="3000" dirty="0">
                <a:solidFill>
                  <a:srgbClr val="689BCB"/>
                </a:solidFill>
                <a:latin typeface="Fredoka"/>
                <a:ea typeface="Fredoka"/>
                <a:cs typeface="Fredoka"/>
                <a:sym typeface="Fredoka"/>
              </a:rPr>
              <a:t>3. B</a:t>
            </a:r>
          </a:p>
          <a:p>
            <a:pPr algn="l">
              <a:lnSpc>
                <a:spcPts val="3900"/>
              </a:lnSpc>
            </a:pPr>
            <a:r>
              <a:rPr lang="en-US" sz="3000" dirty="0">
                <a:solidFill>
                  <a:srgbClr val="689BCB"/>
                </a:solidFill>
                <a:latin typeface="Fredoka"/>
                <a:ea typeface="Fredoka"/>
                <a:cs typeface="Fredoka"/>
                <a:sym typeface="Fredoka"/>
              </a:rPr>
              <a:t>4. C</a:t>
            </a:r>
          </a:p>
          <a:p>
            <a:pPr algn="l">
              <a:lnSpc>
                <a:spcPts val="3900"/>
              </a:lnSpc>
            </a:pPr>
            <a:r>
              <a:rPr lang="en-US" sz="3000" dirty="0">
                <a:solidFill>
                  <a:srgbClr val="689BCB"/>
                </a:solidFill>
                <a:latin typeface="Fredoka"/>
                <a:ea typeface="Fredoka"/>
                <a:cs typeface="Fredoka"/>
                <a:sym typeface="Fredoka"/>
              </a:rPr>
              <a:t>5. B</a:t>
            </a:r>
          </a:p>
          <a:p>
            <a:pPr algn="l">
              <a:lnSpc>
                <a:spcPts val="3900"/>
              </a:lnSpc>
            </a:pPr>
            <a:r>
              <a:rPr lang="en-US" sz="3000" dirty="0">
                <a:solidFill>
                  <a:srgbClr val="689BCB"/>
                </a:solidFill>
                <a:latin typeface="Fredoka"/>
                <a:ea typeface="Fredoka"/>
                <a:cs typeface="Fredoka"/>
                <a:sym typeface="Fredoka"/>
              </a:rPr>
              <a:t>6. D</a:t>
            </a:r>
          </a:p>
          <a:p>
            <a:pPr algn="l">
              <a:lnSpc>
                <a:spcPts val="3900"/>
              </a:lnSpc>
            </a:pPr>
            <a:r>
              <a:rPr lang="en-US" sz="3000" dirty="0">
                <a:solidFill>
                  <a:srgbClr val="689BCB"/>
                </a:solidFill>
                <a:latin typeface="Fredoka"/>
                <a:ea typeface="Fredoka"/>
                <a:cs typeface="Fredoka"/>
                <a:sym typeface="Fredoka"/>
              </a:rPr>
              <a:t>7. D</a:t>
            </a:r>
          </a:p>
          <a:p>
            <a:pPr algn="l">
              <a:lnSpc>
                <a:spcPts val="3900"/>
              </a:lnSpc>
            </a:pPr>
            <a:r>
              <a:rPr lang="en-US" sz="3000" dirty="0">
                <a:solidFill>
                  <a:srgbClr val="689BCB"/>
                </a:solidFill>
                <a:latin typeface="Fredoka"/>
                <a:ea typeface="Fredoka"/>
                <a:cs typeface="Fredoka"/>
                <a:sym typeface="Fredoka"/>
              </a:rPr>
              <a:t>8. A</a:t>
            </a:r>
          </a:p>
          <a:p>
            <a:pPr algn="l">
              <a:lnSpc>
                <a:spcPts val="3900"/>
              </a:lnSpc>
            </a:pPr>
            <a:r>
              <a:rPr lang="en-US" sz="3000" dirty="0">
                <a:solidFill>
                  <a:srgbClr val="689BCB"/>
                </a:solidFill>
                <a:latin typeface="Fredoka"/>
                <a:ea typeface="Fredoka"/>
                <a:cs typeface="Fredoka"/>
                <a:sym typeface="Fredoka"/>
              </a:rPr>
              <a:t>9. C</a:t>
            </a:r>
          </a:p>
          <a:p>
            <a:pPr algn="l">
              <a:lnSpc>
                <a:spcPts val="3900"/>
              </a:lnSpc>
            </a:pPr>
            <a:r>
              <a:rPr lang="en-US" sz="3000" dirty="0">
                <a:solidFill>
                  <a:srgbClr val="689BCB"/>
                </a:solidFill>
                <a:latin typeface="Fredoka"/>
                <a:ea typeface="Fredoka"/>
                <a:cs typeface="Fredoka"/>
                <a:sym typeface="Fredoka"/>
              </a:rPr>
              <a:t>10.C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500"/>
                                        <p:tgtEl>
                                          <p:spTgt spid="1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Effect transition="in" filter="fade">
                                      <p:cBhvr>
                                        <p:cTn id="15" dur="500"/>
                                        <p:tgtEl>
                                          <p:spTgt spid="17">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xEl>
                                              <p:pRg st="2" end="2"/>
                                            </p:txEl>
                                          </p:spTgt>
                                        </p:tgtEl>
                                        <p:attrNameLst>
                                          <p:attrName>style.visibility</p:attrName>
                                        </p:attrNameLst>
                                      </p:cBhvr>
                                      <p:to>
                                        <p:strVal val="visible"/>
                                      </p:to>
                                    </p:set>
                                    <p:animEffect transition="in" filter="fade">
                                      <p:cBhvr>
                                        <p:cTn id="18" dur="500"/>
                                        <p:tgtEl>
                                          <p:spTgt spid="17">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xEl>
                                              <p:pRg st="3" end="3"/>
                                            </p:txEl>
                                          </p:spTgt>
                                        </p:tgtEl>
                                        <p:attrNameLst>
                                          <p:attrName>style.visibility</p:attrName>
                                        </p:attrNameLst>
                                      </p:cBhvr>
                                      <p:to>
                                        <p:strVal val="visible"/>
                                      </p:to>
                                    </p:set>
                                    <p:animEffect transition="in" filter="fade">
                                      <p:cBhvr>
                                        <p:cTn id="21" dur="500"/>
                                        <p:tgtEl>
                                          <p:spTgt spid="17">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xEl>
                                              <p:pRg st="4" end="4"/>
                                            </p:txEl>
                                          </p:spTgt>
                                        </p:tgtEl>
                                        <p:attrNameLst>
                                          <p:attrName>style.visibility</p:attrName>
                                        </p:attrNameLst>
                                      </p:cBhvr>
                                      <p:to>
                                        <p:strVal val="visible"/>
                                      </p:to>
                                    </p:set>
                                    <p:animEffect transition="in" filter="fade">
                                      <p:cBhvr>
                                        <p:cTn id="24" dur="500"/>
                                        <p:tgtEl>
                                          <p:spTgt spid="17">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xEl>
                                              <p:pRg st="5" end="5"/>
                                            </p:txEl>
                                          </p:spTgt>
                                        </p:tgtEl>
                                        <p:attrNameLst>
                                          <p:attrName>style.visibility</p:attrName>
                                        </p:attrNameLst>
                                      </p:cBhvr>
                                      <p:to>
                                        <p:strVal val="visible"/>
                                      </p:to>
                                    </p:set>
                                    <p:animEffect transition="in" filter="fade">
                                      <p:cBhvr>
                                        <p:cTn id="27" dur="500"/>
                                        <p:tgtEl>
                                          <p:spTgt spid="17">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7">
                                            <p:txEl>
                                              <p:pRg st="6" end="6"/>
                                            </p:txEl>
                                          </p:spTgt>
                                        </p:tgtEl>
                                        <p:attrNameLst>
                                          <p:attrName>style.visibility</p:attrName>
                                        </p:attrNameLst>
                                      </p:cBhvr>
                                      <p:to>
                                        <p:strVal val="visible"/>
                                      </p:to>
                                    </p:set>
                                    <p:animEffect transition="in" filter="fade">
                                      <p:cBhvr>
                                        <p:cTn id="30" dur="500"/>
                                        <p:tgtEl>
                                          <p:spTgt spid="17">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xEl>
                                              <p:pRg st="7" end="7"/>
                                            </p:txEl>
                                          </p:spTgt>
                                        </p:tgtEl>
                                        <p:attrNameLst>
                                          <p:attrName>style.visibility</p:attrName>
                                        </p:attrNameLst>
                                      </p:cBhvr>
                                      <p:to>
                                        <p:strVal val="visible"/>
                                      </p:to>
                                    </p:set>
                                    <p:animEffect transition="in" filter="fade">
                                      <p:cBhvr>
                                        <p:cTn id="33" dur="500"/>
                                        <p:tgtEl>
                                          <p:spTgt spid="17">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xEl>
                                              <p:pRg st="8" end="8"/>
                                            </p:txEl>
                                          </p:spTgt>
                                        </p:tgtEl>
                                        <p:attrNameLst>
                                          <p:attrName>style.visibility</p:attrName>
                                        </p:attrNameLst>
                                      </p:cBhvr>
                                      <p:to>
                                        <p:strVal val="visible"/>
                                      </p:to>
                                    </p:set>
                                    <p:animEffect transition="in" filter="fade">
                                      <p:cBhvr>
                                        <p:cTn id="36" dur="500"/>
                                        <p:tgtEl>
                                          <p:spTgt spid="17">
                                            <p:txEl>
                                              <p:pRg st="8" end="8"/>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xEl>
                                              <p:pRg st="9" end="9"/>
                                            </p:txEl>
                                          </p:spTgt>
                                        </p:tgtEl>
                                        <p:attrNameLst>
                                          <p:attrName>style.visibility</p:attrName>
                                        </p:attrNameLst>
                                      </p:cBhvr>
                                      <p:to>
                                        <p:strVal val="visible"/>
                                      </p:to>
                                    </p:set>
                                    <p:animEffect transition="in" filter="fade">
                                      <p:cBhvr>
                                        <p:cTn id="39" dur="500"/>
                                        <p:tgtEl>
                                          <p:spTgt spid="1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3" b="-1333"/>
            </a:stretch>
          </a:blipFill>
        </p:spPr>
      </p:sp>
      <p:grpSp>
        <p:nvGrpSpPr>
          <p:cNvPr id="3" name="Group 3"/>
          <p:cNvGrpSpPr/>
          <p:nvPr/>
        </p:nvGrpSpPr>
        <p:grpSpPr>
          <a:xfrm>
            <a:off x="426970" y="2290640"/>
            <a:ext cx="7391084" cy="8828327"/>
            <a:chOff x="0" y="0"/>
            <a:chExt cx="9854778" cy="11771102"/>
          </a:xfrm>
        </p:grpSpPr>
        <p:sp>
          <p:nvSpPr>
            <p:cNvPr id="4" name="Freeform 4"/>
            <p:cNvSpPr/>
            <p:nvPr/>
          </p:nvSpPr>
          <p:spPr>
            <a:xfrm>
              <a:off x="0" y="0"/>
              <a:ext cx="9844922" cy="11771102"/>
            </a:xfrm>
            <a:custGeom>
              <a:avLst/>
              <a:gdLst/>
              <a:ahLst/>
              <a:cxnLst/>
              <a:rect l="l" t="t" r="r" b="b"/>
              <a:pathLst>
                <a:path w="9844922" h="11771102">
                  <a:moveTo>
                    <a:pt x="0" y="0"/>
                  </a:moveTo>
                  <a:lnTo>
                    <a:pt x="9844922" y="0"/>
                  </a:lnTo>
                  <a:lnTo>
                    <a:pt x="9844922" y="11771102"/>
                  </a:lnTo>
                  <a:lnTo>
                    <a:pt x="0" y="11771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49250">
              <a:off x="3558494" y="1136996"/>
              <a:ext cx="2417339" cy="1012261"/>
            </a:xfrm>
            <a:custGeom>
              <a:avLst/>
              <a:gdLst/>
              <a:ahLst/>
              <a:cxnLst/>
              <a:rect l="l" t="t" r="r" b="b"/>
              <a:pathLst>
                <a:path w="2417339" h="1012261">
                  <a:moveTo>
                    <a:pt x="0" y="0"/>
                  </a:moveTo>
                  <a:lnTo>
                    <a:pt x="2417339" y="0"/>
                  </a:lnTo>
                  <a:lnTo>
                    <a:pt x="2417339" y="1012261"/>
                  </a:lnTo>
                  <a:lnTo>
                    <a:pt x="0" y="10122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9857" y="3044413"/>
              <a:ext cx="2129695" cy="2418878"/>
            </a:xfrm>
            <a:custGeom>
              <a:avLst/>
              <a:gdLst/>
              <a:ahLst/>
              <a:cxnLst/>
              <a:rect l="l" t="t" r="r" b="b"/>
              <a:pathLst>
                <a:path w="2129695" h="2418878">
                  <a:moveTo>
                    <a:pt x="0" y="0"/>
                  </a:moveTo>
                  <a:lnTo>
                    <a:pt x="2129695" y="0"/>
                  </a:lnTo>
                  <a:lnTo>
                    <a:pt x="2129695" y="2418878"/>
                  </a:lnTo>
                  <a:lnTo>
                    <a:pt x="0" y="2418878"/>
                  </a:lnTo>
                  <a:lnTo>
                    <a:pt x="0" y="0"/>
                  </a:lnTo>
                  <a:close/>
                </a:path>
              </a:pathLst>
            </a:custGeom>
            <a:blipFill>
              <a:blip r:embed="rId7">
                <a:extLst>
                  <a:ext uri="{96DAC541-7B7A-43D3-8B79-37D633B846F1}">
                    <asvg:svgBlip xmlns:asvg="http://schemas.microsoft.com/office/drawing/2016/SVG/main" r:embed="rId8"/>
                  </a:ext>
                </a:extLst>
              </a:blip>
              <a:stretch>
                <a:fillRect l="-462" t="-125860" r="-361806" b="-260774"/>
              </a:stretch>
            </a:blipFill>
          </p:spPr>
        </p:sp>
        <p:sp>
          <p:nvSpPr>
            <p:cNvPr id="7" name="Freeform 7"/>
            <p:cNvSpPr/>
            <p:nvPr/>
          </p:nvSpPr>
          <p:spPr>
            <a:xfrm>
              <a:off x="7266975" y="2291843"/>
              <a:ext cx="2587804" cy="1221857"/>
            </a:xfrm>
            <a:custGeom>
              <a:avLst/>
              <a:gdLst/>
              <a:ahLst/>
              <a:cxnLst/>
              <a:rect l="l" t="t" r="r" b="b"/>
              <a:pathLst>
                <a:path w="2587804" h="1221857">
                  <a:moveTo>
                    <a:pt x="0" y="0"/>
                  </a:moveTo>
                  <a:lnTo>
                    <a:pt x="2587803" y="0"/>
                  </a:lnTo>
                  <a:lnTo>
                    <a:pt x="2587803" y="1221856"/>
                  </a:lnTo>
                  <a:lnTo>
                    <a:pt x="0" y="1221856"/>
                  </a:lnTo>
                  <a:lnTo>
                    <a:pt x="0" y="0"/>
                  </a:lnTo>
                  <a:close/>
                </a:path>
              </a:pathLst>
            </a:custGeom>
            <a:blipFill>
              <a:blip r:embed="rId9">
                <a:extLst>
                  <a:ext uri="{96DAC541-7B7A-43D3-8B79-37D633B846F1}">
                    <asvg:svgBlip xmlns:asvg="http://schemas.microsoft.com/office/drawing/2016/SVG/main" r:embed="rId10"/>
                  </a:ext>
                </a:extLst>
              </a:blip>
              <a:stretch>
                <a:fillRect l="-280435" t="-187570" b="-675807"/>
              </a:stretch>
            </a:blipFill>
          </p:spPr>
        </p:sp>
      </p:grpSp>
      <p:grpSp>
        <p:nvGrpSpPr>
          <p:cNvPr id="8" name="Group 8"/>
          <p:cNvGrpSpPr/>
          <p:nvPr/>
        </p:nvGrpSpPr>
        <p:grpSpPr>
          <a:xfrm>
            <a:off x="-566209" y="9642589"/>
            <a:ext cx="18854209" cy="763941"/>
            <a:chOff x="0" y="0"/>
            <a:chExt cx="4965718" cy="201203"/>
          </a:xfrm>
        </p:grpSpPr>
        <p:sp>
          <p:nvSpPr>
            <p:cNvPr id="9" name="Freeform 9"/>
            <p:cNvSpPr/>
            <p:nvPr/>
          </p:nvSpPr>
          <p:spPr>
            <a:xfrm>
              <a:off x="0" y="0"/>
              <a:ext cx="4965718" cy="201203"/>
            </a:xfrm>
            <a:custGeom>
              <a:avLst/>
              <a:gdLst/>
              <a:ahLst/>
              <a:cxnLst/>
              <a:rect l="l" t="t" r="r" b="b"/>
              <a:pathLst>
                <a:path w="4965718" h="201203">
                  <a:moveTo>
                    <a:pt x="0" y="0"/>
                  </a:moveTo>
                  <a:lnTo>
                    <a:pt x="4965718" y="0"/>
                  </a:lnTo>
                  <a:lnTo>
                    <a:pt x="4965718" y="201203"/>
                  </a:lnTo>
                  <a:lnTo>
                    <a:pt x="0" y="201203"/>
                  </a:lnTo>
                  <a:close/>
                </a:path>
              </a:pathLst>
            </a:custGeom>
            <a:solidFill>
              <a:srgbClr val="FA7444"/>
            </a:solidFill>
          </p:spPr>
        </p:sp>
        <p:sp>
          <p:nvSpPr>
            <p:cNvPr id="10" name="TextBox 10"/>
            <p:cNvSpPr txBox="1"/>
            <p:nvPr/>
          </p:nvSpPr>
          <p:spPr>
            <a:xfrm>
              <a:off x="0" y="-47625"/>
              <a:ext cx="4965718" cy="24882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613838" y="4283004"/>
            <a:ext cx="8617648" cy="2421799"/>
            <a:chOff x="0" y="0"/>
            <a:chExt cx="11490198" cy="3229066"/>
          </a:xfrm>
        </p:grpSpPr>
        <p:grpSp>
          <p:nvGrpSpPr>
            <p:cNvPr id="12" name="Group 12"/>
            <p:cNvGrpSpPr/>
            <p:nvPr/>
          </p:nvGrpSpPr>
          <p:grpSpPr>
            <a:xfrm>
              <a:off x="0" y="0"/>
              <a:ext cx="11490198" cy="3229066"/>
              <a:chOff x="0" y="0"/>
              <a:chExt cx="1085942" cy="305180"/>
            </a:xfrm>
          </p:grpSpPr>
          <p:sp>
            <p:nvSpPr>
              <p:cNvPr id="13" name="Freeform 13"/>
              <p:cNvSpPr/>
              <p:nvPr/>
            </p:nvSpPr>
            <p:spPr>
              <a:xfrm>
                <a:off x="0" y="0"/>
                <a:ext cx="1085942" cy="305180"/>
              </a:xfrm>
              <a:custGeom>
                <a:avLst/>
                <a:gdLst/>
                <a:ahLst/>
                <a:cxnLst/>
                <a:rect l="l" t="t" r="r" b="b"/>
                <a:pathLst>
                  <a:path w="1085942" h="305180">
                    <a:moveTo>
                      <a:pt x="0" y="0"/>
                    </a:moveTo>
                    <a:lnTo>
                      <a:pt x="1085942" y="0"/>
                    </a:lnTo>
                    <a:lnTo>
                      <a:pt x="1085942" y="305180"/>
                    </a:lnTo>
                    <a:lnTo>
                      <a:pt x="0" y="305180"/>
                    </a:lnTo>
                    <a:close/>
                  </a:path>
                </a:pathLst>
              </a:custGeom>
              <a:solidFill>
                <a:srgbClr val="E8EEFD"/>
              </a:solidFill>
              <a:ln w="219075" cap="sq">
                <a:solidFill>
                  <a:srgbClr val="59687F"/>
                </a:solidFill>
                <a:prstDash val="solid"/>
                <a:miter/>
              </a:ln>
            </p:spPr>
          </p:sp>
          <p:sp>
            <p:nvSpPr>
              <p:cNvPr id="14" name="TextBox 14"/>
              <p:cNvSpPr txBox="1"/>
              <p:nvPr/>
            </p:nvSpPr>
            <p:spPr>
              <a:xfrm>
                <a:off x="0" y="-47625"/>
                <a:ext cx="1085942" cy="352805"/>
              </a:xfrm>
              <a:prstGeom prst="rect">
                <a:avLst/>
              </a:prstGeom>
            </p:spPr>
            <p:txBody>
              <a:bodyPr lIns="134577" tIns="134577" rIns="134577" bIns="134577" rtlCol="0" anchor="ctr"/>
              <a:lstStyle/>
              <a:p>
                <a:pPr algn="ctr">
                  <a:lnSpc>
                    <a:spcPts val="2660"/>
                  </a:lnSpc>
                </a:pPr>
                <a:endParaRPr/>
              </a:p>
            </p:txBody>
          </p:sp>
        </p:grpSp>
        <p:grpSp>
          <p:nvGrpSpPr>
            <p:cNvPr id="15" name="Group 15"/>
            <p:cNvGrpSpPr/>
            <p:nvPr/>
          </p:nvGrpSpPr>
          <p:grpSpPr>
            <a:xfrm>
              <a:off x="0" y="0"/>
              <a:ext cx="199331" cy="3229066"/>
              <a:chOff x="0" y="0"/>
              <a:chExt cx="14863" cy="240771"/>
            </a:xfrm>
          </p:grpSpPr>
          <p:sp>
            <p:nvSpPr>
              <p:cNvPr id="16" name="Freeform 16"/>
              <p:cNvSpPr/>
              <p:nvPr/>
            </p:nvSpPr>
            <p:spPr>
              <a:xfrm>
                <a:off x="0" y="0"/>
                <a:ext cx="14863" cy="240771"/>
              </a:xfrm>
              <a:custGeom>
                <a:avLst/>
                <a:gdLst/>
                <a:ahLst/>
                <a:cxnLst/>
                <a:rect l="l" t="t" r="r" b="b"/>
                <a:pathLst>
                  <a:path w="14863" h="240771">
                    <a:moveTo>
                      <a:pt x="0" y="0"/>
                    </a:moveTo>
                    <a:lnTo>
                      <a:pt x="14863" y="0"/>
                    </a:lnTo>
                    <a:lnTo>
                      <a:pt x="14863" y="240771"/>
                    </a:lnTo>
                    <a:lnTo>
                      <a:pt x="0" y="240771"/>
                    </a:lnTo>
                    <a:close/>
                  </a:path>
                </a:pathLst>
              </a:custGeom>
              <a:solidFill>
                <a:srgbClr val="465265"/>
              </a:solidFill>
            </p:spPr>
          </p:sp>
          <p:sp>
            <p:nvSpPr>
              <p:cNvPr id="17" name="TextBox 17"/>
              <p:cNvSpPr txBox="1"/>
              <p:nvPr/>
            </p:nvSpPr>
            <p:spPr>
              <a:xfrm>
                <a:off x="0" y="-47625"/>
                <a:ext cx="14863" cy="288396"/>
              </a:xfrm>
              <a:prstGeom prst="rect">
                <a:avLst/>
              </a:prstGeom>
            </p:spPr>
            <p:txBody>
              <a:bodyPr lIns="134577" tIns="134577" rIns="134577" bIns="134577" rtlCol="0" anchor="ctr"/>
              <a:lstStyle/>
              <a:p>
                <a:pPr algn="ctr">
                  <a:lnSpc>
                    <a:spcPts val="2660"/>
                  </a:lnSpc>
                </a:pPr>
                <a:endParaRPr/>
              </a:p>
            </p:txBody>
          </p:sp>
        </p:grpSp>
        <p:grpSp>
          <p:nvGrpSpPr>
            <p:cNvPr id="18" name="Group 18"/>
            <p:cNvGrpSpPr/>
            <p:nvPr/>
          </p:nvGrpSpPr>
          <p:grpSpPr>
            <a:xfrm>
              <a:off x="11295149" y="0"/>
              <a:ext cx="195048" cy="3229066"/>
              <a:chOff x="0" y="0"/>
              <a:chExt cx="14544" cy="240771"/>
            </a:xfrm>
          </p:grpSpPr>
          <p:sp>
            <p:nvSpPr>
              <p:cNvPr id="19" name="Freeform 19"/>
              <p:cNvSpPr/>
              <p:nvPr/>
            </p:nvSpPr>
            <p:spPr>
              <a:xfrm>
                <a:off x="0" y="0"/>
                <a:ext cx="14544" cy="240771"/>
              </a:xfrm>
              <a:custGeom>
                <a:avLst/>
                <a:gdLst/>
                <a:ahLst/>
                <a:cxnLst/>
                <a:rect l="l" t="t" r="r" b="b"/>
                <a:pathLst>
                  <a:path w="14544" h="240771">
                    <a:moveTo>
                      <a:pt x="0" y="0"/>
                    </a:moveTo>
                    <a:lnTo>
                      <a:pt x="14544" y="0"/>
                    </a:lnTo>
                    <a:lnTo>
                      <a:pt x="14544" y="240771"/>
                    </a:lnTo>
                    <a:lnTo>
                      <a:pt x="0" y="240771"/>
                    </a:lnTo>
                    <a:close/>
                  </a:path>
                </a:pathLst>
              </a:custGeom>
              <a:solidFill>
                <a:srgbClr val="465265"/>
              </a:solidFill>
            </p:spPr>
          </p:sp>
          <p:sp>
            <p:nvSpPr>
              <p:cNvPr id="20" name="TextBox 20"/>
              <p:cNvSpPr txBox="1"/>
              <p:nvPr/>
            </p:nvSpPr>
            <p:spPr>
              <a:xfrm>
                <a:off x="0" y="-47625"/>
                <a:ext cx="14544" cy="288396"/>
              </a:xfrm>
              <a:prstGeom prst="rect">
                <a:avLst/>
              </a:prstGeom>
            </p:spPr>
            <p:txBody>
              <a:bodyPr lIns="134577" tIns="134577" rIns="134577" bIns="134577" rtlCol="0" anchor="ctr"/>
              <a:lstStyle/>
              <a:p>
                <a:pPr algn="ctr">
                  <a:lnSpc>
                    <a:spcPts val="2660"/>
                  </a:lnSpc>
                </a:pPr>
                <a:endParaRPr/>
              </a:p>
            </p:txBody>
          </p:sp>
        </p:grpSp>
      </p:grpSp>
      <p:sp>
        <p:nvSpPr>
          <p:cNvPr id="21" name="TextBox 21"/>
          <p:cNvSpPr txBox="1"/>
          <p:nvPr/>
        </p:nvSpPr>
        <p:spPr>
          <a:xfrm>
            <a:off x="8101952" y="5230379"/>
            <a:ext cx="7641419" cy="565150"/>
          </a:xfrm>
          <a:prstGeom prst="rect">
            <a:avLst/>
          </a:prstGeom>
        </p:spPr>
        <p:txBody>
          <a:bodyPr lIns="0" tIns="0" rIns="0" bIns="0" rtlCol="0" anchor="t">
            <a:spAutoFit/>
          </a:bodyPr>
          <a:lstStyle/>
          <a:p>
            <a:pPr algn="ctr">
              <a:lnSpc>
                <a:spcPts val="4399"/>
              </a:lnSpc>
            </a:pPr>
            <a:r>
              <a:rPr lang="en-US" sz="3999" dirty="0">
                <a:solidFill>
                  <a:srgbClr val="689BCB"/>
                </a:solidFill>
                <a:latin typeface="Fredoka"/>
                <a:ea typeface="Fredoka"/>
                <a:cs typeface="Fredoka"/>
                <a:sym typeface="Fredoka"/>
              </a:rPr>
              <a:t>THANK YOU!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2862</Words>
  <Application>Microsoft Office PowerPoint</Application>
  <PresentationFormat>Custom</PresentationFormat>
  <Paragraphs>263</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Fredoka</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ScienceQ1-Week3</dc:title>
  <cp:lastModifiedBy>Wendee Diane Llona</cp:lastModifiedBy>
  <cp:revision>2</cp:revision>
  <dcterms:created xsi:type="dcterms:W3CDTF">2006-08-16T00:00:00Z</dcterms:created>
  <dcterms:modified xsi:type="dcterms:W3CDTF">2025-11-25T14:58:24Z</dcterms:modified>
  <dc:identifier>DAG1aYTZy5Y</dc:identifier>
</cp:coreProperties>
</file>